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4"/>
  </p:sldMasterIdLst>
  <p:notesMasterIdLst>
    <p:notesMasterId r:id="rId17"/>
  </p:notesMasterIdLst>
  <p:sldIdLst>
    <p:sldId id="883" r:id="rId5"/>
    <p:sldId id="893" r:id="rId6"/>
    <p:sldId id="890" r:id="rId7"/>
    <p:sldId id="892" r:id="rId8"/>
    <p:sldId id="895" r:id="rId9"/>
    <p:sldId id="896" r:id="rId10"/>
    <p:sldId id="899" r:id="rId11"/>
    <p:sldId id="900" r:id="rId12"/>
    <p:sldId id="898" r:id="rId13"/>
    <p:sldId id="901" r:id="rId14"/>
    <p:sldId id="902" r:id="rId15"/>
    <p:sldId id="903" r:id="rId16"/>
  </p:sldIdLst>
  <p:sldSz cx="24387175" cy="13716000"/>
  <p:notesSz cx="7010400" cy="9296400"/>
  <p:embeddedFontLst>
    <p:embeddedFont>
      <p:font typeface="Titillium WebSemiBold" panose="020B0604020202020204" charset="0"/>
      <p:bold r:id="rId18"/>
    </p:embeddedFont>
    <p:embeddedFont>
      <p:font typeface="MS PGothic" panose="020B0600070205080204" pitchFamily="34" charset="-128"/>
      <p:regular r:id="rId19"/>
    </p:embeddedFont>
    <p:embeddedFont>
      <p:font typeface="Titillium Web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Titillium WebLight" panose="020B0604020202020204" charset="0"/>
      <p:regular r:id="rId28"/>
    </p:embeddedFont>
  </p:embeddedFontLst>
  <p:defaultTextStyle>
    <a:defPPr>
      <a:defRPr lang="en-US"/>
    </a:defPPr>
    <a:lvl1pPr marL="0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44" userDrawn="1">
          <p15:clr>
            <a:srgbClr val="A4A3A4"/>
          </p15:clr>
        </p15:guide>
        <p15:guide id="2" pos="76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FEFEF"/>
    <a:srgbClr val="00AEAF"/>
    <a:srgbClr val="A0ACAF"/>
    <a:srgbClr val="99B1B9"/>
    <a:srgbClr val="64A70B"/>
    <a:srgbClr val="EEEEEE"/>
    <a:srgbClr val="FEC221"/>
    <a:srgbClr val="F4F4F4"/>
    <a:srgbClr val="621B4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5455" autoAdjust="0"/>
  </p:normalViewPr>
  <p:slideViewPr>
    <p:cSldViewPr snapToGrid="0" snapToObjects="1">
      <p:cViewPr varScale="1">
        <p:scale>
          <a:sx n="36" d="100"/>
          <a:sy n="36" d="100"/>
        </p:scale>
        <p:origin x="414" y="60"/>
      </p:cViewPr>
      <p:guideLst>
        <p:guide orient="horz" pos="4344"/>
        <p:guide pos="7681"/>
      </p:guideLst>
    </p:cSldViewPr>
  </p:slideViewPr>
  <p:outlineViewPr>
    <p:cViewPr>
      <p:scale>
        <a:sx n="33" d="100"/>
        <a:sy n="33" d="100"/>
      </p:scale>
      <p:origin x="0" y="-8933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416"/>
    </p:cViewPr>
  </p:sorterViewPr>
  <p:notesViewPr>
    <p:cSldViewPr snapToGrid="0" snapToObjects="1">
      <p:cViewPr varScale="1">
        <p:scale>
          <a:sx n="50" d="100"/>
          <a:sy n="50" d="100"/>
        </p:scale>
        <p:origin x="2640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frilm-nv-fl01\file\R&amp;D\Shared\Projects\Dizzy%20(HL78xx%20LTE%20Cat-M)\01_Engineering\10_Validation\Validation-HL7800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frilm-nv-fl01\file\R&amp;D\Shared\Projects\Dizzy%20(HL78xx%20LTE%20Cat-M)\01_Engineering\10_Validation\Validation-HL7800.xlsm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Dizzy Campaign TCs Dispatching per Domain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[1]Sheet6!$A$2:$A$33</c:f>
              <c:strCache>
                <c:ptCount val="32"/>
                <c:pt idx="0">
                  <c:v>AVMS</c:v>
                </c:pt>
                <c:pt idx="1">
                  <c:v>Call Control</c:v>
                </c:pt>
                <c:pt idx="2">
                  <c:v>CMUX</c:v>
                </c:pt>
                <c:pt idx="3">
                  <c:v>eMTC</c:v>
                </c:pt>
                <c:pt idx="4">
                  <c:v>General</c:v>
                </c:pt>
                <c:pt idx="5">
                  <c:v>IPv6</c:v>
                </c:pt>
                <c:pt idx="6">
                  <c:v>MECS</c:v>
                </c:pt>
                <c:pt idx="7">
                  <c:v>MECS ADC</c:v>
                </c:pt>
                <c:pt idx="8">
                  <c:v>MECS Alarm</c:v>
                </c:pt>
                <c:pt idx="9">
                  <c:v>MECS Bands</c:v>
                </c:pt>
                <c:pt idx="10">
                  <c:v>MECS Cell Monitoring</c:v>
                </c:pt>
                <c:pt idx="11">
                  <c:v>MECS GPIO</c:v>
                </c:pt>
                <c:pt idx="12">
                  <c:v>MECS Sleep Mode</c:v>
                </c:pt>
                <c:pt idx="13">
                  <c:v>MECS Temperature</c:v>
                </c:pt>
                <c:pt idx="14">
                  <c:v>MISC</c:v>
                </c:pt>
                <c:pt idx="15">
                  <c:v>Network Service</c:v>
                </c:pt>
                <c:pt idx="16">
                  <c:v>NV Related</c:v>
                </c:pt>
                <c:pt idx="17">
                  <c:v>Phone Book</c:v>
                </c:pt>
                <c:pt idx="18">
                  <c:v>Power Consumption</c:v>
                </c:pt>
                <c:pt idx="19">
                  <c:v>PROTOCOM</c:v>
                </c:pt>
                <c:pt idx="20">
                  <c:v>PS Domain</c:v>
                </c:pt>
                <c:pt idx="21">
                  <c:v>Secured boot</c:v>
                </c:pt>
                <c:pt idx="22">
                  <c:v>SMS</c:v>
                </c:pt>
                <c:pt idx="23">
                  <c:v>SSL</c:v>
                </c:pt>
                <c:pt idx="24">
                  <c:v>TCP</c:v>
                </c:pt>
                <c:pt idx="25">
                  <c:v>Test</c:v>
                </c:pt>
                <c:pt idx="26">
                  <c:v>THROUGHPUT</c:v>
                </c:pt>
                <c:pt idx="27">
                  <c:v>TLS1.2</c:v>
                </c:pt>
                <c:pt idx="28">
                  <c:v>UC_VIC000xx</c:v>
                </c:pt>
                <c:pt idx="29">
                  <c:v>UDP</c:v>
                </c:pt>
                <c:pt idx="30">
                  <c:v>Use Case</c:v>
                </c:pt>
                <c:pt idx="31">
                  <c:v>V25TER</c:v>
                </c:pt>
              </c:strCache>
            </c:strRef>
          </c:cat>
          <c:val>
            <c:numRef>
              <c:f>[1]Sheet6!$B$2:$B$33</c:f>
              <c:numCache>
                <c:formatCode>General</c:formatCode>
                <c:ptCount val="32"/>
                <c:pt idx="0">
                  <c:v>167</c:v>
                </c:pt>
                <c:pt idx="1">
                  <c:v>43</c:v>
                </c:pt>
                <c:pt idx="2">
                  <c:v>112</c:v>
                </c:pt>
                <c:pt idx="3">
                  <c:v>9</c:v>
                </c:pt>
                <c:pt idx="4">
                  <c:v>49</c:v>
                </c:pt>
                <c:pt idx="5">
                  <c:v>68</c:v>
                </c:pt>
                <c:pt idx="6">
                  <c:v>81</c:v>
                </c:pt>
                <c:pt idx="7">
                  <c:v>2</c:v>
                </c:pt>
                <c:pt idx="8">
                  <c:v>1</c:v>
                </c:pt>
                <c:pt idx="9">
                  <c:v>11</c:v>
                </c:pt>
                <c:pt idx="10">
                  <c:v>34</c:v>
                </c:pt>
                <c:pt idx="11">
                  <c:v>31</c:v>
                </c:pt>
                <c:pt idx="12">
                  <c:v>10</c:v>
                </c:pt>
                <c:pt idx="13">
                  <c:v>1</c:v>
                </c:pt>
                <c:pt idx="14">
                  <c:v>24</c:v>
                </c:pt>
                <c:pt idx="15">
                  <c:v>72</c:v>
                </c:pt>
                <c:pt idx="16">
                  <c:v>23</c:v>
                </c:pt>
                <c:pt idx="17">
                  <c:v>15</c:v>
                </c:pt>
                <c:pt idx="18">
                  <c:v>2</c:v>
                </c:pt>
                <c:pt idx="19">
                  <c:v>56</c:v>
                </c:pt>
                <c:pt idx="20">
                  <c:v>51</c:v>
                </c:pt>
                <c:pt idx="21">
                  <c:v>1</c:v>
                </c:pt>
                <c:pt idx="22">
                  <c:v>102</c:v>
                </c:pt>
                <c:pt idx="23">
                  <c:v>49</c:v>
                </c:pt>
                <c:pt idx="24">
                  <c:v>102</c:v>
                </c:pt>
                <c:pt idx="25">
                  <c:v>134</c:v>
                </c:pt>
                <c:pt idx="26">
                  <c:v>31</c:v>
                </c:pt>
                <c:pt idx="27">
                  <c:v>84</c:v>
                </c:pt>
                <c:pt idx="28">
                  <c:v>7</c:v>
                </c:pt>
                <c:pt idx="29">
                  <c:v>61</c:v>
                </c:pt>
                <c:pt idx="30">
                  <c:v>18</c:v>
                </c:pt>
                <c:pt idx="31">
                  <c:v>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80A-48EC-9D09-9812090C271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19617456"/>
        <c:axId val="119615216"/>
      </c:barChart>
      <c:catAx>
        <c:axId val="119617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15216"/>
        <c:crosses val="autoZero"/>
        <c:auto val="1"/>
        <c:lblAlgn val="ctr"/>
        <c:lblOffset val="100"/>
        <c:noMultiLvlLbl val="0"/>
      </c:catAx>
      <c:valAx>
        <c:axId val="119615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174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[Validation-HL7800.xlsm]Automation_1Click!PivotTable4</c:name>
    <c:fmtId val="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Dizzy TCs Automation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0.11306999125109367"/>
              <c:y val="0.12704651501895597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6.7199570560845218E-2"/>
              <c:y val="8.897979706559663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Automation_1Click!$B$1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E48-4308-885C-DBDB6D3A4C4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E48-4308-885C-DBDB6D3A4C4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0E48-4308-885C-DBDB6D3A4C4E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Automation_1Click!$A$2:$A$5</c:f>
              <c:strCache>
                <c:ptCount val="3"/>
                <c:pt idx="0">
                  <c:v>0-No Automation</c:v>
                </c:pt>
                <c:pt idx="1">
                  <c:v>1-Full Automation</c:v>
                </c:pt>
                <c:pt idx="2">
                  <c:v>2-Partial Automation</c:v>
                </c:pt>
              </c:strCache>
            </c:strRef>
          </c:cat>
          <c:val>
            <c:numRef>
              <c:f>Automation_1Click!$B$2:$B$5</c:f>
              <c:numCache>
                <c:formatCode>General</c:formatCode>
                <c:ptCount val="3"/>
                <c:pt idx="0">
                  <c:v>674</c:v>
                </c:pt>
                <c:pt idx="1">
                  <c:v>1199</c:v>
                </c:pt>
                <c:pt idx="2">
                  <c:v>201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0E48-4308-885C-DBDB6D3A4C4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  <c:extLst xmlns:c16r2="http://schemas.microsoft.com/office/drawing/2015/06/chart"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 sz="2800"/>
              <a:t>Dizzy Campaign TCs Automation and 1-Click coverage progress</a:t>
            </a:r>
          </a:p>
        </c:rich>
      </c:tx>
      <c:layout>
        <c:manualLayout>
          <c:xMode val="edge"/>
          <c:yMode val="edge"/>
          <c:x val="0.21521518455641703"/>
          <c:y val="2.8385404441446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1"/>
          <c:order val="1"/>
          <c:tx>
            <c:strRef>
              <c:f>Automation_1Click!$A$22</c:f>
              <c:strCache>
                <c:ptCount val="1"/>
                <c:pt idx="0">
                  <c:v>1-Full Automation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Automation_1Click!$B$20:$P$20</c:f>
              <c:strCache>
                <c:ptCount val="15"/>
                <c:pt idx="0">
                  <c:v>W20</c:v>
                </c:pt>
                <c:pt idx="1">
                  <c:v>W22</c:v>
                </c:pt>
                <c:pt idx="2">
                  <c:v>W24</c:v>
                </c:pt>
                <c:pt idx="3">
                  <c:v>W25</c:v>
                </c:pt>
                <c:pt idx="4">
                  <c:v>W26</c:v>
                </c:pt>
                <c:pt idx="5">
                  <c:v>W27</c:v>
                </c:pt>
                <c:pt idx="6">
                  <c:v>W28</c:v>
                </c:pt>
                <c:pt idx="7">
                  <c:v>W29</c:v>
                </c:pt>
                <c:pt idx="8">
                  <c:v>W30</c:v>
                </c:pt>
                <c:pt idx="9">
                  <c:v>W31</c:v>
                </c:pt>
                <c:pt idx="10">
                  <c:v>W32</c:v>
                </c:pt>
                <c:pt idx="11">
                  <c:v>W33</c:v>
                </c:pt>
                <c:pt idx="12">
                  <c:v>W34</c:v>
                </c:pt>
                <c:pt idx="13">
                  <c:v>W35</c:v>
                </c:pt>
                <c:pt idx="14">
                  <c:v>W36</c:v>
                </c:pt>
              </c:strCache>
            </c:strRef>
          </c:cat>
          <c:val>
            <c:numRef>
              <c:f>Automation_1Click!$B$22:$P$22</c:f>
              <c:numCache>
                <c:formatCode>General</c:formatCode>
                <c:ptCount val="15"/>
                <c:pt idx="0">
                  <c:v>929</c:v>
                </c:pt>
                <c:pt idx="1">
                  <c:v>1096</c:v>
                </c:pt>
                <c:pt idx="2">
                  <c:v>1123</c:v>
                </c:pt>
                <c:pt idx="3">
                  <c:v>1120</c:v>
                </c:pt>
                <c:pt idx="4">
                  <c:v>1176</c:v>
                </c:pt>
                <c:pt idx="5">
                  <c:v>1180</c:v>
                </c:pt>
                <c:pt idx="6">
                  <c:v>1174</c:v>
                </c:pt>
                <c:pt idx="7">
                  <c:v>1174</c:v>
                </c:pt>
                <c:pt idx="8">
                  <c:v>1174</c:v>
                </c:pt>
                <c:pt idx="9">
                  <c:v>1174</c:v>
                </c:pt>
                <c:pt idx="10">
                  <c:v>1179</c:v>
                </c:pt>
                <c:pt idx="11">
                  <c:v>1181</c:v>
                </c:pt>
                <c:pt idx="12">
                  <c:v>1185</c:v>
                </c:pt>
                <c:pt idx="13">
                  <c:v>1198</c:v>
                </c:pt>
                <c:pt idx="14">
                  <c:v>1199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E24-41ED-A801-228A9A7F7489}"/>
            </c:ext>
          </c:extLst>
        </c:ser>
        <c:ser>
          <c:idx val="2"/>
          <c:order val="2"/>
          <c:tx>
            <c:strRef>
              <c:f>Automation_1Click!$A$23</c:f>
              <c:strCache>
                <c:ptCount val="1"/>
                <c:pt idx="0">
                  <c:v>2-Partial Automation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Automation_1Click!$B$20:$P$20</c:f>
              <c:strCache>
                <c:ptCount val="15"/>
                <c:pt idx="0">
                  <c:v>W20</c:v>
                </c:pt>
                <c:pt idx="1">
                  <c:v>W22</c:v>
                </c:pt>
                <c:pt idx="2">
                  <c:v>W24</c:v>
                </c:pt>
                <c:pt idx="3">
                  <c:v>W25</c:v>
                </c:pt>
                <c:pt idx="4">
                  <c:v>W26</c:v>
                </c:pt>
                <c:pt idx="5">
                  <c:v>W27</c:v>
                </c:pt>
                <c:pt idx="6">
                  <c:v>W28</c:v>
                </c:pt>
                <c:pt idx="7">
                  <c:v>W29</c:v>
                </c:pt>
                <c:pt idx="8">
                  <c:v>W30</c:v>
                </c:pt>
                <c:pt idx="9">
                  <c:v>W31</c:v>
                </c:pt>
                <c:pt idx="10">
                  <c:v>W32</c:v>
                </c:pt>
                <c:pt idx="11">
                  <c:v>W33</c:v>
                </c:pt>
                <c:pt idx="12">
                  <c:v>W34</c:v>
                </c:pt>
                <c:pt idx="13">
                  <c:v>W35</c:v>
                </c:pt>
                <c:pt idx="14">
                  <c:v>W36</c:v>
                </c:pt>
              </c:strCache>
            </c:strRef>
          </c:cat>
          <c:val>
            <c:numRef>
              <c:f>Automation_1Click!$B$23:$P$23</c:f>
              <c:numCache>
                <c:formatCode>General</c:formatCode>
                <c:ptCount val="15"/>
                <c:pt idx="0">
                  <c:v>175</c:v>
                </c:pt>
                <c:pt idx="1">
                  <c:v>179</c:v>
                </c:pt>
                <c:pt idx="2">
                  <c:v>179</c:v>
                </c:pt>
                <c:pt idx="3">
                  <c:v>180</c:v>
                </c:pt>
                <c:pt idx="4">
                  <c:v>199</c:v>
                </c:pt>
                <c:pt idx="5">
                  <c:v>200</c:v>
                </c:pt>
                <c:pt idx="6">
                  <c:v>200</c:v>
                </c:pt>
                <c:pt idx="7">
                  <c:v>200</c:v>
                </c:pt>
                <c:pt idx="8">
                  <c:v>200</c:v>
                </c:pt>
                <c:pt idx="9">
                  <c:v>200</c:v>
                </c:pt>
                <c:pt idx="10">
                  <c:v>200</c:v>
                </c:pt>
                <c:pt idx="11">
                  <c:v>200</c:v>
                </c:pt>
                <c:pt idx="12">
                  <c:v>201</c:v>
                </c:pt>
                <c:pt idx="13">
                  <c:v>201</c:v>
                </c:pt>
                <c:pt idx="14">
                  <c:v>201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E24-41ED-A801-228A9A7F7489}"/>
            </c:ext>
          </c:extLst>
        </c:ser>
        <c:ser>
          <c:idx val="3"/>
          <c:order val="3"/>
          <c:tx>
            <c:strRef>
              <c:f>Automation_1Click!$A$24</c:f>
              <c:strCache>
                <c:ptCount val="1"/>
                <c:pt idx="0">
                  <c:v>0-No Automation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Automation_1Click!$B$20:$P$20</c:f>
              <c:strCache>
                <c:ptCount val="15"/>
                <c:pt idx="0">
                  <c:v>W20</c:v>
                </c:pt>
                <c:pt idx="1">
                  <c:v>W22</c:v>
                </c:pt>
                <c:pt idx="2">
                  <c:v>W24</c:v>
                </c:pt>
                <c:pt idx="3">
                  <c:v>W25</c:v>
                </c:pt>
                <c:pt idx="4">
                  <c:v>W26</c:v>
                </c:pt>
                <c:pt idx="5">
                  <c:v>W27</c:v>
                </c:pt>
                <c:pt idx="6">
                  <c:v>W28</c:v>
                </c:pt>
                <c:pt idx="7">
                  <c:v>W29</c:v>
                </c:pt>
                <c:pt idx="8">
                  <c:v>W30</c:v>
                </c:pt>
                <c:pt idx="9">
                  <c:v>W31</c:v>
                </c:pt>
                <c:pt idx="10">
                  <c:v>W32</c:v>
                </c:pt>
                <c:pt idx="11">
                  <c:v>W33</c:v>
                </c:pt>
                <c:pt idx="12">
                  <c:v>W34</c:v>
                </c:pt>
                <c:pt idx="13">
                  <c:v>W35</c:v>
                </c:pt>
                <c:pt idx="14">
                  <c:v>W36</c:v>
                </c:pt>
              </c:strCache>
            </c:strRef>
          </c:cat>
          <c:val>
            <c:numRef>
              <c:f>Automation_1Click!$B$24:$P$24</c:f>
              <c:numCache>
                <c:formatCode>General</c:formatCode>
                <c:ptCount val="15"/>
                <c:pt idx="0">
                  <c:v>402</c:v>
                </c:pt>
                <c:pt idx="1">
                  <c:v>406</c:v>
                </c:pt>
                <c:pt idx="2">
                  <c:v>414</c:v>
                </c:pt>
                <c:pt idx="3">
                  <c:v>428</c:v>
                </c:pt>
                <c:pt idx="4">
                  <c:v>354</c:v>
                </c:pt>
                <c:pt idx="5">
                  <c:v>356</c:v>
                </c:pt>
                <c:pt idx="6">
                  <c:v>358</c:v>
                </c:pt>
                <c:pt idx="7">
                  <c:v>357</c:v>
                </c:pt>
                <c:pt idx="8">
                  <c:v>357</c:v>
                </c:pt>
                <c:pt idx="9">
                  <c:v>358</c:v>
                </c:pt>
                <c:pt idx="10">
                  <c:v>358</c:v>
                </c:pt>
                <c:pt idx="11">
                  <c:v>602</c:v>
                </c:pt>
                <c:pt idx="12">
                  <c:v>661</c:v>
                </c:pt>
                <c:pt idx="13">
                  <c:v>674</c:v>
                </c:pt>
                <c:pt idx="14">
                  <c:v>674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3E24-41ED-A801-228A9A7F7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179142832"/>
        <c:axId val="179143392"/>
        <c:extLst xmlns:c16r2="http://schemas.microsoft.com/office/drawing/2015/06/chart"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Automation_1Click!$A$21</c15:sqref>
                        </c15:formulaRef>
                      </c:ext>
                    </c:extLst>
                    <c:strCache>
                      <c:ptCount val="1"/>
                      <c:pt idx="0">
                        <c:v>Row Labels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hade val="51000"/>
                          <a:satMod val="130000"/>
                        </a:schemeClr>
                      </a:gs>
                      <a:gs pos="80000">
                        <a:schemeClr val="accent1">
                          <a:shade val="93000"/>
                          <a:satMod val="130000"/>
                        </a:schemeClr>
                      </a:gs>
                      <a:gs pos="100000">
                        <a:schemeClr val="accent1">
                          <a:shade val="94000"/>
                          <a:satMod val="13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invertIfNegative val="0"/>
                <c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Automation_1Click!$B$20:$P$20</c15:sqref>
                        </c15:formulaRef>
                      </c:ext>
                    </c:extLst>
                    <c:strCache>
                      <c:ptCount val="15"/>
                      <c:pt idx="0">
                        <c:v>W20</c:v>
                      </c:pt>
                      <c:pt idx="1">
                        <c:v>W22</c:v>
                      </c:pt>
                      <c:pt idx="2">
                        <c:v>W24</c:v>
                      </c:pt>
                      <c:pt idx="3">
                        <c:v>W25</c:v>
                      </c:pt>
                      <c:pt idx="4">
                        <c:v>W26</c:v>
                      </c:pt>
                      <c:pt idx="5">
                        <c:v>W27</c:v>
                      </c:pt>
                      <c:pt idx="6">
                        <c:v>W28</c:v>
                      </c:pt>
                      <c:pt idx="7">
                        <c:v>W29</c:v>
                      </c:pt>
                      <c:pt idx="8">
                        <c:v>W30</c:v>
                      </c:pt>
                      <c:pt idx="9">
                        <c:v>W31</c:v>
                      </c:pt>
                      <c:pt idx="10">
                        <c:v>W32</c:v>
                      </c:pt>
                      <c:pt idx="11">
                        <c:v>W33</c:v>
                      </c:pt>
                      <c:pt idx="12">
                        <c:v>W34</c:v>
                      </c:pt>
                      <c:pt idx="13">
                        <c:v>W35</c:v>
                      </c:pt>
                      <c:pt idx="14">
                        <c:v>W36</c:v>
                      </c:pt>
                    </c:strCache>
                  </c:strRef>
                </c:cat>
                <c:val>
                  <c:numRef>
                    <c:extLst xmlns:c16r2="http://schemas.microsoft.com/office/drawing/2015/06/chart">
                      <c:ext uri="{02D57815-91ED-43cb-92C2-25804820EDAC}">
                        <c15:formulaRef>
                          <c15:sqref>Automation_1Click!$B$21:$P$21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 formatCode="[$-809]dd\-mmm\-yyyy;@">
                        <c:v>0</c:v>
                      </c:pt>
                      <c:pt idx="13" formatCode="[$-809]dd\-mmm\-yyyy;@">
                        <c:v>0</c:v>
                      </c:pt>
                      <c:pt idx="14" formatCode="[$-809]dd\-mmm\-yyyy;@">
                        <c:v>0</c:v>
                      </c:pt>
                    </c:numCache>
                  </c:numRef>
                </c:val>
                <c:extLst xmlns:c16r2="http://schemas.microsoft.com/office/drawing/2015/06/chart">
                  <c:ext xmlns:c16="http://schemas.microsoft.com/office/drawing/2014/chart" uri="{C3380CC4-5D6E-409C-BE32-E72D297353CC}">
                    <c16:uniqueId val="{00000004-3E24-41ED-A801-228A9A7F7489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4"/>
          <c:order val="4"/>
          <c:tx>
            <c:strRef>
              <c:f>Automation_1Click!$A$25</c:f>
              <c:strCache>
                <c:ptCount val="1"/>
                <c:pt idx="0">
                  <c:v>1-Click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Automation_1Click!$B$20:$P$20</c:f>
              <c:strCache>
                <c:ptCount val="15"/>
                <c:pt idx="0">
                  <c:v>W20</c:v>
                </c:pt>
                <c:pt idx="1">
                  <c:v>W22</c:v>
                </c:pt>
                <c:pt idx="2">
                  <c:v>W24</c:v>
                </c:pt>
                <c:pt idx="3">
                  <c:v>W25</c:v>
                </c:pt>
                <c:pt idx="4">
                  <c:v>W26</c:v>
                </c:pt>
                <c:pt idx="5">
                  <c:v>W27</c:v>
                </c:pt>
                <c:pt idx="6">
                  <c:v>W28</c:v>
                </c:pt>
                <c:pt idx="7">
                  <c:v>W29</c:v>
                </c:pt>
                <c:pt idx="8">
                  <c:v>W30</c:v>
                </c:pt>
                <c:pt idx="9">
                  <c:v>W31</c:v>
                </c:pt>
                <c:pt idx="10">
                  <c:v>W32</c:v>
                </c:pt>
                <c:pt idx="11">
                  <c:v>W33</c:v>
                </c:pt>
                <c:pt idx="12">
                  <c:v>W34</c:v>
                </c:pt>
                <c:pt idx="13">
                  <c:v>W35</c:v>
                </c:pt>
                <c:pt idx="14">
                  <c:v>W36</c:v>
                </c:pt>
              </c:strCache>
            </c:strRef>
          </c:cat>
          <c:val>
            <c:numRef>
              <c:f>Automation_1Click!$B$25:$P$25</c:f>
              <c:numCache>
                <c:formatCode>General</c:formatCode>
                <c:ptCount val="15"/>
                <c:pt idx="0">
                  <c:v>244</c:v>
                </c:pt>
                <c:pt idx="1">
                  <c:v>244</c:v>
                </c:pt>
                <c:pt idx="2">
                  <c:v>244</c:v>
                </c:pt>
                <c:pt idx="3">
                  <c:v>244</c:v>
                </c:pt>
                <c:pt idx="4">
                  <c:v>476</c:v>
                </c:pt>
                <c:pt idx="5">
                  <c:v>486</c:v>
                </c:pt>
                <c:pt idx="6">
                  <c:v>477</c:v>
                </c:pt>
                <c:pt idx="7">
                  <c:v>517</c:v>
                </c:pt>
                <c:pt idx="8">
                  <c:v>517</c:v>
                </c:pt>
                <c:pt idx="9">
                  <c:v>517</c:v>
                </c:pt>
                <c:pt idx="10">
                  <c:v>577</c:v>
                </c:pt>
                <c:pt idx="11">
                  <c:v>566</c:v>
                </c:pt>
                <c:pt idx="12">
                  <c:v>645</c:v>
                </c:pt>
                <c:pt idx="13">
                  <c:v>645</c:v>
                </c:pt>
                <c:pt idx="14">
                  <c:v>653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3E24-41ED-A801-228A9A7F7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9142832"/>
        <c:axId val="179143392"/>
      </c:lineChart>
      <c:catAx>
        <c:axId val="17914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43392"/>
        <c:crosses val="autoZero"/>
        <c:auto val="1"/>
        <c:lblAlgn val="ctr"/>
        <c:lblOffset val="100"/>
        <c:noMultiLvlLbl val="0"/>
      </c:catAx>
      <c:valAx>
        <c:axId val="179143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4283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2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6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B6C2B65-95C8-412A-B757-5B6B1D2B40A5}" type="datetimeFigureOut">
              <a:rPr lang="en-US" smtClean="0"/>
              <a:t>10/1/2018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F4479A-03DC-4C16-A246-86DD846A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1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41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63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39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35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50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13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0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0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79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/>
              <a:t>LAYOUT</a:t>
            </a:r>
            <a:r>
              <a:rPr lang="en-US" b="1" baseline="0"/>
              <a:t>: </a:t>
            </a:r>
            <a:r>
              <a:rPr lang="en-US" b="1" u="sng"/>
              <a:t>SW Large chart</a:t>
            </a:r>
            <a:r>
              <a:rPr lang="en-US" b="1" u="sng" baseline="0"/>
              <a:t> or diagram</a:t>
            </a:r>
            <a:endParaRPr lang="en-US" b="1" u="sng"/>
          </a:p>
          <a:p>
            <a:pPr defTabSz="931774">
              <a:defRPr/>
            </a:pPr>
            <a:endParaRPr lang="en-US"/>
          </a:p>
          <a:p>
            <a:pPr defTabSz="931774">
              <a:defRPr/>
            </a:pPr>
            <a:r>
              <a:rPr lang="en-US" b="1"/>
              <a:t>Fonts:</a:t>
            </a:r>
          </a:p>
          <a:p>
            <a:pPr defTabSz="931774">
              <a:defRPr/>
            </a:pPr>
            <a:r>
              <a:rPr lang="en-US"/>
              <a:t>Click to add title: </a:t>
            </a:r>
            <a:r>
              <a:rPr lang="en-US" err="1"/>
              <a:t>TitilliumWeb</a:t>
            </a:r>
            <a:r>
              <a:rPr lang="en-US"/>
              <a:t> Light 72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Click to edit content: </a:t>
            </a:r>
            <a:r>
              <a:rPr lang="en-US" err="1"/>
              <a:t>TitilliumWeb</a:t>
            </a:r>
            <a:r>
              <a:rPr lang="en-US"/>
              <a:t> Light 59 </a:t>
            </a:r>
            <a:r>
              <a:rPr lang="en-US" err="1"/>
              <a:t>pt</a:t>
            </a:r>
            <a:endParaRPr lang="en-US"/>
          </a:p>
          <a:p>
            <a:pPr marL="640594" lvl="1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Second level: </a:t>
            </a:r>
            <a:r>
              <a:rPr lang="en-US" err="1"/>
              <a:t>TitilliumWeb</a:t>
            </a:r>
            <a:r>
              <a:rPr lang="en-US"/>
              <a:t> Light 48 </a:t>
            </a:r>
            <a:r>
              <a:rPr lang="en-US" err="1"/>
              <a:t>pt</a:t>
            </a:r>
            <a:endParaRPr lang="en-US"/>
          </a:p>
          <a:p>
            <a:pPr marL="1106481" lvl="2" indent="-174708" defTabSz="931774">
              <a:buFont typeface="Arial" panose="020B0604020202020204" pitchFamily="34" charset="0"/>
              <a:buChar char="•"/>
              <a:defRPr/>
            </a:pPr>
            <a:r>
              <a:rPr lang="en-US"/>
              <a:t>Third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572368" lvl="3" indent="-174708" defTabSz="931774">
              <a:buFont typeface="Calibri" panose="020F0502020204030204" pitchFamily="34" charset="0"/>
              <a:buChar char="‒"/>
              <a:defRPr/>
            </a:pPr>
            <a:r>
              <a:rPr lang="en-US"/>
              <a:t>Fourth level: </a:t>
            </a:r>
            <a:r>
              <a:rPr lang="en-US" err="1"/>
              <a:t>TitilliumWeb</a:t>
            </a:r>
            <a:r>
              <a:rPr lang="en-US"/>
              <a:t> Light 43 </a:t>
            </a:r>
            <a:r>
              <a:rPr lang="en-US" err="1"/>
              <a:t>pt</a:t>
            </a:r>
            <a:endParaRPr lang="en-US"/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b="0">
                <a:solidFill>
                  <a:srgbClr val="00677A"/>
                </a:solidFill>
              </a:rPr>
              <a:t>Use</a:t>
            </a:r>
            <a:r>
              <a:rPr lang="en-US" b="0" baseline="0">
                <a:solidFill>
                  <a:srgbClr val="00677A"/>
                </a:solidFill>
              </a:rPr>
              <a:t> </a:t>
            </a:r>
            <a:r>
              <a:rPr lang="en-US" err="1"/>
              <a:t>Titillium</a:t>
            </a:r>
            <a:r>
              <a:rPr lang="en-US"/>
              <a:t> Web</a:t>
            </a:r>
            <a:r>
              <a:rPr lang="en-US" baseline="0"/>
              <a:t> +</a:t>
            </a:r>
            <a:r>
              <a:rPr lang="en-US"/>
              <a:t> </a:t>
            </a:r>
            <a:r>
              <a:rPr lang="en-US" b="1">
                <a:solidFill>
                  <a:srgbClr val="00677A"/>
                </a:solidFill>
              </a:rPr>
              <a:t>Bold </a:t>
            </a:r>
            <a:r>
              <a:rPr lang="en-US">
                <a:latin typeface="+mn-lt"/>
              </a:rPr>
              <a:t>in</a:t>
            </a:r>
            <a:r>
              <a:rPr lang="en-US" b="1">
                <a:solidFill>
                  <a:srgbClr val="00AEAF"/>
                </a:solidFill>
                <a:latin typeface="+mn-lt"/>
              </a:rPr>
              <a:t> Teal </a:t>
            </a:r>
            <a:r>
              <a:rPr lang="en-US"/>
              <a:t>(R:0 G:174 B:175)</a:t>
            </a:r>
            <a:r>
              <a:rPr lang="en-US" baseline="0"/>
              <a:t> </a:t>
            </a:r>
            <a:r>
              <a:rPr lang="en-US"/>
              <a:t>for emphasis in copy.</a:t>
            </a:r>
          </a:p>
          <a:p>
            <a:pPr defTabSz="931774">
              <a:defRPr/>
            </a:pPr>
            <a:endParaRPr lang="en-US"/>
          </a:p>
          <a:p>
            <a:r>
              <a:rPr lang="en-US" b="1"/>
              <a:t>Copying Slides &amp; Text:</a:t>
            </a:r>
          </a:p>
          <a:p>
            <a:pPr defTabSz="931774">
              <a:defRPr/>
            </a:pPr>
            <a:r>
              <a:rPr lang="en-US" b="1" i="1"/>
              <a:t>Note: </a:t>
            </a:r>
            <a:r>
              <a:rPr lang="en-US"/>
              <a:t>Slides &amp; Text boxes </a:t>
            </a:r>
            <a:r>
              <a:rPr lang="en-US" b="1" u="sng"/>
              <a:t>cannot</a:t>
            </a:r>
            <a:r>
              <a:rPr lang="en-US"/>
              <a:t> be dragged over from an old deck. Copy should be </a:t>
            </a:r>
            <a:r>
              <a:rPr lang="en-US" b="1" u="sng"/>
              <a:t>pasted as plain text </a:t>
            </a:r>
            <a:r>
              <a:rPr lang="en-US"/>
              <a:t>to the new deck. </a:t>
            </a:r>
            <a:r>
              <a:rPr lang="en-US" i="1"/>
              <a:t>When you copy text from another source, you will see a Drop Down menu </a:t>
            </a:r>
            <a:r>
              <a:rPr lang="en-US" b="1" i="1"/>
              <a:t>“Paste Options” </a:t>
            </a:r>
            <a:r>
              <a:rPr lang="en-US" i="1"/>
              <a:t>appear next to the text. Select </a:t>
            </a:r>
            <a:r>
              <a:rPr lang="en-US" b="1" i="1"/>
              <a:t>“Keep Text Only”</a:t>
            </a:r>
            <a:r>
              <a:rPr lang="en-US" i="1"/>
              <a:t>.</a:t>
            </a:r>
          </a:p>
          <a:p>
            <a:pPr defTabSz="931774">
              <a:defRPr/>
            </a:pPr>
            <a:endParaRPr lang="en-US" i="1"/>
          </a:p>
          <a:p>
            <a:pPr defTabSz="931774">
              <a:defRPr/>
            </a:pPr>
            <a:r>
              <a:rPr lang="en-US"/>
              <a:t>Use simple Animations to introduce text effects, like Fade or Wipe.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4479A-03DC-4C16-A246-86DD846AA5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9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910368"/>
            <a:ext cx="24387175" cy="52832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4300" err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0216" y="5843016"/>
            <a:ext cx="16056864" cy="1097280"/>
          </a:xfrm>
        </p:spPr>
        <p:txBody>
          <a:bodyPr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216" y="7370064"/>
            <a:ext cx="13972032" cy="79552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tx1"/>
                </a:solidFill>
                <a:latin typeface="Titillium WebSemiBold" panose="00000700000000000000" pitchFamily="2" charset="0"/>
              </a:defRPr>
            </a:lvl1pPr>
            <a:lvl2pPr marL="1088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77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65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54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43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31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620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709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SierraLogo_R_Stacked_CMYK_Whit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8844" y="11432579"/>
            <a:ext cx="2940738" cy="1614571"/>
          </a:xfrm>
          <a:prstGeom prst="rect">
            <a:avLst/>
          </a:prstGeom>
        </p:spPr>
      </p:pic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327648" y="9144000"/>
            <a:ext cx="8558784" cy="493776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aseline="0">
                <a:latin typeface="Titillium WebLight" panose="00000400000000000000" pitchFamily="2" charset="0"/>
              </a:defRPr>
            </a:lvl1pPr>
          </a:lstStyle>
          <a:p>
            <a:r>
              <a:rPr lang="en-US"/>
              <a:t>Click to insert date</a:t>
            </a:r>
          </a:p>
        </p:txBody>
      </p:sp>
    </p:spTree>
    <p:extLst>
      <p:ext uri="{BB962C8B-B14F-4D97-AF65-F5344CB8AC3E}">
        <p14:creationId xmlns:p14="http://schemas.microsoft.com/office/powerpoint/2010/main" val="2510893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Section title red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625813" y="5435600"/>
            <a:ext cx="15450019" cy="1101680"/>
          </a:xfrm>
          <a:prstGeom prst="rect">
            <a:avLst/>
          </a:prstGeom>
        </p:spPr>
        <p:txBody>
          <a:bodyPr/>
          <a:lstStyle>
            <a:lvl1pPr algn="l">
              <a:defRPr b="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27848" y="7125955"/>
            <a:ext cx="15447983" cy="79888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FontTx/>
              <a:buNone/>
              <a:defRPr sz="3700">
                <a:solidFill>
                  <a:srgbClr val="000000"/>
                </a:solidFill>
                <a:latin typeface="Titillium WebLight" panose="00000400000000000000" pitchFamily="2" charset="0"/>
                <a:cs typeface="Titillium Web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035" y="11432579"/>
            <a:ext cx="2940356" cy="16145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5050" y="-24077"/>
            <a:ext cx="10593834" cy="559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Section title grey wav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625813" y="5435600"/>
            <a:ext cx="15450019" cy="1101680"/>
          </a:xfrm>
          <a:prstGeom prst="rect">
            <a:avLst/>
          </a:prstGeom>
        </p:spPr>
        <p:txBody>
          <a:bodyPr/>
          <a:lstStyle>
            <a:lvl1pPr algn="l">
              <a:defRPr b="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27849" y="7125955"/>
            <a:ext cx="6679538" cy="79888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FontTx/>
              <a:buNone/>
              <a:defRPr sz="3700">
                <a:solidFill>
                  <a:srgbClr val="000000"/>
                </a:solidFill>
                <a:latin typeface="Titillium WebLight" panose="00000400000000000000" pitchFamily="2" charset="0"/>
                <a:cs typeface="Titillium Web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035" y="11432579"/>
            <a:ext cx="2940356" cy="16145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5050" y="-22090"/>
            <a:ext cx="10593834" cy="559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0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Section title full siz photo"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4387175" cy="13716000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625813" y="5435600"/>
            <a:ext cx="15450019" cy="1101680"/>
          </a:xfrm>
          <a:prstGeom prst="rect">
            <a:avLst/>
          </a:prstGeom>
        </p:spPr>
        <p:txBody>
          <a:bodyPr/>
          <a:lstStyle>
            <a:lvl1pPr algn="l">
              <a:defRPr b="0" baseline="0">
                <a:solidFill>
                  <a:schemeClr val="bg1"/>
                </a:solidFill>
                <a:latin typeface="Titillium WebLight" panose="000004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27849" y="7125955"/>
            <a:ext cx="15448678" cy="79888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FontTx/>
              <a:buNone/>
              <a:defRPr sz="3700">
                <a:solidFill>
                  <a:srgbClr val="FFFFFF"/>
                </a:solidFill>
                <a:latin typeface="Titillium WebSemiBold" panose="00000700000000000000" pitchFamily="2" charset="0"/>
                <a:cs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Picture 16" descr="SierraLogo_R_Stacked_CMYK_Wh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8844" y="11432579"/>
            <a:ext cx="2940738" cy="161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3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W -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</p:spTree>
    <p:extLst>
      <p:ext uri="{BB962C8B-B14F-4D97-AF65-F5344CB8AC3E}">
        <p14:creationId xmlns:p14="http://schemas.microsoft.com/office/powerpoint/2010/main" val="76119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Numbers as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1539651" y="7643196"/>
            <a:ext cx="3502152" cy="1463040"/>
          </a:xfrm>
        </p:spPr>
        <p:txBody>
          <a:bodyPr anchor="b" anchorCtr="0"/>
          <a:lstStyle>
            <a:lvl1pPr marL="0" indent="0" algn="l">
              <a:buFontTx/>
              <a:buNone/>
              <a:defRPr sz="11200" b="1" i="0" spc="-300" baseline="0">
                <a:solidFill>
                  <a:schemeClr val="accent3"/>
                </a:solidFill>
                <a:latin typeface="Titillium Web" panose="00000500000000000000" pitchFamily="2" charset="0"/>
              </a:defRPr>
            </a:lvl1pPr>
            <a:lvl2pPr marL="667512" indent="0">
              <a:buFontTx/>
              <a:buNone/>
              <a:defRPr/>
            </a:lvl2pPr>
            <a:lvl3pPr marL="1284481" indent="0">
              <a:buFontTx/>
              <a:buNone/>
              <a:defRPr/>
            </a:lvl3pPr>
            <a:lvl4pPr marL="3265917" indent="0">
              <a:buFontTx/>
              <a:buNone/>
              <a:defRPr/>
            </a:lvl4pPr>
            <a:lvl5pPr marL="435455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539651" y="3760044"/>
            <a:ext cx="3502152" cy="1463040"/>
          </a:xfrm>
        </p:spPr>
        <p:txBody>
          <a:bodyPr anchor="b" anchorCtr="0"/>
          <a:lstStyle>
            <a:lvl1pPr marL="0" indent="0" algn="l">
              <a:buFontTx/>
              <a:buNone/>
              <a:defRPr sz="11200" b="1" i="0" spc="-300" baseline="0">
                <a:solidFill>
                  <a:schemeClr val="accent1"/>
                </a:solidFill>
                <a:latin typeface="Titillium Web" panose="00000500000000000000" pitchFamily="2" charset="0"/>
              </a:defRPr>
            </a:lvl1pPr>
            <a:lvl2pPr marL="667512" indent="0">
              <a:buFontTx/>
              <a:buNone/>
              <a:defRPr/>
            </a:lvl2pPr>
            <a:lvl3pPr marL="1284481" indent="0">
              <a:buFontTx/>
              <a:buNone/>
              <a:defRPr/>
            </a:lvl3pPr>
            <a:lvl4pPr marL="3265917" indent="0">
              <a:buFontTx/>
              <a:buNone/>
              <a:defRPr/>
            </a:lvl4pPr>
            <a:lvl5pPr marL="435455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24001" y="3912444"/>
            <a:ext cx="7516368" cy="3401568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53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15224001" y="7813884"/>
            <a:ext cx="7516368" cy="3401568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53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2084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Semibold, colo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1552238" y="4014788"/>
            <a:ext cx="12038012" cy="8539162"/>
          </a:xfrm>
        </p:spPr>
        <p:txBody>
          <a:bodyPr/>
          <a:lstStyle>
            <a:lvl1pPr marL="0" indent="0">
              <a:spcAft>
                <a:spcPts val="7800"/>
              </a:spcAft>
              <a:buFontTx/>
              <a:buNone/>
              <a:defRPr baseline="0">
                <a:solidFill>
                  <a:srgbClr val="00AEAF"/>
                </a:solidFill>
                <a:latin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</p:spTree>
    <p:extLst>
      <p:ext uri="{BB962C8B-B14F-4D97-AF65-F5344CB8AC3E}">
        <p14:creationId xmlns:p14="http://schemas.microsoft.com/office/powerpoint/2010/main" val="330969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2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2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978408" y="2404872"/>
            <a:ext cx="10835640" cy="10177272"/>
          </a:xfrm>
        </p:spPr>
        <p:txBody>
          <a:bodyPr/>
          <a:lstStyle>
            <a:lvl1pPr marL="857250" marR="0" indent="-857250" algn="l" defTabSz="1088639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buSzTx/>
              <a:buFont typeface="Arial"/>
              <a:buChar char="•"/>
              <a:tabLst/>
              <a:defRPr baseline="0"/>
            </a:lvl1pPr>
            <a:lvl2pPr marL="1543050" indent="-547688">
              <a:defRPr/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12665583" y="2404872"/>
            <a:ext cx="10835640" cy="10177272"/>
          </a:xfrm>
        </p:spPr>
        <p:txBody>
          <a:bodyPr/>
          <a:lstStyle>
            <a:lvl1pPr marL="857250" marR="0" indent="-857250" algn="l" defTabSz="1088639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buSzTx/>
              <a:buFont typeface="Arial"/>
              <a:buChar char="•"/>
              <a:tabLst/>
              <a:defRPr baseline="0"/>
            </a:lvl1pPr>
            <a:lvl2pPr marL="1543050" indent="-547688">
              <a:defRPr/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2254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Solutions (Climi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756648" y="2834640"/>
            <a:ext cx="13331952" cy="5486400"/>
          </a:xfrm>
        </p:spPr>
        <p:txBody>
          <a:bodyPr/>
          <a:lstStyle>
            <a:lvl1pPr marL="576072" indent="-576072">
              <a:lnSpc>
                <a:spcPct val="100000"/>
              </a:lnSpc>
              <a:spcAft>
                <a:spcPts val="900"/>
              </a:spcAft>
              <a:buClrTx/>
              <a:buSzPct val="110000"/>
              <a:defRPr sz="4000" baseline="0"/>
            </a:lvl1pPr>
            <a:lvl2pPr marL="1060704" indent="-457200">
              <a:lnSpc>
                <a:spcPct val="100000"/>
              </a:lnSpc>
              <a:spcAft>
                <a:spcPts val="900"/>
              </a:spcAft>
              <a:buClrTx/>
              <a:buSzPct val="110000"/>
              <a:buFont typeface="Arial" panose="020B0604020202020204" pitchFamily="34" charset="0"/>
              <a:buChar char="−"/>
              <a:defRPr sz="3200" baseline="0"/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4698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Business units I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3031998" y="4881830"/>
            <a:ext cx="3392424" cy="676656"/>
          </a:xfrm>
        </p:spPr>
        <p:txBody>
          <a:bodyPr/>
          <a:lstStyle>
            <a:lvl1pPr marL="0" indent="0">
              <a:buFontTx/>
              <a:buNone/>
              <a:defRPr sz="4800" b="1" i="0" baseline="0">
                <a:solidFill>
                  <a:schemeClr val="accent1"/>
                </a:solidFill>
                <a:latin typeface="Titillium Web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8574" y="5612283"/>
            <a:ext cx="3959352" cy="18836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Tx/>
              <a:buNone/>
              <a:defRPr sz="2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570142" y="3648297"/>
            <a:ext cx="4206240" cy="1452989"/>
          </a:xfrm>
        </p:spPr>
        <p:txBody>
          <a:bodyPr anchor="ctr" anchorCtr="0"/>
          <a:lstStyle>
            <a:lvl1pPr marL="0" indent="0">
              <a:buNone/>
              <a:defRPr sz="10700" b="1" i="0" spc="-600" baseline="0">
                <a:latin typeface="Titillium Web" panose="00000500000000000000" pitchFamily="2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6648" y="2834640"/>
            <a:ext cx="13331952" cy="5486400"/>
          </a:xfrm>
        </p:spPr>
        <p:txBody>
          <a:bodyPr/>
          <a:lstStyle>
            <a:lvl1pPr marL="576072" indent="-576072">
              <a:lnSpc>
                <a:spcPct val="100000"/>
              </a:lnSpc>
              <a:spcAft>
                <a:spcPts val="900"/>
              </a:spcAft>
              <a:buClrTx/>
              <a:buSzPct val="110000"/>
              <a:defRPr sz="4000" baseline="0"/>
            </a:lvl1pPr>
            <a:lvl2pPr marL="1060704" indent="-457200">
              <a:lnSpc>
                <a:spcPct val="100000"/>
              </a:lnSpc>
              <a:spcAft>
                <a:spcPts val="900"/>
              </a:spcAft>
              <a:buClrTx/>
              <a:buSzPct val="110000"/>
              <a:buFont typeface="Arial" panose="020B0604020202020204" pitchFamily="34" charset="0"/>
              <a:buChar char="−"/>
              <a:defRPr sz="3200" baseline="0"/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5749253" y="4206237"/>
            <a:ext cx="1265090" cy="4940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900"/>
              </a:spcAft>
              <a:buClrTx/>
              <a:buSzPct val="110000"/>
              <a:buFontTx/>
              <a:buNone/>
              <a:defRPr sz="2900" baseline="0">
                <a:latin typeface="Titillium WebSemiBold" panose="00000700000000000000" pitchFamily="2" charset="0"/>
              </a:defRPr>
            </a:lvl1pPr>
            <a:lvl2pPr marL="1060704" indent="-457200">
              <a:lnSpc>
                <a:spcPct val="100000"/>
              </a:lnSpc>
              <a:spcAft>
                <a:spcPts val="900"/>
              </a:spcAft>
              <a:buClrTx/>
              <a:buSzPct val="110000"/>
              <a:buFont typeface="Arial" panose="020B0604020202020204" pitchFamily="34" charset="0"/>
              <a:buChar char="•"/>
              <a:defRPr sz="3200" baseline="0"/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1655064" y="2834640"/>
            <a:ext cx="4207576" cy="7699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900"/>
              </a:spcAft>
              <a:buClrTx/>
              <a:buSzPct val="110000"/>
              <a:buFontTx/>
              <a:buNone/>
              <a:defRPr sz="4000" baseline="0">
                <a:latin typeface="Titillium WebLight" panose="00000400000000000000" pitchFamily="2" charset="0"/>
              </a:defRPr>
            </a:lvl1pPr>
            <a:lvl2pPr marL="1060704" indent="-457200">
              <a:lnSpc>
                <a:spcPct val="100000"/>
              </a:lnSpc>
              <a:spcAft>
                <a:spcPts val="900"/>
              </a:spcAft>
              <a:buClrTx/>
              <a:buSzPct val="110000"/>
              <a:buFont typeface="Arial" panose="020B0604020202020204" pitchFamily="34" charset="0"/>
              <a:buChar char="•"/>
              <a:defRPr sz="3200" baseline="0"/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63936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EEEEE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483" y="3405288"/>
            <a:ext cx="16139126" cy="8009789"/>
          </a:xfrm>
          <a:prstGeom prst="rect">
            <a:avLst/>
          </a:prstGeom>
        </p:spPr>
      </p:pic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6" name="Round Single Corner Rectangle 5"/>
          <p:cNvSpPr/>
          <p:nvPr userDrawn="1"/>
        </p:nvSpPr>
        <p:spPr>
          <a:xfrm rot="5400000">
            <a:off x="10230083" y="472440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9" name="Round Single Corner Rectangle 8"/>
          <p:cNvSpPr/>
          <p:nvPr userDrawn="1"/>
        </p:nvSpPr>
        <p:spPr>
          <a:xfrm rot="5400000">
            <a:off x="13021910" y="472440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0" name="Round Single Corner Rectangle 9"/>
          <p:cNvSpPr/>
          <p:nvPr userDrawn="1"/>
        </p:nvSpPr>
        <p:spPr>
          <a:xfrm rot="5400000">
            <a:off x="15813737" y="472440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1" name="Round Single Corner Rectangle 10"/>
          <p:cNvSpPr/>
          <p:nvPr userDrawn="1"/>
        </p:nvSpPr>
        <p:spPr>
          <a:xfrm rot="5400000">
            <a:off x="18605564" y="472440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2" name="Round Single Corner Rectangle 11"/>
          <p:cNvSpPr/>
          <p:nvPr userDrawn="1"/>
        </p:nvSpPr>
        <p:spPr>
          <a:xfrm rot="5400000">
            <a:off x="21397391" y="472440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3" name="Round Single Corner Rectangle 12"/>
          <p:cNvSpPr/>
          <p:nvPr userDrawn="1"/>
        </p:nvSpPr>
        <p:spPr>
          <a:xfrm rot="5400000">
            <a:off x="10230083" y="10070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4" name="Round Single Corner Rectangle 13"/>
          <p:cNvSpPr/>
          <p:nvPr userDrawn="1"/>
        </p:nvSpPr>
        <p:spPr>
          <a:xfrm rot="5400000">
            <a:off x="13021910" y="10070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5" name="Round Single Corner Rectangle 14"/>
          <p:cNvSpPr/>
          <p:nvPr userDrawn="1"/>
        </p:nvSpPr>
        <p:spPr>
          <a:xfrm rot="5400000">
            <a:off x="15813737" y="10070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6" name="Round Single Corner Rectangle 15"/>
          <p:cNvSpPr/>
          <p:nvPr userDrawn="1"/>
        </p:nvSpPr>
        <p:spPr>
          <a:xfrm rot="5400000">
            <a:off x="18605564" y="10070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7" name="Round Single Corner Rectangle 16"/>
          <p:cNvSpPr/>
          <p:nvPr userDrawn="1"/>
        </p:nvSpPr>
        <p:spPr>
          <a:xfrm rot="5400000">
            <a:off x="21397391" y="10070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8" name="Round Single Corner Rectangle 17"/>
          <p:cNvSpPr/>
          <p:nvPr userDrawn="1"/>
        </p:nvSpPr>
        <p:spPr>
          <a:xfrm rot="5400000">
            <a:off x="10230083" y="7717746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19" name="Round Single Corner Rectangle 18"/>
          <p:cNvSpPr/>
          <p:nvPr userDrawn="1"/>
        </p:nvSpPr>
        <p:spPr>
          <a:xfrm rot="5400000">
            <a:off x="13021910" y="7717746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0" name="Round Single Corner Rectangle 19"/>
          <p:cNvSpPr/>
          <p:nvPr userDrawn="1"/>
        </p:nvSpPr>
        <p:spPr>
          <a:xfrm rot="5400000">
            <a:off x="15813737" y="7717746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1" name="Round Single Corner Rectangle 20"/>
          <p:cNvSpPr/>
          <p:nvPr userDrawn="1"/>
        </p:nvSpPr>
        <p:spPr>
          <a:xfrm rot="5400000">
            <a:off x="18605564" y="7717746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2" name="Round Single Corner Rectangle 21"/>
          <p:cNvSpPr/>
          <p:nvPr userDrawn="1"/>
        </p:nvSpPr>
        <p:spPr>
          <a:xfrm rot="5400000">
            <a:off x="21397391" y="7717746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3" name="Round Single Corner Rectangle 22"/>
          <p:cNvSpPr/>
          <p:nvPr userDrawn="1"/>
        </p:nvSpPr>
        <p:spPr>
          <a:xfrm rot="5400000">
            <a:off x="10230083" y="5272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4" name="Round Single Corner Rectangle 23"/>
          <p:cNvSpPr/>
          <p:nvPr userDrawn="1"/>
        </p:nvSpPr>
        <p:spPr>
          <a:xfrm rot="5400000">
            <a:off x="13021910" y="5272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5" name="Round Single Corner Rectangle 24"/>
          <p:cNvSpPr/>
          <p:nvPr userDrawn="1"/>
        </p:nvSpPr>
        <p:spPr>
          <a:xfrm rot="5400000">
            <a:off x="15813737" y="5272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6" name="Round Single Corner Rectangle 25"/>
          <p:cNvSpPr/>
          <p:nvPr userDrawn="1"/>
        </p:nvSpPr>
        <p:spPr>
          <a:xfrm rot="5400000">
            <a:off x="18605564" y="5272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7" name="Round Single Corner Rectangle 26"/>
          <p:cNvSpPr/>
          <p:nvPr userDrawn="1"/>
        </p:nvSpPr>
        <p:spPr>
          <a:xfrm rot="5400000">
            <a:off x="21397391" y="5272033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8" name="Round Single Corner Rectangle 27"/>
          <p:cNvSpPr/>
          <p:nvPr userDrawn="1"/>
        </p:nvSpPr>
        <p:spPr>
          <a:xfrm rot="5400000">
            <a:off x="10230083" y="2857258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9" name="Round Single Corner Rectangle 28"/>
          <p:cNvSpPr/>
          <p:nvPr userDrawn="1"/>
        </p:nvSpPr>
        <p:spPr>
          <a:xfrm rot="5400000">
            <a:off x="13021910" y="2857258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30" name="Round Single Corner Rectangle 29"/>
          <p:cNvSpPr/>
          <p:nvPr userDrawn="1"/>
        </p:nvSpPr>
        <p:spPr>
          <a:xfrm rot="5400000">
            <a:off x="15813737" y="2857258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31" name="Round Single Corner Rectangle 30"/>
          <p:cNvSpPr/>
          <p:nvPr userDrawn="1"/>
        </p:nvSpPr>
        <p:spPr>
          <a:xfrm rot="5400000">
            <a:off x="18605564" y="2857258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32" name="Round Single Corner Rectangle 31"/>
          <p:cNvSpPr/>
          <p:nvPr userDrawn="1"/>
        </p:nvSpPr>
        <p:spPr>
          <a:xfrm rot="5400000">
            <a:off x="21397391" y="2857258"/>
            <a:ext cx="2011680" cy="2286000"/>
          </a:xfrm>
          <a:prstGeom prst="round1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E4E4E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9725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155945" y="2184400"/>
            <a:ext cx="6300020" cy="9144000"/>
          </a:xfrm>
          <a:prstGeom prst="rect">
            <a:avLst/>
          </a:prstGeom>
          <a:noFill/>
          <a:ln w="6350" cmpd="sng">
            <a:solidFill>
              <a:srgbClr val="A0ACAF"/>
            </a:solidFill>
          </a:ln>
        </p:spPr>
        <p:txBody>
          <a:bodyPr rot="0" spcFirstLastPara="0" vertOverflow="overflow" horzOverflow="overflow" vert="horz" wrap="none" lIns="243852" tIns="121926" rIns="243852" bIns="121926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4300" err="1"/>
          </a:p>
        </p:txBody>
      </p:sp>
      <p:sp>
        <p:nvSpPr>
          <p:cNvPr id="10" name="Rectangle 9"/>
          <p:cNvSpPr/>
          <p:nvPr userDrawn="1"/>
        </p:nvSpPr>
        <p:spPr>
          <a:xfrm>
            <a:off x="16014277" y="2184400"/>
            <a:ext cx="6300020" cy="9144000"/>
          </a:xfrm>
          <a:prstGeom prst="rect">
            <a:avLst/>
          </a:prstGeom>
          <a:noFill/>
          <a:ln w="6350" cmpd="sng">
            <a:solidFill>
              <a:srgbClr val="A0ACAF"/>
            </a:solidFill>
          </a:ln>
        </p:spPr>
        <p:txBody>
          <a:bodyPr rot="0" spcFirstLastPara="0" vertOverflow="overflow" horzOverflow="overflow" vert="horz" wrap="none" lIns="243852" tIns="121926" rIns="243852" bIns="121926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4300" err="1"/>
          </a:p>
        </p:txBody>
      </p:sp>
      <p:sp>
        <p:nvSpPr>
          <p:cNvPr id="11" name="Rectangle 10"/>
          <p:cNvSpPr/>
          <p:nvPr userDrawn="1"/>
        </p:nvSpPr>
        <p:spPr>
          <a:xfrm>
            <a:off x="9104577" y="2184400"/>
            <a:ext cx="6300020" cy="9144000"/>
          </a:xfrm>
          <a:prstGeom prst="rect">
            <a:avLst/>
          </a:prstGeom>
          <a:noFill/>
          <a:ln w="6350" cmpd="sng">
            <a:solidFill>
              <a:srgbClr val="A0ACAF"/>
            </a:solidFill>
          </a:ln>
        </p:spPr>
        <p:txBody>
          <a:bodyPr rot="0" spcFirstLastPara="0" vertOverflow="overflow" horzOverflow="overflow" vert="horz" wrap="none" lIns="243852" tIns="121926" rIns="243852" bIns="121926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430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852738" y="3401568"/>
            <a:ext cx="5157787" cy="7425182"/>
          </a:xfrm>
        </p:spPr>
        <p:txBody>
          <a:bodyPr/>
          <a:lstStyle>
            <a:lvl1pPr marL="0" indent="0">
              <a:buFontTx/>
              <a:buNone/>
              <a:defRPr sz="3700" baseline="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3296507" y="2414396"/>
            <a:ext cx="4270248" cy="987171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Tx/>
              <a:buNone/>
              <a:defRPr sz="3700" baseline="0">
                <a:latin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hart Placeholder 3"/>
          <p:cNvSpPr>
            <a:spLocks noGrp="1"/>
          </p:cNvSpPr>
          <p:nvPr>
            <p:ph type="chart" sz="quarter" idx="12"/>
          </p:nvPr>
        </p:nvSpPr>
        <p:spPr>
          <a:xfrm>
            <a:off x="16605314" y="3401568"/>
            <a:ext cx="5157787" cy="7425182"/>
          </a:xfrm>
        </p:spPr>
        <p:txBody>
          <a:bodyPr/>
          <a:lstStyle>
            <a:lvl1pPr marL="0" indent="0">
              <a:buFontTx/>
              <a:buNone/>
              <a:defRPr sz="3700" baseline="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17049083" y="2414396"/>
            <a:ext cx="4270248" cy="987171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Tx/>
              <a:buNone/>
              <a:defRPr sz="3700" baseline="0">
                <a:latin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3"/>
          <p:cNvSpPr>
            <a:spLocks noGrp="1"/>
          </p:cNvSpPr>
          <p:nvPr>
            <p:ph type="chart" sz="quarter" idx="14"/>
          </p:nvPr>
        </p:nvSpPr>
        <p:spPr>
          <a:xfrm>
            <a:off x="9706065" y="3401567"/>
            <a:ext cx="5157787" cy="7425182"/>
          </a:xfrm>
        </p:spPr>
        <p:txBody>
          <a:bodyPr/>
          <a:lstStyle>
            <a:lvl1pPr marL="0" indent="0">
              <a:buFontTx/>
              <a:buNone/>
              <a:defRPr sz="3700" baseline="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10149834" y="2414395"/>
            <a:ext cx="4270248" cy="987171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Tx/>
              <a:buNone/>
              <a:defRPr sz="3700" baseline="0">
                <a:latin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2999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3 BU customer wi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8727233" y="2743200"/>
            <a:ext cx="0" cy="9144000"/>
          </a:xfrm>
          <a:prstGeom prst="line">
            <a:avLst/>
          </a:prstGeom>
          <a:ln w="6350" cmpd="sng">
            <a:solidFill>
              <a:srgbClr val="99B1B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6042433" y="2667000"/>
            <a:ext cx="0" cy="9144000"/>
          </a:xfrm>
          <a:prstGeom prst="line">
            <a:avLst/>
          </a:prstGeom>
          <a:ln w="6350" cmpd="sng">
            <a:solidFill>
              <a:srgbClr val="99B1B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2176272" y="7772400"/>
            <a:ext cx="6099048" cy="40386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6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9491472" y="7772400"/>
            <a:ext cx="6099048" cy="403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6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2"/>
          </p:nvPr>
        </p:nvSpPr>
        <p:spPr>
          <a:xfrm>
            <a:off x="16806672" y="7772400"/>
            <a:ext cx="6099048" cy="403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6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3"/>
          </p:nvPr>
        </p:nvSpPr>
        <p:spPr>
          <a:xfrm>
            <a:off x="2176272" y="2743200"/>
            <a:ext cx="6099048" cy="65836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40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4"/>
          </p:nvPr>
        </p:nvSpPr>
        <p:spPr>
          <a:xfrm>
            <a:off x="9491472" y="2743200"/>
            <a:ext cx="6099048" cy="65836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40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5"/>
          </p:nvPr>
        </p:nvSpPr>
        <p:spPr>
          <a:xfrm>
            <a:off x="16808259" y="2743200"/>
            <a:ext cx="6099048" cy="7315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40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176272" y="4572000"/>
            <a:ext cx="5715000" cy="267004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527333" y="4572000"/>
            <a:ext cx="5715000" cy="267004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6842534" y="4572000"/>
            <a:ext cx="5715000" cy="267004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411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Application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8430768" y="2670048"/>
            <a:ext cx="0" cy="9144000"/>
          </a:xfrm>
          <a:prstGeom prst="line">
            <a:avLst/>
          </a:prstGeom>
          <a:ln w="6350" cmpd="sng">
            <a:solidFill>
              <a:srgbClr val="99B1B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6005857" y="2667000"/>
            <a:ext cx="0" cy="9144000"/>
          </a:xfrm>
          <a:prstGeom prst="line">
            <a:avLst/>
          </a:prstGeom>
          <a:ln w="6350" cmpd="sng">
            <a:solidFill>
              <a:srgbClr val="99B1B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559053" y="5760720"/>
            <a:ext cx="6099048" cy="64008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2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bold heading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4" hasCustomPrompt="1"/>
          </p:nvPr>
        </p:nvSpPr>
        <p:spPr>
          <a:xfrm>
            <a:off x="9134856" y="5760720"/>
            <a:ext cx="6099048" cy="64008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2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bold heading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16741949" y="5760720"/>
            <a:ext cx="6099048" cy="64008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2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bold heading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575412" y="2670682"/>
            <a:ext cx="6135624" cy="2670048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6705373" y="2670682"/>
            <a:ext cx="6135624" cy="2670048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098280" y="2670682"/>
            <a:ext cx="6135624" cy="2670048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559053" y="6400800"/>
            <a:ext cx="6099048" cy="223113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FontTx/>
              <a:buNone/>
              <a:defRPr sz="3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9098280" y="6400800"/>
            <a:ext cx="6099048" cy="223113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FontTx/>
              <a:buNone/>
              <a:defRPr sz="3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16705373" y="6400800"/>
            <a:ext cx="6099048" cy="223113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FontTx/>
              <a:buNone/>
              <a:defRPr sz="3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4585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Applications x3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8125243" y="2670682"/>
            <a:ext cx="0" cy="9144000"/>
          </a:xfrm>
          <a:prstGeom prst="line">
            <a:avLst/>
          </a:prstGeom>
          <a:ln w="6350" cmpd="sng">
            <a:solidFill>
              <a:srgbClr val="99B1B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6283951" y="2670682"/>
            <a:ext cx="0" cy="9144000"/>
          </a:xfrm>
          <a:prstGeom prst="line">
            <a:avLst/>
          </a:prstGeom>
          <a:ln w="6350" cmpd="sng">
            <a:solidFill>
              <a:srgbClr val="99B1B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011128" y="5779008"/>
            <a:ext cx="6099048" cy="64008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2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bold heading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4" hasCustomPrompt="1"/>
          </p:nvPr>
        </p:nvSpPr>
        <p:spPr>
          <a:xfrm>
            <a:off x="9198864" y="5779008"/>
            <a:ext cx="6099048" cy="64008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2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bold heading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17299019" y="5779008"/>
            <a:ext cx="6099048" cy="64008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2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bold heading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0" y="2670682"/>
            <a:ext cx="8046720" cy="2670048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6349472" y="2670682"/>
            <a:ext cx="8046720" cy="2670048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74736" y="2670682"/>
            <a:ext cx="8046720" cy="2670048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011128" y="6419088"/>
            <a:ext cx="6099048" cy="223113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FontTx/>
              <a:buNone/>
              <a:defRPr sz="3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9162288" y="6419088"/>
            <a:ext cx="6099048" cy="223113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FontTx/>
              <a:buNone/>
              <a:defRPr sz="3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17262443" y="6419088"/>
            <a:ext cx="6099048" cy="223113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FontTx/>
              <a:buNone/>
              <a:defRPr sz="3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4224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Large chart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1527048" y="2396359"/>
            <a:ext cx="22384512" cy="794582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7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2227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Large chart/diagram w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1527048" y="2122636"/>
            <a:ext cx="22384512" cy="85133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7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1513490" y="3596746"/>
            <a:ext cx="22398070" cy="822739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7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6147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 Case study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39448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298448"/>
            <a:ext cx="10049256" cy="14752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8448" y="3383280"/>
            <a:ext cx="10049256" cy="9116568"/>
          </a:xfrm>
        </p:spPr>
        <p:txBody>
          <a:bodyPr/>
          <a:lstStyle>
            <a:lvl1pPr inden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  <a:defRPr sz="5300" baseline="0">
                <a:solidFill>
                  <a:schemeClr val="tx1"/>
                </a:solidFill>
              </a:defRPr>
            </a:lvl1pPr>
            <a:lvl2pPr marL="603504" indent="-457200">
              <a:spcAft>
                <a:spcPts val="2400"/>
              </a:spcAft>
              <a:defRPr sz="4000" baseline="0">
                <a:solidFill>
                  <a:schemeClr val="tx1"/>
                </a:solidFill>
              </a:defRPr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20749033" y="12750802"/>
            <a:ext cx="2821015" cy="531757"/>
            <a:chOff x="20749033" y="12750802"/>
            <a:chExt cx="2821015" cy="531757"/>
          </a:xfrm>
        </p:grpSpPr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</p:grp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12139448" y="0"/>
            <a:ext cx="12247727" cy="137160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12893040" y="12009120"/>
            <a:ext cx="2895600" cy="127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4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Custom quote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2139613" y="0"/>
            <a:ext cx="12247562" cy="137160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39448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1572768"/>
            <a:ext cx="10177272" cy="8485632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27048" y="10515600"/>
            <a:ext cx="9509760" cy="1127760"/>
          </a:xfrm>
        </p:spPr>
        <p:txBody>
          <a:bodyPr/>
          <a:lstStyle>
            <a:lvl1pPr indent="0">
              <a:lnSpc>
                <a:spcPct val="100000"/>
              </a:lnSpc>
              <a:spcAft>
                <a:spcPts val="0"/>
              </a:spcAft>
              <a:buNone/>
              <a:defRPr sz="4800" baseline="0">
                <a:solidFill>
                  <a:schemeClr val="tx1"/>
                </a:solidFill>
              </a:defRPr>
            </a:lvl1pPr>
            <a:lvl2pPr marL="603504" indent="-457200">
              <a:spcAft>
                <a:spcPts val="2400"/>
              </a:spcAft>
              <a:defRPr sz="4000" baseline="0">
                <a:solidFill>
                  <a:schemeClr val="bg1"/>
                </a:solidFill>
              </a:defRPr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customer name,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81" y="1572768"/>
            <a:ext cx="495413" cy="34297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0749033" y="12750802"/>
            <a:ext cx="2821015" cy="531757"/>
            <a:chOff x="20749033" y="12750802"/>
            <a:chExt cx="2821015" cy="531757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 userDrawn="1"/>
        </p:nvSpPr>
        <p:spPr>
          <a:xfrm>
            <a:off x="12893040" y="12009120"/>
            <a:ext cx="2895600" cy="127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49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Custom quot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42788" cy="137160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12143232" y="0"/>
            <a:ext cx="12243943" cy="1371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4832" y="1572768"/>
            <a:ext cx="9509760" cy="8485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13514832" y="10515600"/>
            <a:ext cx="9509760" cy="1127760"/>
          </a:xfrm>
        </p:spPr>
        <p:txBody>
          <a:bodyPr/>
          <a:lstStyle>
            <a:lvl1pPr indent="0">
              <a:lnSpc>
                <a:spcPct val="100000"/>
              </a:lnSpc>
              <a:spcAft>
                <a:spcPts val="0"/>
              </a:spcAft>
              <a:buNone/>
              <a:defRPr sz="4800" baseline="0">
                <a:solidFill>
                  <a:schemeClr val="tx1"/>
                </a:solidFill>
              </a:defRPr>
            </a:lvl1pPr>
            <a:lvl2pPr marL="603504" indent="-457200">
              <a:spcAft>
                <a:spcPts val="2400"/>
              </a:spcAft>
              <a:defRPr sz="4000" baseline="0">
                <a:solidFill>
                  <a:schemeClr val="bg1"/>
                </a:solidFill>
              </a:defRPr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 dirty="0"/>
              <a:t>Click to edit customer name,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883" y="1572768"/>
            <a:ext cx="495413" cy="34297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0749033" y="12750802"/>
            <a:ext cx="2821015" cy="531757"/>
            <a:chOff x="20749033" y="12750802"/>
            <a:chExt cx="2821015" cy="531757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1366059" y="12009120"/>
            <a:ext cx="2895600" cy="127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45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 Case study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42788" cy="13716000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2143232" y="0"/>
            <a:ext cx="12243943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0247" y="1298448"/>
            <a:ext cx="9509760" cy="1261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10247" y="3383280"/>
            <a:ext cx="9509760" cy="8869680"/>
          </a:xfrm>
        </p:spPr>
        <p:txBody>
          <a:bodyPr/>
          <a:lstStyle>
            <a:lvl1pPr indent="0">
              <a:lnSpc>
                <a:spcPct val="100000"/>
              </a:lnSpc>
              <a:spcAft>
                <a:spcPts val="3600"/>
              </a:spcAft>
              <a:buNone/>
              <a:defRPr sz="5300" baseline="0">
                <a:solidFill>
                  <a:schemeClr val="bg1"/>
                </a:solidFill>
              </a:defRPr>
            </a:lvl1pPr>
            <a:lvl2pPr marL="603504" indent="-457200">
              <a:spcAft>
                <a:spcPts val="2400"/>
              </a:spcAft>
              <a:defRPr sz="4000" baseline="0">
                <a:solidFill>
                  <a:schemeClr val="bg1"/>
                </a:solidFill>
              </a:defRPr>
            </a:lvl2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20749033" y="12750802"/>
            <a:ext cx="2821015" cy="531757"/>
            <a:chOff x="20749033" y="12750802"/>
            <a:chExt cx="2821015" cy="531757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728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Case study x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2097512" y="0"/>
            <a:ext cx="12243943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2359152"/>
            <a:ext cx="12106656" cy="5065776"/>
          </a:xfrm>
        </p:spPr>
        <p:txBody>
          <a:bodyPr/>
          <a:lstStyle>
            <a:lvl1pPr marL="0" indent="0">
              <a:buFontTx/>
              <a:buNone/>
              <a:defRPr sz="57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20749033" y="12750802"/>
            <a:ext cx="2821015" cy="531757"/>
            <a:chOff x="20749033" y="12750802"/>
            <a:chExt cx="2821015" cy="531757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860550" y="9656350"/>
            <a:ext cx="9843770" cy="2669762"/>
          </a:xfrm>
        </p:spPr>
        <p:txBody>
          <a:bodyPr/>
          <a:lstStyle>
            <a:lvl1pPr marL="0" indent="0">
              <a:buFontTx/>
              <a:buNone/>
              <a:defRPr sz="43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362090" y="417559"/>
            <a:ext cx="4904853" cy="6617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3700" b="0" i="0" cap="all" baseline="0">
                <a:solidFill>
                  <a:schemeClr val="tx1"/>
                </a:solidFill>
                <a:latin typeface="Titillium Web" panose="00000500000000000000" pitchFamily="2" charset="0"/>
              </a:rPr>
              <a:t>Case study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2828029" y="417559"/>
            <a:ext cx="4904853" cy="6617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3700" b="0" i="0" cap="all" baseline="0">
                <a:solidFill>
                  <a:schemeClr val="bg1"/>
                </a:solidFill>
                <a:latin typeface="Titillium Web" panose="00000500000000000000" pitchFamily="2" charset="0"/>
              </a:rPr>
              <a:t>Case study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2097512" y="2359152"/>
            <a:ext cx="12243816" cy="5065776"/>
          </a:xfrm>
        </p:spPr>
        <p:txBody>
          <a:bodyPr/>
          <a:lstStyle>
            <a:lvl1pPr marL="0" indent="0">
              <a:buFontTx/>
              <a:buNone/>
              <a:defRPr sz="5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861707" y="7900702"/>
            <a:ext cx="9842613" cy="1645634"/>
          </a:xfrm>
        </p:spPr>
        <p:txBody>
          <a:bodyPr/>
          <a:lstStyle>
            <a:lvl1pPr marL="0" indent="0">
              <a:buFontTx/>
              <a:buNone/>
              <a:defRPr sz="5700" b="0" i="0" baseline="0">
                <a:solidFill>
                  <a:schemeClr val="tx1"/>
                </a:solidFill>
                <a:latin typeface="Titillium Web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12826873" y="9656350"/>
            <a:ext cx="9843770" cy="2669762"/>
          </a:xfrm>
        </p:spPr>
        <p:txBody>
          <a:bodyPr/>
          <a:lstStyle>
            <a:lvl1pPr marL="0" indent="0">
              <a:buFontTx/>
              <a:buNone/>
              <a:defRPr sz="430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12828030" y="7900702"/>
            <a:ext cx="9842613" cy="1645634"/>
          </a:xfrm>
        </p:spPr>
        <p:txBody>
          <a:bodyPr/>
          <a:lstStyle>
            <a:lvl1pPr marL="0" indent="0">
              <a:buFontTx/>
              <a:buNone/>
              <a:defRPr sz="5700" b="0" i="0" baseline="0">
                <a:solidFill>
                  <a:schemeClr val="bg1"/>
                </a:solidFill>
                <a:latin typeface="Titillium Web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076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Case study x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16248888" y="8193024"/>
            <a:ext cx="8129016" cy="5522975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0" y="8193024"/>
            <a:ext cx="8129016" cy="5522975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8129016" y="8193024"/>
            <a:ext cx="8129016" cy="5522975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2331863"/>
            <a:ext cx="8119872" cy="4553712"/>
          </a:xfrm>
        </p:spPr>
        <p:txBody>
          <a:bodyPr/>
          <a:lstStyle>
            <a:lvl1pPr marL="0" indent="0">
              <a:buFontTx/>
              <a:buNone/>
              <a:defRPr sz="57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20749033" y="12750802"/>
            <a:ext cx="2821015" cy="531757"/>
            <a:chOff x="20749033" y="12750802"/>
            <a:chExt cx="2821015" cy="531757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033" y="12750802"/>
              <a:ext cx="2821015" cy="531757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35911" y="9611345"/>
            <a:ext cx="7191354" cy="2286000"/>
          </a:xfrm>
        </p:spPr>
        <p:txBody>
          <a:bodyPr/>
          <a:lstStyle>
            <a:lvl1pPr marL="0" indent="0">
              <a:buFontTx/>
              <a:buNone/>
              <a:defRPr sz="43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8129016" y="2331863"/>
            <a:ext cx="8129016" cy="4553712"/>
          </a:xfrm>
        </p:spPr>
        <p:txBody>
          <a:bodyPr/>
          <a:lstStyle>
            <a:lvl1pPr marL="0" indent="0">
              <a:buFontTx/>
              <a:buNone/>
              <a:defRPr sz="57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635911" y="8559356"/>
            <a:ext cx="7191354" cy="860966"/>
          </a:xfrm>
        </p:spPr>
        <p:txBody>
          <a:bodyPr/>
          <a:lstStyle>
            <a:lvl1pPr marL="0" indent="0">
              <a:buFontTx/>
              <a:buNone/>
              <a:defRPr sz="4800" b="0" i="0" baseline="0">
                <a:solidFill>
                  <a:schemeClr val="tx1"/>
                </a:solidFill>
                <a:latin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510905" y="9546622"/>
            <a:ext cx="7399655" cy="2286000"/>
          </a:xfrm>
        </p:spPr>
        <p:txBody>
          <a:bodyPr/>
          <a:lstStyle>
            <a:lvl1pPr marL="0" indent="0">
              <a:buFontTx/>
              <a:buNone/>
              <a:defRPr sz="43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8548639" y="8559356"/>
            <a:ext cx="7288770" cy="859536"/>
          </a:xfrm>
        </p:spPr>
        <p:txBody>
          <a:bodyPr/>
          <a:lstStyle>
            <a:lvl1pPr marL="0" indent="0">
              <a:buFontTx/>
              <a:buNone/>
              <a:defRPr sz="4800" b="0" i="0" baseline="0">
                <a:solidFill>
                  <a:schemeClr val="tx1"/>
                </a:solidFill>
                <a:latin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16258032" y="2331863"/>
            <a:ext cx="8129016" cy="4553712"/>
          </a:xfrm>
        </p:spPr>
        <p:txBody>
          <a:bodyPr/>
          <a:lstStyle>
            <a:lvl1pPr marL="0" indent="0">
              <a:buFontTx/>
              <a:buNone/>
              <a:defRPr sz="57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6677655" y="8559356"/>
            <a:ext cx="7288770" cy="859536"/>
          </a:xfrm>
        </p:spPr>
        <p:txBody>
          <a:bodyPr/>
          <a:lstStyle>
            <a:lvl1pPr marL="0" indent="0">
              <a:buFontTx/>
              <a:buNone/>
              <a:defRPr sz="4800" b="0" i="0" baseline="0">
                <a:solidFill>
                  <a:schemeClr val="tx1"/>
                </a:solidFill>
                <a:latin typeface="Titillium Web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16566770" y="9546622"/>
            <a:ext cx="7399655" cy="2286000"/>
          </a:xfrm>
        </p:spPr>
        <p:txBody>
          <a:bodyPr/>
          <a:lstStyle>
            <a:lvl1pPr marL="0" indent="0">
              <a:buFontTx/>
              <a:buNone/>
              <a:defRPr sz="43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707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W C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5579"/>
            <a:ext cx="24387048" cy="59801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7818120" cy="32918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44784" y="731520"/>
            <a:ext cx="12728448" cy="3922776"/>
          </a:xfrm>
        </p:spPr>
        <p:txBody>
          <a:bodyPr/>
          <a:lstStyle>
            <a:lvl1pPr marL="457200" indent="-457200">
              <a:lnSpc>
                <a:spcPts val="5300"/>
              </a:lnSpc>
              <a:spcAft>
                <a:spcPts val="1600"/>
              </a:spcAft>
              <a:buClr>
                <a:schemeClr val="bg1"/>
              </a:buClr>
              <a:defRPr sz="480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pic>
        <p:nvPicPr>
          <p:cNvPr id="12" name="Picture 11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02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pic>
        <p:nvPicPr>
          <p:cNvPr id="4" name="Picture 3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94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Singl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pic>
        <p:nvPicPr>
          <p:cNvPr id="4" name="Picture 3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5" name="Chart Placeholder 4"/>
          <p:cNvSpPr>
            <a:spLocks noGrp="1"/>
          </p:cNvSpPr>
          <p:nvPr>
            <p:ph type="chart" sz="quarter" idx="10"/>
          </p:nvPr>
        </p:nvSpPr>
        <p:spPr>
          <a:xfrm>
            <a:off x="3906983" y="1572767"/>
            <a:ext cx="16822116" cy="1070235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6670948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8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1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1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</p:spTree>
    <p:extLst>
      <p:ext uri="{BB962C8B-B14F-4D97-AF65-F5344CB8AC3E}">
        <p14:creationId xmlns:p14="http://schemas.microsoft.com/office/powerpoint/2010/main" val="8635848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W -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1527048" y="731520"/>
            <a:ext cx="22384512" cy="12527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88639" rtl="0" eaLnBrk="1" latinLnBrk="0" hangingPunct="1">
              <a:lnSpc>
                <a:spcPts val="8000"/>
              </a:lnSpc>
              <a:spcBef>
                <a:spcPct val="0"/>
              </a:spcBef>
              <a:buNone/>
              <a:defRPr sz="7200" kern="1200" baseline="0">
                <a:solidFill>
                  <a:schemeClr val="tx1"/>
                </a:solidFill>
                <a:latin typeface="Titillium WebLight" panose="00000400000000000000" pitchFamily="2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1527048" y="2122636"/>
            <a:ext cx="22384512" cy="85133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700" baseline="0">
                <a:latin typeface="Titillium WebSemiBold" panose="00000700000000000000" pitchFamily="2" charset="0"/>
              </a:defRPr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513490" y="3596746"/>
            <a:ext cx="22398070" cy="822739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3700" baseline="0"/>
            </a:lvl1pPr>
            <a:lvl4pPr marL="2377440">
              <a:spcBef>
                <a:spcPts val="0"/>
              </a:spcBef>
              <a:spcAft>
                <a:spcPts val="3200"/>
              </a:spcAft>
              <a:buClr>
                <a:srgbClr val="E53B30"/>
              </a:buClr>
              <a:defRPr sz="4300" baseline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446496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Text without 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 bwMode="auto">
          <a:xfrm>
            <a:off x="1337358" y="342903"/>
            <a:ext cx="22465098" cy="171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defRPr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9"/>
          <p:cNvSpPr>
            <a:spLocks noGrp="1"/>
          </p:cNvSpPr>
          <p:nvPr>
            <p:ph sz="quarter" idx="12"/>
          </p:nvPr>
        </p:nvSpPr>
        <p:spPr>
          <a:xfrm>
            <a:off x="1337358" y="2404534"/>
            <a:ext cx="22125467" cy="10219269"/>
          </a:xfrm>
        </p:spPr>
        <p:txBody>
          <a:bodyPr/>
          <a:lstStyle>
            <a:lvl1pPr marL="461440" indent="-461440">
              <a:spcAft>
                <a:spcPts val="2400"/>
              </a:spcAft>
              <a:defRPr sz="5333"/>
            </a:lvl1pPr>
            <a:lvl2pPr marL="1219215" indent="-609608">
              <a:spcAft>
                <a:spcPts val="2400"/>
              </a:spcAft>
              <a:buFontTx/>
              <a:buChar char="–"/>
              <a:defRPr sz="4800"/>
            </a:lvl2pPr>
            <a:lvl3pPr>
              <a:spcAft>
                <a:spcPts val="2400"/>
              </a:spcAft>
              <a:buFontTx/>
              <a:buChar char="–"/>
              <a:defRPr sz="4267"/>
            </a:lvl3pPr>
            <a:lvl4pPr>
              <a:spcAft>
                <a:spcPts val="2400"/>
              </a:spcAft>
              <a:buFontTx/>
              <a:buChar char="–"/>
              <a:defRPr/>
            </a:lvl4pPr>
            <a:lvl6pPr>
              <a:spcAft>
                <a:spcPts val="2400"/>
              </a:spcAft>
              <a:buFontTx/>
              <a:buChar char="–"/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62128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W - 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1172788" y="2535769"/>
            <a:ext cx="22092410" cy="95376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CA"/>
          </a:p>
        </p:txBody>
      </p:sp>
      <p:pic>
        <p:nvPicPr>
          <p:cNvPr id="5" name="Picture 4" descr="SierraLogo_R_horiz_RG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099" y="12750802"/>
            <a:ext cx="2860884" cy="531757"/>
          </a:xfrm>
          <a:prstGeom prst="rect">
            <a:avLst/>
          </a:prstGeom>
        </p:spPr>
      </p:pic>
      <p:sp>
        <p:nvSpPr>
          <p:cNvPr id="6" name="TextBox 3"/>
          <p:cNvSpPr txBox="1"/>
          <p:nvPr userDrawn="1"/>
        </p:nvSpPr>
        <p:spPr>
          <a:xfrm>
            <a:off x="0" y="12746736"/>
            <a:ext cx="978408" cy="539496"/>
          </a:xfrm>
          <a:prstGeom prst="rect">
            <a:avLst/>
          </a:prstGeom>
          <a:solidFill>
            <a:srgbClr val="E53B30"/>
          </a:solidFill>
        </p:spPr>
        <p:txBody>
          <a:bodyPr wrap="none" lIns="201168" tIns="0" rIns="0" bIns="9144" rtlCol="0" anchor="ctr" anchorCtr="0">
            <a:noAutofit/>
          </a:bodyPr>
          <a:lstStyle>
            <a:defPPr>
              <a:defRPr lang="en-US"/>
            </a:defPPr>
            <a:lvl1pPr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219261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2438522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3657783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4877044" algn="l" defTabSz="1219261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6305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7315566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8534827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9754088" algn="l" defTabSz="1219261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7D01023-7539-4AC7-A31D-6203E3A72819}" type="slidenum">
              <a:rPr lang="en-US" sz="2100" b="0" i="0" smtClean="0">
                <a:solidFill>
                  <a:schemeClr val="bg2"/>
                </a:solidFill>
                <a:latin typeface="Titillium WebLight" panose="00000400000000000000" pitchFamily="2" charset="0"/>
                <a:cs typeface="Titillium WebLight"/>
              </a:rPr>
              <a:pPr/>
              <a:t>‹#›</a:t>
            </a:fld>
            <a:endParaRPr lang="en-US" sz="2100" b="0" i="0">
              <a:solidFill>
                <a:schemeClr val="bg2"/>
              </a:solidFill>
              <a:latin typeface="Titillium WebLight" panose="00000400000000000000" pitchFamily="2" charset="0"/>
              <a:cs typeface="Titillium WebLight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27048" y="731520"/>
            <a:ext cx="22384512" cy="125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5828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7048" y="1572768"/>
            <a:ext cx="7818120" cy="60990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44784" y="4014216"/>
            <a:ext cx="12728448" cy="85404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126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0" r:id="rId5"/>
    <p:sldLayoutId id="2147483664" r:id="rId6"/>
    <p:sldLayoutId id="2147483655" r:id="rId7"/>
    <p:sldLayoutId id="2147483656" r:id="rId8"/>
    <p:sldLayoutId id="2147483666" r:id="rId9"/>
    <p:sldLayoutId id="2147483672" r:id="rId10"/>
    <p:sldLayoutId id="2147483670" r:id="rId11"/>
    <p:sldLayoutId id="2147483657" r:id="rId12"/>
    <p:sldLayoutId id="2147483658" r:id="rId13"/>
    <p:sldLayoutId id="2147483665" r:id="rId14"/>
    <p:sldLayoutId id="2147483675" r:id="rId15"/>
    <p:sldLayoutId id="2147483659" r:id="rId16"/>
    <p:sldLayoutId id="2147483660" r:id="rId17"/>
    <p:sldLayoutId id="2147483662" r:id="rId18"/>
    <p:sldLayoutId id="2147483668" r:id="rId19"/>
    <p:sldLayoutId id="2147483669" r:id="rId20"/>
    <p:sldLayoutId id="2147483667" r:id="rId21"/>
    <p:sldLayoutId id="2147483673" r:id="rId22"/>
    <p:sldLayoutId id="2147483674" r:id="rId23"/>
    <p:sldLayoutId id="2147483671" r:id="rId24"/>
    <p:sldLayoutId id="2147483663" r:id="rId25"/>
    <p:sldLayoutId id="2147483676" r:id="rId26"/>
    <p:sldLayoutId id="2147483661" r:id="rId27"/>
    <p:sldLayoutId id="2147483678" r:id="rId28"/>
    <p:sldLayoutId id="2147483682" r:id="rId29"/>
    <p:sldLayoutId id="2147483681" r:id="rId30"/>
  </p:sldLayoutIdLst>
  <p:txStyles>
    <p:titleStyle>
      <a:lvl1pPr algn="l" defTabSz="1088639" rtl="0" eaLnBrk="1" latinLnBrk="0" hangingPunct="1">
        <a:lnSpc>
          <a:spcPts val="8000"/>
        </a:lnSpc>
        <a:spcBef>
          <a:spcPct val="0"/>
        </a:spcBef>
        <a:buNone/>
        <a:defRPr sz="7200" kern="1200" baseline="0">
          <a:solidFill>
            <a:schemeClr val="tx1"/>
          </a:solidFill>
          <a:latin typeface="Titillium WebLight" panose="00000400000000000000" pitchFamily="2" charset="0"/>
          <a:ea typeface="+mj-ea"/>
          <a:cs typeface="+mj-cs"/>
        </a:defRPr>
      </a:lvl1pPr>
    </p:titleStyle>
    <p:bodyStyle>
      <a:lvl1pPr marL="0" indent="-548640" algn="l" defTabSz="1088639" rtl="0" eaLnBrk="1" latinLnBrk="0" hangingPunct="1">
        <a:lnSpc>
          <a:spcPts val="6000"/>
        </a:lnSpc>
        <a:spcBef>
          <a:spcPts val="0"/>
        </a:spcBef>
        <a:spcAft>
          <a:spcPts val="3200"/>
        </a:spcAft>
        <a:buClr>
          <a:srgbClr val="E53B30"/>
        </a:buClr>
        <a:buFont typeface="Arial"/>
        <a:buChar char="•"/>
        <a:defRPr sz="5900" kern="1200">
          <a:solidFill>
            <a:schemeClr val="tx1"/>
          </a:solidFill>
          <a:latin typeface="Titillium WebLight"/>
          <a:ea typeface="+mn-ea"/>
          <a:cs typeface="+mn-cs"/>
        </a:defRPr>
      </a:lvl1pPr>
      <a:lvl2pPr marL="1216152" indent="-548640" algn="l" defTabSz="1088639" rtl="0" eaLnBrk="1" latinLnBrk="0" hangingPunct="1">
        <a:lnSpc>
          <a:spcPts val="5000"/>
        </a:lnSpc>
        <a:spcBef>
          <a:spcPts val="0"/>
        </a:spcBef>
        <a:spcAft>
          <a:spcPts val="3200"/>
        </a:spcAft>
        <a:buClr>
          <a:srgbClr val="E53B30"/>
        </a:buClr>
        <a:buFont typeface="Arial"/>
        <a:buChar char="–"/>
        <a:defRPr sz="4800" kern="1200">
          <a:solidFill>
            <a:schemeClr val="tx1"/>
          </a:solidFill>
          <a:latin typeface="Titillium WebLight"/>
          <a:ea typeface="+mn-ea"/>
          <a:cs typeface="+mn-cs"/>
        </a:defRPr>
      </a:lvl2pPr>
      <a:lvl3pPr marL="1828800" indent="-544319" algn="l" defTabSz="1088639" rtl="0" eaLnBrk="1" latinLnBrk="0" hangingPunct="1">
        <a:spcBef>
          <a:spcPts val="0"/>
        </a:spcBef>
        <a:spcAft>
          <a:spcPts val="3200"/>
        </a:spcAft>
        <a:buClr>
          <a:srgbClr val="E53B30"/>
        </a:buClr>
        <a:buFont typeface="Arial"/>
        <a:buChar char="•"/>
        <a:defRPr sz="4300" kern="1200">
          <a:solidFill>
            <a:schemeClr val="tx1"/>
          </a:solidFill>
          <a:latin typeface="Titillium WebLight"/>
          <a:ea typeface="+mn-ea"/>
          <a:cs typeface="+mn-cs"/>
        </a:defRPr>
      </a:lvl3pPr>
      <a:lvl4pPr marL="3810236" indent="-544319" algn="l" defTabSz="1088639" rtl="0" eaLnBrk="1" latinLnBrk="0" hangingPunct="1">
        <a:spcBef>
          <a:spcPct val="20000"/>
        </a:spcBef>
        <a:buFont typeface="Arial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98875" indent="-544319" algn="l" defTabSz="1088639" rtl="0" eaLnBrk="1" latinLnBrk="0" hangingPunct="1">
        <a:spcBef>
          <a:spcPct val="20000"/>
        </a:spcBef>
        <a:buFont typeface="Arial"/>
        <a:buChar char="»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5987514" indent="-544319" algn="l" defTabSz="1088639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076153" indent="-544319" algn="l" defTabSz="1088639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164792" indent="-544319" algn="l" defTabSz="1088639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253431" indent="-544319" algn="l" defTabSz="1088639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1088639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2pPr>
      <a:lvl3pPr marL="2177278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3265917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4pPr>
      <a:lvl5pPr marL="4354556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5pPr>
      <a:lvl6pPr marL="5443195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6pPr>
      <a:lvl7pPr marL="6531834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7pPr>
      <a:lvl8pPr marL="7620472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8pPr>
      <a:lvl9pPr marL="8709111" algn="l" defTabSz="1088639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978407" y="2404872"/>
            <a:ext cx="22404107" cy="9482328"/>
          </a:xfrm>
        </p:spPr>
        <p:txBody>
          <a:bodyPr/>
          <a:lstStyle/>
          <a:p>
            <a:r>
              <a:rPr lang="en-US" b="1" dirty="0"/>
              <a:t>1-Click platform location worldwide: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36B8D00-DD9F-4BA3-85AD-6B5DE419C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727" y="3282054"/>
            <a:ext cx="13521966" cy="802907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7D19CAFA-9910-4DE9-89ED-6F7014D1A4C9}"/>
              </a:ext>
            </a:extLst>
          </p:cNvPr>
          <p:cNvSpPr/>
          <p:nvPr/>
        </p:nvSpPr>
        <p:spPr>
          <a:xfrm>
            <a:off x="15984086" y="3335655"/>
            <a:ext cx="7010400" cy="83157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USA (Carlsbad):</a:t>
            </a:r>
            <a:endParaRPr lang="en-GB" sz="3200" dirty="0"/>
          </a:p>
          <a:p>
            <a:pPr lvl="0"/>
            <a:r>
              <a:rPr lang="en-US" sz="3200" dirty="0"/>
              <a:t>	- AT&amp;T (live network).</a:t>
            </a:r>
            <a:endParaRPr lang="en-GB" sz="3200" dirty="0"/>
          </a:p>
          <a:p>
            <a:pPr lvl="0"/>
            <a:r>
              <a:rPr lang="en-US" sz="3200" dirty="0"/>
              <a:t>	- VERIZON (live network).</a:t>
            </a:r>
          </a:p>
          <a:p>
            <a:pPr lvl="0"/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Japan (Tokyo):</a:t>
            </a:r>
            <a:endParaRPr lang="en-GB" sz="3200" dirty="0"/>
          </a:p>
          <a:p>
            <a:pPr lvl="0"/>
            <a:r>
              <a:rPr lang="en-US" sz="3200" dirty="0"/>
              <a:t>	- KDDI (live network): Setup 	ongoing.</a:t>
            </a:r>
            <a:endParaRPr lang="en-GB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Australia (Melbourne).</a:t>
            </a:r>
            <a:endParaRPr lang="en-GB" sz="3200" dirty="0"/>
          </a:p>
          <a:p>
            <a:pPr lvl="0"/>
            <a:r>
              <a:rPr lang="en-US" sz="3200" dirty="0"/>
              <a:t>	- Telstra (live network).</a:t>
            </a:r>
            <a:endParaRPr lang="en-GB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France (ILM):</a:t>
            </a:r>
            <a:endParaRPr lang="en-GB" sz="3200" dirty="0"/>
          </a:p>
          <a:p>
            <a:pPr lvl="0"/>
            <a:r>
              <a:rPr lang="en-US" sz="3200" dirty="0"/>
              <a:t>	- Simulator (AmariSoft, CMW500)</a:t>
            </a:r>
            <a:endParaRPr lang="en-GB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Vietnam:</a:t>
            </a:r>
            <a:endParaRPr lang="en-GB" sz="3200" dirty="0"/>
          </a:p>
          <a:p>
            <a:pPr lvl="0"/>
            <a:r>
              <a:rPr lang="en-US" sz="3200" dirty="0"/>
              <a:t>	- Simulator (AmariSoft)</a:t>
            </a:r>
            <a:endParaRPr lang="en-GB" sz="3200" dirty="0"/>
          </a:p>
          <a:p>
            <a:pPr algn="ctr"/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7909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978407" y="2404872"/>
            <a:ext cx="22404107" cy="10177272"/>
          </a:xfrm>
        </p:spPr>
        <p:txBody>
          <a:bodyPr/>
          <a:lstStyle/>
          <a:p>
            <a:r>
              <a:rPr lang="en-US" b="1" dirty="0"/>
              <a:t>1-Click platform Setup: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C0A7586-8787-43F9-BD16-FBE03723D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670" y="3829050"/>
            <a:ext cx="18051744" cy="915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3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1-Click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978407" y="2404872"/>
            <a:ext cx="22404107" cy="10177272"/>
          </a:xfrm>
        </p:spPr>
        <p:txBody>
          <a:bodyPr/>
          <a:lstStyle/>
          <a:p>
            <a:r>
              <a:rPr lang="en-US" dirty="0">
                <a:latin typeface="Titillium WebLight" panose="00000400000000000000" pitchFamily="2" charset="0"/>
              </a:rPr>
              <a:t>Run Functional TCs for main feature in order to detect issues that can be reproduced only on customer environment (network).</a:t>
            </a:r>
          </a:p>
          <a:p>
            <a:r>
              <a:rPr lang="en-US" dirty="0">
                <a:latin typeface="Titillium WebLight" panose="00000400000000000000" pitchFamily="2" charset="0"/>
              </a:rPr>
              <a:t>Run Customer uses Cases</a:t>
            </a:r>
          </a:p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1-click TCs are run systematically for each FW version (non regression testing).</a:t>
            </a:r>
          </a:p>
          <a:p>
            <a:pPr marL="0" indent="0">
              <a:buNone/>
            </a:pPr>
            <a:endParaRPr lang="en-US" dirty="0">
              <a:latin typeface="Titillium WebLight" panose="00000400000000000000" pitchFamily="2" charset="0"/>
            </a:endParaRPr>
          </a:p>
          <a:p>
            <a:r>
              <a:rPr lang="fr-FR" dirty="0">
                <a:latin typeface="Titillium WebLight" panose="00000400000000000000" pitchFamily="2" charset="0"/>
              </a:rPr>
              <a:t>1-Click (ILM): Full </a:t>
            </a:r>
            <a:r>
              <a:rPr lang="fr-FR" dirty="0" err="1">
                <a:latin typeface="Titillium WebLight" panose="00000400000000000000" pitchFamily="2" charset="0"/>
              </a:rPr>
              <a:t>featues</a:t>
            </a:r>
            <a:r>
              <a:rPr lang="fr-FR" dirty="0">
                <a:latin typeface="Titillium WebLight" panose="00000400000000000000" pitchFamily="2" charset="0"/>
              </a:rPr>
              <a:t> are </a:t>
            </a:r>
            <a:r>
              <a:rPr lang="fr-FR" dirty="0" err="1">
                <a:latin typeface="Titillium WebLight" panose="00000400000000000000" pitchFamily="2" charset="0"/>
              </a:rPr>
              <a:t>tested</a:t>
            </a:r>
            <a:r>
              <a:rPr lang="fr-FR" dirty="0">
                <a:latin typeface="Titillium WebLight" panose="00000400000000000000" pitchFamily="2" charset="0"/>
              </a:rPr>
              <a:t> (all </a:t>
            </a:r>
            <a:r>
              <a:rPr lang="fr-FR" dirty="0" err="1">
                <a:latin typeface="Titillium WebLight" panose="00000400000000000000" pitchFamily="2" charset="0"/>
              </a:rPr>
              <a:t>TCs</a:t>
            </a:r>
            <a:r>
              <a:rPr lang="fr-FR" dirty="0">
                <a:latin typeface="Titillium WebLight" panose="00000400000000000000" pitchFamily="2" charset="0"/>
              </a:rPr>
              <a:t> </a:t>
            </a:r>
            <a:r>
              <a:rPr lang="fr-FR" dirty="0" err="1">
                <a:latin typeface="Titillium WebLight" panose="00000400000000000000" pitchFamily="2" charset="0"/>
              </a:rPr>
              <a:t>fully</a:t>
            </a:r>
            <a:r>
              <a:rPr lang="fr-FR" dirty="0">
                <a:latin typeface="Titillium WebLight" panose="00000400000000000000" pitchFamily="2" charset="0"/>
              </a:rPr>
              <a:t> </a:t>
            </a:r>
            <a:r>
              <a:rPr lang="fr-FR" dirty="0" err="1">
                <a:latin typeface="Titillium WebLight" panose="00000400000000000000" pitchFamily="2" charset="0"/>
              </a:rPr>
              <a:t>automated</a:t>
            </a:r>
            <a:r>
              <a:rPr lang="fr-FR" dirty="0">
                <a:latin typeface="Titillium WebLight" panose="00000400000000000000" pitchFamily="2" charset="0"/>
              </a:rPr>
              <a:t>).</a:t>
            </a:r>
          </a:p>
          <a:p>
            <a:r>
              <a:rPr lang="fr-FR" dirty="0">
                <a:latin typeface="Titillium WebLight" panose="00000400000000000000" pitchFamily="2" charset="0"/>
              </a:rPr>
              <a:t>1-Click (Worldwide): only main </a:t>
            </a:r>
            <a:r>
              <a:rPr lang="fr-FR" dirty="0" err="1">
                <a:latin typeface="Titillium WebLight" panose="00000400000000000000" pitchFamily="2" charset="0"/>
              </a:rPr>
              <a:t>featues</a:t>
            </a:r>
            <a:r>
              <a:rPr lang="fr-FR" dirty="0">
                <a:latin typeface="Titillium WebLight" panose="00000400000000000000" pitchFamily="2" charset="0"/>
              </a:rPr>
              <a:t> (network </a:t>
            </a:r>
            <a:r>
              <a:rPr lang="fr-FR" dirty="0" err="1">
                <a:latin typeface="Titillium WebLight" panose="00000400000000000000" pitchFamily="2" charset="0"/>
              </a:rPr>
              <a:t>related</a:t>
            </a:r>
            <a:r>
              <a:rPr lang="fr-FR" dirty="0">
                <a:latin typeface="Titillium WebLight" panose="00000400000000000000" pitchFamily="2" charset="0"/>
              </a:rPr>
              <a:t>) are </a:t>
            </a:r>
            <a:r>
              <a:rPr lang="fr-FR" dirty="0" err="1">
                <a:latin typeface="Titillium WebLight" panose="00000400000000000000" pitchFamily="2" charset="0"/>
              </a:rPr>
              <a:t>tested</a:t>
            </a:r>
            <a:r>
              <a:rPr lang="fr-FR" dirty="0">
                <a:latin typeface="Titillium WebLight" panose="00000400000000000000" pitchFamily="2" charset="0"/>
              </a:rPr>
              <a:t>.</a:t>
            </a:r>
          </a:p>
          <a:p>
            <a:endParaRPr lang="fr-FR" dirty="0">
              <a:latin typeface="Titillium WebLight" panose="00000400000000000000" pitchFamily="2" charset="0"/>
            </a:endParaRPr>
          </a:p>
          <a:p>
            <a:pPr marL="0" indent="0">
              <a:buNone/>
            </a:pPr>
            <a:endParaRPr lang="en-GB" dirty="0">
              <a:latin typeface="Titillium WebLight" panose="00000400000000000000" pitchFamily="2" charset="0"/>
            </a:endParaRPr>
          </a:p>
          <a:p>
            <a:endParaRPr lang="en-US" dirty="0">
              <a:latin typeface="Titillium WebLight" panose="00000400000000000000" pitchFamily="2" charset="0"/>
            </a:endParaRPr>
          </a:p>
          <a:p>
            <a:endParaRPr lang="en-US" dirty="0">
              <a:latin typeface="Titillium WebLight" panose="00000400000000000000" pitchFamily="2" charset="0"/>
            </a:endParaRPr>
          </a:p>
          <a:p>
            <a:endParaRPr lang="en-US" dirty="0">
              <a:latin typeface="Titillium Web" panose="00000500000000000000" pitchFamily="2" charset="0"/>
            </a:endParaRPr>
          </a:p>
          <a:p>
            <a:pPr marL="995362" lvl="1" indent="0">
              <a:buNone/>
            </a:pPr>
            <a:endParaRPr lang="en-US" sz="4900" dirty="0"/>
          </a:p>
          <a:p>
            <a:pPr marL="0" indent="0">
              <a:buNone/>
            </a:pPr>
            <a:endParaRPr lang="en-US" dirty="0">
              <a:latin typeface="Titillium WebLight" panose="00000400000000000000" pitchFamily="2" charset="0"/>
            </a:endParaRPr>
          </a:p>
          <a:p>
            <a:endParaRPr lang="en-US" dirty="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97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1D42D417-ACEF-48E1-B19B-F124CB79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0DD9C5C-4C51-451C-9C46-9B49ABC760FF}"/>
              </a:ext>
            </a:extLst>
          </p:cNvPr>
          <p:cNvSpPr txBox="1"/>
          <p:nvPr/>
        </p:nvSpPr>
        <p:spPr>
          <a:xfrm>
            <a:off x="16751029" y="9191709"/>
            <a:ext cx="431908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Only fully </a:t>
            </a:r>
            <a:r>
              <a:rPr lang="en-US" sz="3600" b="1" dirty="0"/>
              <a:t>automated</a:t>
            </a:r>
            <a:r>
              <a:rPr lang="en-US" sz="3200" b="1" dirty="0"/>
              <a:t> TCs are eligible to be integrated in 1-click Platform.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xmlns="" id="{8D4BE338-343A-46D5-8282-02C782984E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7961458"/>
              </p:ext>
            </p:extLst>
          </p:nvPr>
        </p:nvGraphicFramePr>
        <p:xfrm>
          <a:off x="9188185" y="874317"/>
          <a:ext cx="14569409" cy="598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548DA4-6F66-458A-A3A3-F97927D6B5C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78408" y="1984248"/>
            <a:ext cx="8082465" cy="1059789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GB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xmlns="" id="{00000000-0008-0000-09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6511285"/>
              </p:ext>
            </p:extLst>
          </p:nvPr>
        </p:nvGraphicFramePr>
        <p:xfrm>
          <a:off x="1360286" y="1993963"/>
          <a:ext cx="7351450" cy="4767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xmlns="" id="{00000000-0008-0000-0900-000008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5442545"/>
              </p:ext>
            </p:extLst>
          </p:nvPr>
        </p:nvGraphicFramePr>
        <p:xfrm>
          <a:off x="1360285" y="7665395"/>
          <a:ext cx="14398524" cy="5176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064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1-Click Worldwide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978407" y="2404872"/>
            <a:ext cx="22404107" cy="10177272"/>
          </a:xfrm>
        </p:spPr>
        <p:txBody>
          <a:bodyPr/>
          <a:lstStyle/>
          <a:p>
            <a:r>
              <a:rPr lang="en-US" dirty="0">
                <a:latin typeface="Titillium WebLight" panose="00000400000000000000" pitchFamily="2" charset="0"/>
              </a:rPr>
              <a:t>Main Features (network related) tested through 1-Click Platform:</a:t>
            </a:r>
          </a:p>
          <a:p>
            <a:pPr lvl="1"/>
            <a:r>
              <a:rPr lang="en-US" sz="4900" dirty="0"/>
              <a:t>Network registration (Soak and robustness tests)</a:t>
            </a:r>
          </a:p>
          <a:p>
            <a:pPr lvl="1"/>
            <a:r>
              <a:rPr lang="en-CA" sz="4900" dirty="0"/>
              <a:t>SMS (send/receive SMS in Text and PDU modes)</a:t>
            </a:r>
            <a:endParaRPr lang="en-GB" sz="4900" dirty="0"/>
          </a:p>
          <a:p>
            <a:pPr lvl="1"/>
            <a:r>
              <a:rPr lang="en-CA" sz="4900" dirty="0"/>
              <a:t>TCP (send/receive data)</a:t>
            </a:r>
            <a:endParaRPr lang="en-GB" sz="4900" dirty="0"/>
          </a:p>
          <a:p>
            <a:pPr lvl="1"/>
            <a:r>
              <a:rPr lang="en-CA" sz="4900" dirty="0"/>
              <a:t>UDP (send/receive data)</a:t>
            </a:r>
            <a:endParaRPr lang="en-GB" sz="4900" dirty="0"/>
          </a:p>
          <a:p>
            <a:pPr lvl="1"/>
            <a:r>
              <a:rPr lang="en-CA" sz="4900" dirty="0"/>
              <a:t>Some customer use cases (for example for KDDI)*.</a:t>
            </a:r>
            <a:endParaRPr lang="en-GB" sz="4900" dirty="0"/>
          </a:p>
          <a:p>
            <a:pPr lvl="1"/>
            <a:r>
              <a:rPr lang="en-CA" sz="4900" dirty="0"/>
              <a:t>PSM &amp; </a:t>
            </a:r>
            <a:r>
              <a:rPr lang="en-CA" sz="4900" dirty="0" err="1"/>
              <a:t>eDRX</a:t>
            </a:r>
            <a:r>
              <a:rPr lang="en-CA" sz="4900" dirty="0"/>
              <a:t>*.</a:t>
            </a:r>
            <a:endParaRPr lang="en-GB" sz="4900" dirty="0"/>
          </a:p>
          <a:p>
            <a:pPr lvl="1"/>
            <a:r>
              <a:rPr lang="en-CA" sz="4900" dirty="0"/>
              <a:t>AVMS (FW update)*.</a:t>
            </a:r>
          </a:p>
          <a:p>
            <a:pPr marL="995362" lvl="1" indent="0">
              <a:buNone/>
            </a:pP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*: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integrated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1-Click Platform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following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availability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HL7800.</a:t>
            </a:r>
          </a:p>
          <a:p>
            <a:pPr marL="995362" lvl="1" indent="0">
              <a:buNone/>
            </a:pP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featues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tested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only on 1-Click platform </a:t>
            </a:r>
            <a:r>
              <a:rPr lang="fr-FR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</a:t>
            </a:r>
            <a:r>
              <a:rPr lang="fr-FR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ILM .</a:t>
            </a:r>
            <a:endParaRPr lang="en-GB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4900" dirty="0"/>
          </a:p>
          <a:p>
            <a:pPr marL="0" indent="0">
              <a:buNone/>
            </a:pPr>
            <a:endParaRPr lang="en-US" dirty="0">
              <a:latin typeface="Titillium WebLight" panose="00000400000000000000" pitchFamily="2" charset="0"/>
            </a:endParaRPr>
          </a:p>
          <a:p>
            <a:endParaRPr lang="en-US" dirty="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83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TMA – Improvement (JIRA-1)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527047" y="2037806"/>
            <a:ext cx="22860128" cy="1131112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JIRA - Raising new item: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Description should be </a:t>
            </a:r>
            <a:r>
              <a:rPr lang="en-US" sz="4000" b="1" u="sng" dirty="0">
                <a:solidFill>
                  <a:srgbClr val="FF0000"/>
                </a:solidFill>
              </a:rPr>
              <a:t>rigorous</a:t>
            </a:r>
            <a:r>
              <a:rPr lang="en-US" sz="4000" dirty="0"/>
              <a:t> with all step in run TC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Where TC was run (platform, SIM, Network)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If a TC is failed </a:t>
            </a:r>
            <a:r>
              <a:rPr lang="en-US" sz="4000" dirty="0">
                <a:sym typeface="Wingdings" panose="05000000000000000000" pitchFamily="2" charset="2"/>
              </a:rPr>
              <a:t> It should be run at least 3/5 times to check the reproducibility. Number of tries should be reported on JIRA.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>
                <a:sym typeface="Wingdings" panose="05000000000000000000" pitchFamily="2" charset="2"/>
              </a:rPr>
              <a:t>Test number filed should be filled with </a:t>
            </a:r>
            <a:r>
              <a:rPr lang="en-US" sz="4000" b="1" dirty="0">
                <a:sym typeface="Wingdings" panose="05000000000000000000" pitchFamily="2" charset="2"/>
              </a:rPr>
              <a:t>TC ID and TC name</a:t>
            </a:r>
            <a:r>
              <a:rPr lang="en-US" sz="4000" dirty="0">
                <a:sym typeface="Wingdings" panose="05000000000000000000" pitchFamily="2" charset="2"/>
              </a:rPr>
              <a:t> (&lt;TC_ID&gt;: &lt;</a:t>
            </a:r>
            <a:r>
              <a:rPr lang="en-US" sz="4000" dirty="0" err="1">
                <a:sym typeface="Wingdings" panose="05000000000000000000" pitchFamily="2" charset="2"/>
              </a:rPr>
              <a:t>TC_Name</a:t>
            </a:r>
            <a:r>
              <a:rPr lang="en-US" sz="4000" dirty="0">
                <a:sym typeface="Wingdings" panose="05000000000000000000" pitchFamily="2" charset="2"/>
              </a:rPr>
              <a:t>&gt;).</a:t>
            </a:r>
            <a:endParaRPr lang="en-US" sz="40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Traces: </a:t>
            </a:r>
            <a:r>
              <a:rPr lang="en-US" sz="4000" b="1" u="sng" dirty="0"/>
              <a:t>AT log</a:t>
            </a:r>
            <a:r>
              <a:rPr lang="en-US" sz="4000" dirty="0"/>
              <a:t> is mandatory for each Jira creation / verification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Additional traces: </a:t>
            </a:r>
          </a:p>
          <a:p>
            <a:pPr lvl="2">
              <a:buFontTx/>
              <a:buChar char="-"/>
            </a:pPr>
            <a:r>
              <a:rPr lang="en-US" sz="4000" dirty="0">
                <a:latin typeface="+mn-lt"/>
              </a:rPr>
              <a:t>For </a:t>
            </a:r>
            <a:r>
              <a:rPr lang="en-GB" sz="4000" dirty="0">
                <a:latin typeface="+mn-lt"/>
              </a:rPr>
              <a:t>TCP/UDP/SSL (HLLEAPP </a:t>
            </a:r>
            <a:r>
              <a:rPr lang="en-GB" sz="4000" dirty="0" err="1">
                <a:latin typeface="+mn-lt"/>
              </a:rPr>
              <a:t>ou</a:t>
            </a:r>
            <a:r>
              <a:rPr lang="en-GB" sz="4000" dirty="0">
                <a:latin typeface="+mn-lt"/>
              </a:rPr>
              <a:t> Legato RTOS): CLI Traces are mandatory while raising a new item.</a:t>
            </a:r>
          </a:p>
          <a:p>
            <a:pPr lvl="2">
              <a:buFontTx/>
              <a:buChar char="-"/>
            </a:pPr>
            <a:r>
              <a:rPr lang="en-GB" sz="4000" dirty="0"/>
              <a:t>For </a:t>
            </a:r>
            <a:r>
              <a:rPr lang="en-GB" sz="4000" dirty="0">
                <a:latin typeface="+mn-lt"/>
              </a:rPr>
              <a:t>AVMS: CLI traces</a:t>
            </a:r>
          </a:p>
          <a:p>
            <a:pPr lvl="2">
              <a:buFontTx/>
              <a:buChar char="-"/>
            </a:pPr>
            <a:r>
              <a:rPr lang="en-GB" sz="4000" dirty="0"/>
              <a:t>Issues related to network</a:t>
            </a:r>
            <a:r>
              <a:rPr lang="fr-FR" sz="4000" dirty="0">
                <a:latin typeface="+mn-lt"/>
              </a:rPr>
              <a:t>/Low power mode : </a:t>
            </a:r>
            <a:r>
              <a:rPr lang="fr-FR" sz="4000" dirty="0"/>
              <a:t>Modem </a:t>
            </a:r>
            <a:r>
              <a:rPr lang="fr-FR" sz="4000" dirty="0">
                <a:latin typeface="+mn-lt"/>
              </a:rPr>
              <a:t>Traces (.BIN)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4000" dirty="0" err="1"/>
              <a:t>Raised</a:t>
            </a:r>
            <a:r>
              <a:rPr lang="fr-FR" sz="4000" dirty="0"/>
              <a:t> issues </a:t>
            </a:r>
            <a:r>
              <a:rPr lang="fr-FR" sz="4000" dirty="0" err="1"/>
              <a:t>should</a:t>
            </a:r>
            <a:r>
              <a:rPr lang="fr-FR" sz="4000" dirty="0"/>
              <a:t> </a:t>
            </a:r>
            <a:r>
              <a:rPr lang="fr-FR" sz="4000" dirty="0" err="1"/>
              <a:t>be</a:t>
            </a:r>
            <a:r>
              <a:rPr lang="fr-FR" sz="4000" dirty="0"/>
              <a:t> </a:t>
            </a:r>
            <a:r>
              <a:rPr lang="fr-FR" sz="4000" dirty="0" err="1"/>
              <a:t>assigned</a:t>
            </a:r>
            <a:r>
              <a:rPr lang="fr-FR" sz="4000" dirty="0"/>
              <a:t> to PVE</a:t>
            </a:r>
            <a:endParaRPr lang="fr-FR" sz="4000" dirty="0">
              <a:latin typeface="+mn-lt"/>
            </a:endParaRPr>
          </a:p>
          <a:p>
            <a:pPr lvl="3">
              <a:buFontTx/>
              <a:buChar char="-"/>
            </a:pPr>
            <a:endParaRPr lang="en-GB" sz="4400" dirty="0">
              <a:latin typeface="+mn-lt"/>
            </a:endParaRPr>
          </a:p>
          <a:p>
            <a:pPr lvl="3">
              <a:buFont typeface="Wingdings" panose="05000000000000000000" pitchFamily="2" charset="2"/>
              <a:buChar char="Ø"/>
            </a:pPr>
            <a:endParaRPr lang="en-US" sz="4400" dirty="0"/>
          </a:p>
          <a:p>
            <a:pPr marL="1833121" lvl="3" indent="0">
              <a:buNone/>
            </a:pPr>
            <a:endParaRPr lang="en-US" sz="4400" dirty="0"/>
          </a:p>
          <a:p>
            <a:pPr lvl="3">
              <a:buFont typeface="Wingdings" panose="05000000000000000000" pitchFamily="2" charset="2"/>
              <a:buChar char="Ø"/>
            </a:pPr>
            <a:endParaRPr lang="en-US" sz="4400" dirty="0"/>
          </a:p>
          <a:p>
            <a:pPr lvl="1"/>
            <a:r>
              <a:rPr lang="en-US" sz="4900" dirty="0"/>
              <a:t>Verification of integration issues: OK</a:t>
            </a:r>
          </a:p>
          <a:p>
            <a:pPr lvl="1"/>
            <a:r>
              <a:rPr lang="en-US" sz="4900" dirty="0"/>
              <a:t>Dev Support: OK</a:t>
            </a:r>
          </a:p>
          <a:p>
            <a:pPr marL="995362" lvl="1" indent="0">
              <a:buNone/>
            </a:pPr>
            <a:endParaRPr lang="en-US" sz="4900" dirty="0">
              <a:highlight>
                <a:srgbClr val="00FF00"/>
              </a:highlight>
            </a:endParaRPr>
          </a:p>
          <a:p>
            <a:pPr marL="995362" lvl="1" indent="0">
              <a:buNone/>
            </a:pPr>
            <a:r>
              <a:rPr lang="en-US" sz="4900" dirty="0">
                <a:highlight>
                  <a:srgbClr val="00FF00"/>
                </a:highlight>
              </a:rPr>
              <a:t>Reminder: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400" dirty="0"/>
              <a:t>All raised items should be assigned to PVE.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400" dirty="0"/>
              <a:t>Test number is mandatory (Test ID and Test name)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400" b="1" u="sng" dirty="0"/>
              <a:t>Make sure whether an issue is systematic: Try at least 5 times in order to set correctly the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2001600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TMA – Improvement (JIRA-2)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527047" y="2037806"/>
            <a:ext cx="22038347" cy="1076379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JIRA – Verification of issues (integrated, </a:t>
            </a:r>
            <a:r>
              <a:rPr lang="en-US" b="1" dirty="0" err="1">
                <a:solidFill>
                  <a:srgbClr val="FF0000"/>
                </a:solidFill>
                <a:latin typeface="Titillium WebLight" panose="00000400000000000000" pitchFamily="2" charset="0"/>
              </a:rPr>
              <a:t>Request_Closure</a:t>
            </a:r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, …):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Specify tested FW version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Where TC was run (platform, SIM, Network)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Report Issue status (fixed, ….)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Related TC should run at least 5 times for sporadic issues and 2 time for systematic ones if an  issue is fixed. </a:t>
            </a:r>
            <a:r>
              <a:rPr lang="en-US" sz="4000" dirty="0">
                <a:sym typeface="Wingdings" panose="05000000000000000000" pitchFamily="2" charset="2"/>
              </a:rPr>
              <a:t>Number of tries should be reported on JIRA.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If the issue is not fixed </a:t>
            </a:r>
            <a:r>
              <a:rPr lang="en-US" sz="4000" dirty="0">
                <a:sym typeface="Wingdings" panose="05000000000000000000" pitchFamily="2" charset="2"/>
              </a:rPr>
              <a:t> AT-log</a:t>
            </a:r>
            <a:r>
              <a:rPr lang="en-US" sz="4000" dirty="0"/>
              <a:t> is mandatory for each Jira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4000" dirty="0"/>
              <a:t>Issue </a:t>
            </a:r>
            <a:r>
              <a:rPr lang="fr-FR" sz="4000" dirty="0" err="1"/>
              <a:t>should</a:t>
            </a:r>
            <a:r>
              <a:rPr lang="fr-FR" sz="4000" dirty="0"/>
              <a:t> </a:t>
            </a:r>
            <a:r>
              <a:rPr lang="fr-FR" sz="4000" dirty="0" err="1"/>
              <a:t>be</a:t>
            </a:r>
            <a:r>
              <a:rPr lang="fr-FR" sz="4000" dirty="0"/>
              <a:t> </a:t>
            </a:r>
            <a:r>
              <a:rPr lang="fr-FR" sz="4000" dirty="0" err="1"/>
              <a:t>assigned</a:t>
            </a:r>
            <a:r>
              <a:rPr lang="fr-FR" sz="4000" dirty="0"/>
              <a:t> to PVE</a:t>
            </a:r>
            <a:endParaRPr lang="fr-FR" sz="4000" dirty="0">
              <a:latin typeface="+mn-lt"/>
            </a:endParaRPr>
          </a:p>
          <a:p>
            <a:pPr lvl="3">
              <a:buFontTx/>
              <a:buChar char="-"/>
            </a:pPr>
            <a:endParaRPr lang="en-GB" sz="4400" dirty="0">
              <a:latin typeface="+mn-lt"/>
            </a:endParaRPr>
          </a:p>
          <a:p>
            <a:pPr lvl="3">
              <a:buFont typeface="Wingdings" panose="05000000000000000000" pitchFamily="2" charset="2"/>
              <a:buChar char="Ø"/>
            </a:pPr>
            <a:endParaRPr lang="en-US" sz="4400" dirty="0"/>
          </a:p>
          <a:p>
            <a:pPr marL="1833121" lvl="3" indent="0">
              <a:buNone/>
            </a:pPr>
            <a:endParaRPr lang="en-US" sz="4400" dirty="0"/>
          </a:p>
          <a:p>
            <a:pPr lvl="3">
              <a:buFont typeface="Wingdings" panose="05000000000000000000" pitchFamily="2" charset="2"/>
              <a:buChar char="Ø"/>
            </a:pPr>
            <a:endParaRPr lang="en-US" sz="4400" dirty="0"/>
          </a:p>
          <a:p>
            <a:pPr lvl="1"/>
            <a:r>
              <a:rPr lang="en-US" sz="4900" dirty="0"/>
              <a:t>Verification of integration issues: OK</a:t>
            </a:r>
          </a:p>
          <a:p>
            <a:pPr lvl="1"/>
            <a:r>
              <a:rPr lang="en-US" sz="4900" dirty="0"/>
              <a:t>Dev Support: OK</a:t>
            </a:r>
          </a:p>
          <a:p>
            <a:pPr marL="995362" lvl="1" indent="0">
              <a:buNone/>
            </a:pPr>
            <a:endParaRPr lang="en-US" sz="4900" dirty="0">
              <a:highlight>
                <a:srgbClr val="00FF00"/>
              </a:highlight>
            </a:endParaRPr>
          </a:p>
          <a:p>
            <a:pPr marL="995362" lvl="1" indent="0">
              <a:buNone/>
            </a:pPr>
            <a:r>
              <a:rPr lang="en-US" sz="4900" dirty="0">
                <a:highlight>
                  <a:srgbClr val="00FF00"/>
                </a:highlight>
              </a:rPr>
              <a:t>Reminder: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400" dirty="0"/>
              <a:t>All raised items should be assigned to PVE.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400" dirty="0"/>
              <a:t>Test number is mandatory (Test ID and Test name)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400" b="1" u="sng" dirty="0"/>
              <a:t>Make sure whether an issue is systematic: Try at least 5 times in order to set correctly the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11518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TMA – Improvement (QC)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527047" y="2037806"/>
            <a:ext cx="22038347" cy="1076379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QC – Tests results update: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Make sure that you are using the last version of QC_ICR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b="1" u="sng" dirty="0"/>
              <a:t>All update in QC should be done using QC_ICR tool (expect Status Update to Replay that should be done manually)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Update daily results on QC: a TC status should be updated and </a:t>
            </a:r>
            <a:r>
              <a:rPr lang="en-US" sz="4000" b="1" u="sng" dirty="0"/>
              <a:t>only not closed JIRA IDs should be linked to failed TCs</a:t>
            </a:r>
            <a:r>
              <a:rPr lang="en-US" sz="4000" dirty="0"/>
              <a:t>).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4000" dirty="0"/>
              <a:t>Make sure that all issues raised or covered by Validation Team are </a:t>
            </a:r>
            <a:r>
              <a:rPr lang="en-US" sz="4000" b="1" u="sng" dirty="0"/>
              <a:t>linked</a:t>
            </a:r>
            <a:r>
              <a:rPr lang="en-US" sz="4000" dirty="0"/>
              <a:t> to one or many TCs in QC (Excel sheet with gap containing issues raised by TMA but not logged in QC).</a:t>
            </a:r>
          </a:p>
        </p:txBody>
      </p:sp>
    </p:spTree>
    <p:extLst>
      <p:ext uri="{BB962C8B-B14F-4D97-AF65-F5344CB8AC3E}">
        <p14:creationId xmlns:p14="http://schemas.microsoft.com/office/powerpoint/2010/main" val="3633187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TMA – Improvement (Beta phase tasks - 1)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978407" y="2404872"/>
            <a:ext cx="22404107" cy="865105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Sanity Campaigns:</a:t>
            </a:r>
          </a:p>
          <a:p>
            <a:pPr lvl="1"/>
            <a:r>
              <a:rPr lang="en-US" sz="4900" dirty="0"/>
              <a:t>To be run 1</a:t>
            </a:r>
            <a:r>
              <a:rPr lang="en-US" sz="4900" baseline="30000" dirty="0"/>
              <a:t>st</a:t>
            </a:r>
            <a:r>
              <a:rPr lang="en-US" sz="4900" dirty="0"/>
              <a:t> in ILM</a:t>
            </a:r>
          </a:p>
          <a:p>
            <a:pPr lvl="1"/>
            <a:r>
              <a:rPr lang="en-US" sz="4900" dirty="0"/>
              <a:t>If Sanity in ILM is passed </a:t>
            </a:r>
            <a:r>
              <a:rPr lang="en-US" sz="4900" dirty="0">
                <a:sym typeface="Wingdings" panose="05000000000000000000" pitchFamily="2" charset="2"/>
              </a:rPr>
              <a:t> Sanity </a:t>
            </a:r>
            <a:r>
              <a:rPr lang="en-US" sz="4900" dirty="0" err="1">
                <a:sym typeface="Wingdings" panose="05000000000000000000" pitchFamily="2" charset="2"/>
              </a:rPr>
              <a:t>capaigns</a:t>
            </a:r>
            <a:r>
              <a:rPr lang="en-US" sz="4900" dirty="0">
                <a:sym typeface="Wingdings" panose="05000000000000000000" pitchFamily="2" charset="2"/>
              </a:rPr>
              <a:t> should be performed in worldwide platforms.</a:t>
            </a:r>
          </a:p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Validation of integrated / </a:t>
            </a:r>
            <a:r>
              <a:rPr lang="en-US" b="1" dirty="0" err="1">
                <a:solidFill>
                  <a:srgbClr val="FF0000"/>
                </a:solidFill>
                <a:latin typeface="Titillium WebLight" panose="00000400000000000000" pitchFamily="2" charset="0"/>
              </a:rPr>
              <a:t>Request_Closure</a:t>
            </a:r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 issues:</a:t>
            </a:r>
          </a:p>
          <a:p>
            <a:pPr lvl="1"/>
            <a:r>
              <a:rPr lang="en-US" sz="4900" dirty="0"/>
              <a:t>List of issues to be checked can be found using public filters mentioned in related JIRA task.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Titillium Web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586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TMA – Improvement (Beta phase tasks - 2)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978407" y="2404872"/>
            <a:ext cx="22404107" cy="865105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Non regression Campaigns – 1-Click:</a:t>
            </a:r>
          </a:p>
          <a:p>
            <a:pPr marL="995362" lvl="1" indent="0">
              <a:buNone/>
            </a:pPr>
            <a:r>
              <a:rPr lang="en-US" sz="4900" dirty="0"/>
              <a:t>If Sanity Tests are passed. </a:t>
            </a:r>
            <a:r>
              <a:rPr lang="en-US" sz="4900" b="1" dirty="0"/>
              <a:t>Non regression for all 1 Click TCs should be started.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900" dirty="0">
                <a:sym typeface="Wingdings" panose="05000000000000000000" pitchFamily="2" charset="2"/>
              </a:rPr>
              <a:t>1-Click for already passed TCs should be done without effort (except regressions): 227 TCs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900" dirty="0">
                <a:sym typeface="Wingdings" panose="05000000000000000000" pitchFamily="2" charset="2"/>
              </a:rPr>
              <a:t>1-Click for Failed TCs: analysis is required (340 TCs)</a:t>
            </a:r>
          </a:p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Non regression Campaigns – non 1-Click:</a:t>
            </a:r>
            <a:endParaRPr lang="en-US" sz="4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900" dirty="0">
                <a:sym typeface="Wingdings" panose="05000000000000000000" pitchFamily="2" charset="2"/>
              </a:rPr>
              <a:t>Will be specified with each FW release.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Titillium Web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006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Dizzy </a:t>
            </a:r>
            <a:r>
              <a:rPr lang="en-US" b="1" dirty="0" err="1">
                <a:solidFill>
                  <a:srgbClr val="FF0000"/>
                </a:solidFill>
                <a:latin typeface="+mj-lt"/>
              </a:rPr>
              <a:t>camaigns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 dispatching per Domain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xmlns="" id="{221892F3-624C-4903-801B-1DCB4549C532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05877184"/>
              </p:ext>
            </p:extLst>
          </p:nvPr>
        </p:nvGraphicFramePr>
        <p:xfrm>
          <a:off x="1527048" y="2144684"/>
          <a:ext cx="22384514" cy="10357661"/>
        </p:xfrm>
        <a:graphic>
          <a:graphicData uri="http://schemas.openxmlformats.org/drawingml/2006/table">
            <a:tbl>
              <a:tblPr/>
              <a:tblGrid>
                <a:gridCol w="2208999">
                  <a:extLst>
                    <a:ext uri="{9D8B030D-6E8A-4147-A177-3AD203B41FA5}">
                      <a16:colId xmlns:a16="http://schemas.microsoft.com/office/drawing/2014/main" xmlns="" val="4155057736"/>
                    </a:ext>
                  </a:extLst>
                </a:gridCol>
                <a:gridCol w="1996280">
                  <a:extLst>
                    <a:ext uri="{9D8B030D-6E8A-4147-A177-3AD203B41FA5}">
                      <a16:colId xmlns:a16="http://schemas.microsoft.com/office/drawing/2014/main" xmlns="" val="353726394"/>
                    </a:ext>
                  </a:extLst>
                </a:gridCol>
                <a:gridCol w="1996280">
                  <a:extLst>
                    <a:ext uri="{9D8B030D-6E8A-4147-A177-3AD203B41FA5}">
                      <a16:colId xmlns:a16="http://schemas.microsoft.com/office/drawing/2014/main" xmlns="" val="2437746925"/>
                    </a:ext>
                  </a:extLst>
                </a:gridCol>
                <a:gridCol w="1996280">
                  <a:extLst>
                    <a:ext uri="{9D8B030D-6E8A-4147-A177-3AD203B41FA5}">
                      <a16:colId xmlns:a16="http://schemas.microsoft.com/office/drawing/2014/main" xmlns="" val="53381471"/>
                    </a:ext>
                  </a:extLst>
                </a:gridCol>
                <a:gridCol w="2618072">
                  <a:extLst>
                    <a:ext uri="{9D8B030D-6E8A-4147-A177-3AD203B41FA5}">
                      <a16:colId xmlns:a16="http://schemas.microsoft.com/office/drawing/2014/main" xmlns="" val="4048228925"/>
                    </a:ext>
                  </a:extLst>
                </a:gridCol>
                <a:gridCol w="1996280">
                  <a:extLst>
                    <a:ext uri="{9D8B030D-6E8A-4147-A177-3AD203B41FA5}">
                      <a16:colId xmlns:a16="http://schemas.microsoft.com/office/drawing/2014/main" xmlns="" val="1148474012"/>
                    </a:ext>
                  </a:extLst>
                </a:gridCol>
                <a:gridCol w="1996280">
                  <a:extLst>
                    <a:ext uri="{9D8B030D-6E8A-4147-A177-3AD203B41FA5}">
                      <a16:colId xmlns:a16="http://schemas.microsoft.com/office/drawing/2014/main" xmlns="" val="365715546"/>
                    </a:ext>
                  </a:extLst>
                </a:gridCol>
                <a:gridCol w="2143545">
                  <a:extLst>
                    <a:ext uri="{9D8B030D-6E8A-4147-A177-3AD203B41FA5}">
                      <a16:colId xmlns:a16="http://schemas.microsoft.com/office/drawing/2014/main" xmlns="" val="1326259632"/>
                    </a:ext>
                  </a:extLst>
                </a:gridCol>
                <a:gridCol w="2061731">
                  <a:extLst>
                    <a:ext uri="{9D8B030D-6E8A-4147-A177-3AD203B41FA5}">
                      <a16:colId xmlns:a16="http://schemas.microsoft.com/office/drawing/2014/main" xmlns="" val="3705628553"/>
                    </a:ext>
                  </a:extLst>
                </a:gridCol>
                <a:gridCol w="1489028">
                  <a:extLst>
                    <a:ext uri="{9D8B030D-6E8A-4147-A177-3AD203B41FA5}">
                      <a16:colId xmlns:a16="http://schemas.microsoft.com/office/drawing/2014/main" xmlns="" val="261355628"/>
                    </a:ext>
                  </a:extLst>
                </a:gridCol>
                <a:gridCol w="1881739">
                  <a:extLst>
                    <a:ext uri="{9D8B030D-6E8A-4147-A177-3AD203B41FA5}">
                      <a16:colId xmlns:a16="http://schemas.microsoft.com/office/drawing/2014/main" xmlns="" val="2635811410"/>
                    </a:ext>
                  </a:extLst>
                </a:gridCol>
              </a:tblGrid>
              <a:tr h="295511"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8096027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Passed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Passed - 1 Click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Passed - non 1 Click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1-Full Automation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Failed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Failed - 1 Click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Failed - non 1 Click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1-Full Automation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1-Click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88717804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AVMS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38185267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Call Control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38975594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CMUX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0573287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eMTC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85859881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9377530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IPv6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145367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4841715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MECS Alarm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2463807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MECS Bands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18768447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MECS Temperature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63057058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6105231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 Service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3837973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NV Related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98920966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Packet Switch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12991782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 Book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19639927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Consumption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80361887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85674503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Protocol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63220398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 Domain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53769155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Secured boot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96064235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 SWI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7747908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 Toolkit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33027981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08807697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50863507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44492878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Throughput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75234188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TLS1.2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16743178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UART4WIRES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91677769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UC_VIC000xx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78079745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UDP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49253674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33161901"/>
                  </a:ext>
                </a:extLst>
              </a:tr>
              <a:tr h="295511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V25TER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14602112"/>
                  </a:ext>
                </a:extLst>
              </a:tr>
              <a:tr h="31028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794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10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TMA – 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978407" y="2404872"/>
            <a:ext cx="22404107" cy="865105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tillium WebLight" panose="00000400000000000000" pitchFamily="2" charset="0"/>
              </a:rPr>
              <a:t>TCs Execution:</a:t>
            </a:r>
          </a:p>
          <a:p>
            <a:pPr marL="995362" lvl="1" indent="0">
              <a:buNone/>
            </a:pPr>
            <a:r>
              <a:rPr lang="en-US" sz="4900" dirty="0"/>
              <a:t>When checking an issue on JIRA, basically related TC is run</a:t>
            </a:r>
            <a:r>
              <a:rPr lang="en-US" sz="4900" b="1" dirty="0"/>
              <a:t>.</a:t>
            </a:r>
          </a:p>
          <a:p>
            <a:pPr marL="995362" lvl="1" indent="0">
              <a:buNone/>
            </a:pPr>
            <a:r>
              <a:rPr lang="en-US" sz="4900" b="1" dirty="0"/>
              <a:t>Expected TMA KPI:</a:t>
            </a:r>
          </a:p>
          <a:p>
            <a:pPr marL="995362" lvl="1" indent="0">
              <a:buNone/>
            </a:pPr>
            <a:endParaRPr lang="en-US" sz="49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010C3CA1-2B58-42D0-88C4-246D00F9B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28010"/>
              </p:ext>
            </p:extLst>
          </p:nvPr>
        </p:nvGraphicFramePr>
        <p:xfrm>
          <a:off x="1879021" y="5591434"/>
          <a:ext cx="17522883" cy="6040217"/>
        </p:xfrm>
        <a:graphic>
          <a:graphicData uri="http://schemas.openxmlformats.org/drawingml/2006/table">
            <a:tbl>
              <a:tblPr/>
              <a:tblGrid>
                <a:gridCol w="10877842">
                  <a:extLst>
                    <a:ext uri="{9D8B030D-6E8A-4147-A177-3AD203B41FA5}">
                      <a16:colId xmlns:a16="http://schemas.microsoft.com/office/drawing/2014/main" xmlns="" val="3387299816"/>
                    </a:ext>
                  </a:extLst>
                </a:gridCol>
                <a:gridCol w="3413548">
                  <a:extLst>
                    <a:ext uri="{9D8B030D-6E8A-4147-A177-3AD203B41FA5}">
                      <a16:colId xmlns:a16="http://schemas.microsoft.com/office/drawing/2014/main" xmlns="" val="3170528003"/>
                    </a:ext>
                  </a:extLst>
                </a:gridCol>
                <a:gridCol w="3231493">
                  <a:extLst>
                    <a:ext uri="{9D8B030D-6E8A-4147-A177-3AD203B41FA5}">
                      <a16:colId xmlns:a16="http://schemas.microsoft.com/office/drawing/2014/main" xmlns="" val="710082692"/>
                    </a:ext>
                  </a:extLst>
                </a:gridCol>
              </a:tblGrid>
              <a:tr h="707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Task 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 day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TMA Daily (11)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54407892"/>
                  </a:ext>
                </a:extLst>
              </a:tr>
              <a:tr h="17981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execution (Test case):</a:t>
                      </a:r>
                      <a:b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 TC (if failed a JIRA item is raised)</a:t>
                      </a:r>
                      <a:b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When checking an issue, related TC is checked.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63363178"/>
                  </a:ext>
                </a:extLst>
              </a:tr>
              <a:tr h="707011"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 support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21271467"/>
                  </a:ext>
                </a:extLst>
              </a:tr>
              <a:tr h="707011"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1-Click analysis (Passed)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0020795"/>
                  </a:ext>
                </a:extLst>
              </a:tr>
              <a:tr h="707011"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1-Click analysis </a:t>
                      </a:r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(Failed)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8688217"/>
                  </a:ext>
                </a:extLst>
              </a:tr>
              <a:tr h="707011"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script creation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56909059"/>
                  </a:ext>
                </a:extLst>
              </a:tr>
              <a:tr h="707011"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script modification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9553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451138"/>
      </p:ext>
    </p:extLst>
  </p:cSld>
  <p:clrMapOvr>
    <a:masterClrMapping/>
  </p:clrMapOvr>
</p:sld>
</file>

<file path=ppt/theme/theme1.xml><?xml version="1.0" encoding="utf-8"?>
<a:theme xmlns:a="http://schemas.openxmlformats.org/drawingml/2006/main" name="Sierra Wireless Theme">
  <a:themeElements>
    <a:clrScheme name="SW Brand Colours">
      <a:dk1>
        <a:srgbClr val="000000"/>
      </a:dk1>
      <a:lt1>
        <a:srgbClr val="FFFFFF"/>
      </a:lt1>
      <a:dk2>
        <a:srgbClr val="5D5E61"/>
      </a:dk2>
      <a:lt2>
        <a:srgbClr val="FFFFFF"/>
      </a:lt2>
      <a:accent1>
        <a:srgbClr val="666666"/>
      </a:accent1>
      <a:accent2>
        <a:srgbClr val="E53B30"/>
      </a:accent2>
      <a:accent3>
        <a:srgbClr val="6A8E9A"/>
      </a:accent3>
      <a:accent4>
        <a:srgbClr val="00677A"/>
      </a:accent4>
      <a:accent5>
        <a:srgbClr val="F7781E"/>
      </a:accent5>
      <a:accent6>
        <a:srgbClr val="003640"/>
      </a:accent6>
      <a:hlink>
        <a:srgbClr val="00AEAF"/>
      </a:hlink>
      <a:folHlink>
        <a:srgbClr val="99B1B9"/>
      </a:folHlink>
    </a:clrScheme>
    <a:fontScheme name="Custom 1">
      <a:majorFont>
        <a:latin typeface="Titillium WebLight"/>
        <a:ea typeface=""/>
        <a:cs typeface=""/>
      </a:majorFont>
      <a:minorFont>
        <a:latin typeface="Titillium Web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0ACA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W Logo Red">
      <a:srgbClr val="E53B30"/>
    </a:custClr>
    <a:custClr name="SW Cool Gray">
      <a:srgbClr val="666666"/>
    </a:custClr>
    <a:custClr name="SW Mid Blue Gray">
      <a:srgbClr val="6A8E9A"/>
    </a:custClr>
    <a:custClr name="SW Dark Teal">
      <a:srgbClr val="003640"/>
    </a:custClr>
    <a:custClr name="SW Blue Gray">
      <a:srgbClr val="99B1B9"/>
    </a:custClr>
    <a:custClr name="SW Teal">
      <a:srgbClr val="00AEAF"/>
    </a:custClr>
    <a:custClr name="SW Gold">
      <a:srgbClr val="FEC221"/>
    </a:custClr>
    <a:custClr name="SW Orange">
      <a:srgbClr val="F7781E"/>
    </a:custClr>
    <a:custClr name="SW Blue">
      <a:srgbClr val="00677A"/>
    </a:custClr>
    <a:custClr name="SW Eggplant">
      <a:srgbClr val="621B4B"/>
    </a:custClr>
    <a:custClr name="SW Green">
      <a:srgbClr val="64A70B"/>
    </a:custClr>
    <a:custClr name="SW Light Gray">
      <a:srgbClr val="A0ACAF"/>
    </a:custClr>
  </a:custClrLst>
  <a:extLst>
    <a:ext uri="{05A4C25C-085E-4340-85A3-A5531E510DB2}">
      <thm15:themeFamily xmlns:thm15="http://schemas.microsoft.com/office/thememl/2012/main" name="Sierra Wireless Corp Template-July2017.potx" id="{A0789167-2AA0-48BA-B6D5-C7CBF4044768}" vid="{CD431550-C22B-4352-AF12-3D2A2BB4D1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B5312F5BDB7B46A577DCB59F0499B2" ma:contentTypeVersion="1" ma:contentTypeDescription="Create a new document." ma:contentTypeScope="" ma:versionID="2bbf2e93a03a328f1e15b36e84501ed4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0D361E02-B880-448E-B69E-C9D0951C4EA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EF6D98F-DC84-4331-9D10-7882EB1D58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491057-CA9A-40D6-B662-AF9D5BDF49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Sierra Wireless Corp Template-July2017</Template>
  <TotalTime>0</TotalTime>
  <Words>2734</Words>
  <Application>Microsoft Office PowerPoint</Application>
  <PresentationFormat>Custom</PresentationFormat>
  <Paragraphs>669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Titillium WebSemiBold</vt:lpstr>
      <vt:lpstr>MS PGothic</vt:lpstr>
      <vt:lpstr>Titillium Web</vt:lpstr>
      <vt:lpstr>Calibri</vt:lpstr>
      <vt:lpstr>Wingdings</vt:lpstr>
      <vt:lpstr>Titillium WebLight</vt:lpstr>
      <vt:lpstr>Arial</vt:lpstr>
      <vt:lpstr>Sierra Wireless Theme</vt:lpstr>
      <vt:lpstr>Validation</vt:lpstr>
      <vt:lpstr>Validation</vt:lpstr>
      <vt:lpstr>1-Click Platforms</vt:lpstr>
      <vt:lpstr>Validation data</vt:lpstr>
      <vt:lpstr>1-Click Worldwide</vt:lpstr>
      <vt:lpstr>TMA – Improvement (JIRA-1)</vt:lpstr>
      <vt:lpstr>TMA – Improvement (JIRA-2)</vt:lpstr>
      <vt:lpstr>TMA – Improvement (QC)</vt:lpstr>
      <vt:lpstr>TMA – Improvement (Beta phase tasks - 1)</vt:lpstr>
      <vt:lpstr>TMA – Improvement (Beta phase tasks - 2)</vt:lpstr>
      <vt:lpstr>Dizzy camaigns dispatching per Domain</vt:lpstr>
      <vt:lpstr>TMA – KPI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Sierra Wireless</cp:keywords>
  <cp:lastModifiedBy/>
  <cp:revision>1</cp:revision>
  <dcterms:created xsi:type="dcterms:W3CDTF">2017-07-13T20:04:29Z</dcterms:created>
  <dcterms:modified xsi:type="dcterms:W3CDTF">2018-10-01T01:22:09Z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0x01010017B5312F5BDB7B46A577DCB59F0499B2</vt:lpwstr>
  </property>
</Properties>
</file>