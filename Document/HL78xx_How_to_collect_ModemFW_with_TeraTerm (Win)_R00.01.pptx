
<file path=[Content_Types].xml><?xml version="1.0" encoding="utf-8"?>
<Types xmlns="http://schemas.openxmlformats.org/package/2006/content-types">
  <Default Extension="png" ContentType="image/png"/>
  <Default Extension="tmp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324" r:id="rId5"/>
    <p:sldId id="400" r:id="rId6"/>
    <p:sldId id="418" r:id="rId7"/>
    <p:sldId id="404" r:id="rId8"/>
  </p:sldIdLst>
  <p:sldSz cx="9144000" cy="6858000" type="screen4x3"/>
  <p:notesSz cx="7102475" cy="10233025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20">
          <p15:clr>
            <a:srgbClr val="A4A3A4"/>
          </p15:clr>
        </p15:guide>
        <p15:guide id="2" pos="1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D9D9D9"/>
    <a:srgbClr val="DCD766"/>
    <a:srgbClr val="F18F87"/>
    <a:srgbClr val="A0ACAF"/>
    <a:srgbClr val="A3BEF5"/>
    <a:srgbClr val="99CCFF"/>
    <a:srgbClr val="66CCFF"/>
    <a:srgbClr val="6699FF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50" autoAdjust="0"/>
    <p:restoredTop sz="95559" autoAdjust="0"/>
  </p:normalViewPr>
  <p:slideViewPr>
    <p:cSldViewPr snapToGrid="0">
      <p:cViewPr varScale="1">
        <p:scale>
          <a:sx n="74" d="100"/>
          <a:sy n="74" d="100"/>
        </p:scale>
        <p:origin x="1218" y="60"/>
      </p:cViewPr>
      <p:guideLst>
        <p:guide orient="horz" pos="720"/>
        <p:guide pos="156"/>
      </p:guideLst>
    </p:cSldViewPr>
  </p:slideViewPr>
  <p:outlineViewPr>
    <p:cViewPr>
      <p:scale>
        <a:sx n="33" d="100"/>
        <a:sy n="33" d="100"/>
      </p:scale>
      <p:origin x="0" y="-211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456"/>
    </p:cViewPr>
  </p:sorterViewPr>
  <p:notesViewPr>
    <p:cSldViewPr snapToGrid="0" showGuides="1">
      <p:cViewPr>
        <p:scale>
          <a:sx n="154" d="100"/>
          <a:sy n="154" d="100"/>
        </p:scale>
        <p:origin x="-2226" y="72"/>
      </p:cViewPr>
      <p:guideLst>
        <p:guide orient="horz" pos="3223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382" cy="512002"/>
          </a:xfrm>
          <a:prstGeom prst="rect">
            <a:avLst/>
          </a:prstGeom>
        </p:spPr>
        <p:txBody>
          <a:bodyPr vert="horz" lIns="97192" tIns="48596" rIns="97192" bIns="48596" rtlCol="0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85" y="0"/>
            <a:ext cx="3078382" cy="512002"/>
          </a:xfrm>
          <a:prstGeom prst="rect">
            <a:avLst/>
          </a:prstGeom>
        </p:spPr>
        <p:txBody>
          <a:bodyPr vert="horz" lIns="97192" tIns="48596" rIns="97192" bIns="48596" rtlCol="0"/>
          <a:lstStyle>
            <a:lvl1pPr algn="r">
              <a:defRPr sz="1300"/>
            </a:lvl1pPr>
          </a:lstStyle>
          <a:p>
            <a:fld id="{0EE20CFF-F47A-433F-AFED-9599D624ACF3}" type="datetimeFigureOut">
              <a:rPr lang="en-CA" smtClean="0"/>
              <a:pPr/>
              <a:t>2018-07-19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19277"/>
            <a:ext cx="3078382" cy="512002"/>
          </a:xfrm>
          <a:prstGeom prst="rect">
            <a:avLst/>
          </a:prstGeom>
        </p:spPr>
        <p:txBody>
          <a:bodyPr vert="horz" lIns="97192" tIns="48596" rIns="97192" bIns="48596" rtlCol="0" anchor="b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85" y="9719277"/>
            <a:ext cx="3078382" cy="512002"/>
          </a:xfrm>
          <a:prstGeom prst="rect">
            <a:avLst/>
          </a:prstGeom>
        </p:spPr>
        <p:txBody>
          <a:bodyPr vert="horz" lIns="97192" tIns="48596" rIns="97192" bIns="48596" rtlCol="0" anchor="b"/>
          <a:lstStyle>
            <a:lvl1pPr algn="r">
              <a:defRPr sz="1300"/>
            </a:lvl1pPr>
          </a:lstStyle>
          <a:p>
            <a:fld id="{27F574AF-D6AF-4869-A21D-DE521E5E03BD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6069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652"/>
          </a:xfrm>
          <a:prstGeom prst="rect">
            <a:avLst/>
          </a:prstGeom>
        </p:spPr>
        <p:txBody>
          <a:bodyPr vert="horz" lIns="99038" tIns="49519" rIns="99038" bIns="4951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39" cy="511652"/>
          </a:xfrm>
          <a:prstGeom prst="rect">
            <a:avLst/>
          </a:prstGeom>
        </p:spPr>
        <p:txBody>
          <a:bodyPr vert="horz" lIns="99038" tIns="49519" rIns="99038" bIns="4951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942FF58-92E1-2D46-A843-2E037FE07052}" type="datetimeFigureOut">
              <a:rPr lang="en-US"/>
              <a:pPr>
                <a:defRPr/>
              </a:pPr>
              <a:t>2018-07-19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8" tIns="49519" rIns="99038" bIns="4951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</p:spPr>
        <p:txBody>
          <a:bodyPr vert="horz" lIns="99038" tIns="49519" rIns="99038" bIns="49519" rtlCol="0"/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1652"/>
          </a:xfrm>
          <a:prstGeom prst="rect">
            <a:avLst/>
          </a:prstGeom>
        </p:spPr>
        <p:txBody>
          <a:bodyPr vert="horz" lIns="99038" tIns="49519" rIns="99038" bIns="4951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3" y="9719598"/>
            <a:ext cx="3077739" cy="511652"/>
          </a:xfrm>
          <a:prstGeom prst="rect">
            <a:avLst/>
          </a:prstGeom>
        </p:spPr>
        <p:txBody>
          <a:bodyPr vert="horz" lIns="99038" tIns="49519" rIns="99038" bIns="4951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4DD81EC-FB29-534C-9BDE-E7988456E4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951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DD81EC-FB29-534C-9BDE-E7988456E41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91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DD81EC-FB29-534C-9BDE-E7988456E41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14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DD81EC-FB29-534C-9BDE-E7988456E41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12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DD81EC-FB29-534C-9BDE-E7988456E41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15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- 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itle 6"/>
          <p:cNvSpPr>
            <a:spLocks noGrp="1"/>
          </p:cNvSpPr>
          <p:nvPr>
            <p:ph type="title"/>
          </p:nvPr>
        </p:nvSpPr>
        <p:spPr>
          <a:xfrm>
            <a:off x="541167" y="2135100"/>
            <a:ext cx="7238607" cy="550840"/>
          </a:xfrm>
          <a:prstGeom prst="rect">
            <a:avLst/>
          </a:prstGeom>
        </p:spPr>
        <p:txBody>
          <a:bodyPr/>
          <a:lstStyle>
            <a:lvl1pPr algn="l">
              <a:defRPr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41932" y="2685940"/>
            <a:ext cx="7237978" cy="399440"/>
          </a:xfrm>
          <a:prstGeom prst="rect">
            <a:avLst/>
          </a:prstGeom>
        </p:spPr>
        <p:txBody>
          <a:bodyPr/>
          <a:lstStyle>
            <a:lvl1pPr algn="l">
              <a:buFontTx/>
              <a:buNone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760149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 - 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itle 6"/>
          <p:cNvSpPr>
            <a:spLocks noGrp="1"/>
          </p:cNvSpPr>
          <p:nvPr>
            <p:ph type="title"/>
          </p:nvPr>
        </p:nvSpPr>
        <p:spPr>
          <a:xfrm>
            <a:off x="541167" y="5143771"/>
            <a:ext cx="5793003" cy="550840"/>
          </a:xfrm>
          <a:prstGeom prst="rect">
            <a:avLst/>
          </a:prstGeom>
        </p:spPr>
        <p:txBody>
          <a:bodyPr/>
          <a:lstStyle>
            <a:lvl1pPr algn="l">
              <a:defRPr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41932" y="5694611"/>
            <a:ext cx="5792500" cy="399440"/>
          </a:xfrm>
          <a:prstGeom prst="rect">
            <a:avLst/>
          </a:prstGeom>
        </p:spPr>
        <p:txBody>
          <a:bodyPr/>
          <a:lstStyle>
            <a:lvl1pPr algn="l">
              <a:buFontTx/>
              <a:buNone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541932" y="6105068"/>
            <a:ext cx="5792500" cy="232291"/>
          </a:xfrm>
          <a:prstGeom prst="rect">
            <a:avLst/>
          </a:prstGeom>
        </p:spPr>
        <p:txBody>
          <a:bodyPr/>
          <a:lstStyle>
            <a:lvl1pPr algn="l">
              <a:buFontTx/>
              <a:buNone/>
              <a:defRPr sz="11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816469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- Sub-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Title 6"/>
          <p:cNvSpPr>
            <a:spLocks noGrp="1"/>
          </p:cNvSpPr>
          <p:nvPr>
            <p:ph type="title"/>
          </p:nvPr>
        </p:nvSpPr>
        <p:spPr>
          <a:xfrm>
            <a:off x="541167" y="2135100"/>
            <a:ext cx="7238607" cy="550840"/>
          </a:xfrm>
          <a:prstGeom prst="rect">
            <a:avLst/>
          </a:prstGeom>
        </p:spPr>
        <p:txBody>
          <a:bodyPr/>
          <a:lstStyle>
            <a:lvl1pPr algn="l">
              <a:defRPr b="1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968209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- Text with Sub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376086" y="1055574"/>
            <a:ext cx="8451850" cy="427577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200" b="1" i="0"/>
            </a:lvl1pPr>
          </a:lstStyle>
          <a:p>
            <a:pPr lvl="0"/>
            <a:r>
              <a:rPr lang="en-US" dirty="0"/>
              <a:t>Click to edit Master text styles</a:t>
            </a:r>
            <a:endParaRPr lang="en-CA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 bwMode="auto">
          <a:xfrm>
            <a:off x="344321" y="86003"/>
            <a:ext cx="8580438" cy="865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Content Placeholder 9"/>
          <p:cNvSpPr>
            <a:spLocks noGrp="1"/>
          </p:cNvSpPr>
          <p:nvPr>
            <p:ph sz="quarter" idx="12"/>
          </p:nvPr>
        </p:nvSpPr>
        <p:spPr>
          <a:xfrm>
            <a:off x="501444" y="1519083"/>
            <a:ext cx="8295970" cy="4792817"/>
          </a:xfrm>
        </p:spPr>
        <p:txBody>
          <a:bodyPr/>
          <a:lstStyle>
            <a:lvl1pPr marL="228600">
              <a:spcAft>
                <a:spcPts val="1200"/>
              </a:spcAft>
              <a:defRPr sz="2000"/>
            </a:lvl1pPr>
            <a:lvl2pPr marL="457200" indent="-228600">
              <a:buFont typeface="Arial" panose="020B0604020202020204" pitchFamily="34" charset="0"/>
              <a:buChar char="‒"/>
              <a:defRPr sz="1800"/>
            </a:lvl2pPr>
            <a:lvl3pPr>
              <a:defRPr sz="16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- Text without Sub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/>
          </p:nvPr>
        </p:nvSpPr>
        <p:spPr bwMode="auto">
          <a:xfrm>
            <a:off x="344321" y="86003"/>
            <a:ext cx="8580438" cy="865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9"/>
          <p:cNvSpPr>
            <a:spLocks noGrp="1"/>
          </p:cNvSpPr>
          <p:nvPr>
            <p:ph sz="quarter" idx="12"/>
          </p:nvPr>
        </p:nvSpPr>
        <p:spPr>
          <a:xfrm>
            <a:off x="501444" y="1069259"/>
            <a:ext cx="8295970" cy="5242642"/>
          </a:xfrm>
        </p:spPr>
        <p:txBody>
          <a:bodyPr/>
          <a:lstStyle>
            <a:lvl1pPr marL="228600">
              <a:spcAft>
                <a:spcPts val="1200"/>
              </a:spcAft>
              <a:defRPr sz="2000"/>
            </a:lvl1pPr>
            <a:lvl2pPr marL="457200" indent="-228600">
              <a:buFont typeface="Arial" panose="020B0604020202020204" pitchFamily="34" charset="0"/>
              <a:buChar char="‒"/>
              <a:defRPr sz="1800"/>
            </a:lvl2pPr>
            <a:lvl3pPr>
              <a:defRPr sz="16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- Two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 bwMode="auto">
          <a:xfrm>
            <a:off x="344321" y="86003"/>
            <a:ext cx="8580438" cy="865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2"/>
          </p:nvPr>
        </p:nvSpPr>
        <p:spPr>
          <a:xfrm>
            <a:off x="501443" y="1069259"/>
            <a:ext cx="4063181" cy="5220519"/>
          </a:xfrm>
        </p:spPr>
        <p:txBody>
          <a:bodyPr/>
          <a:lstStyle>
            <a:lvl1pPr marL="228600">
              <a:spcAft>
                <a:spcPts val="1200"/>
              </a:spcAft>
              <a:defRPr sz="2000"/>
            </a:lvl1pPr>
            <a:lvl2pPr marL="457200" indent="-228600">
              <a:buFont typeface="Arial" panose="020B0604020202020204" pitchFamily="34" charset="0"/>
              <a:buChar char="‒"/>
              <a:defRPr sz="1800"/>
            </a:lvl2pPr>
            <a:lvl3pPr>
              <a:defRPr sz="16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3" name="Content Placeholder 9"/>
          <p:cNvSpPr>
            <a:spLocks noGrp="1"/>
          </p:cNvSpPr>
          <p:nvPr>
            <p:ph sz="quarter" idx="13"/>
          </p:nvPr>
        </p:nvSpPr>
        <p:spPr>
          <a:xfrm>
            <a:off x="4776017" y="1069259"/>
            <a:ext cx="4063181" cy="5220519"/>
          </a:xfrm>
        </p:spPr>
        <p:txBody>
          <a:bodyPr/>
          <a:lstStyle>
            <a:lvl1pPr marL="228600">
              <a:spcAft>
                <a:spcPts val="1200"/>
              </a:spcAft>
              <a:defRPr sz="2000"/>
            </a:lvl1pPr>
            <a:lvl2pPr marL="457200" indent="-228600">
              <a:buFont typeface="Arial" panose="020B0604020202020204" pitchFamily="34" charset="0"/>
              <a:buChar char="‒"/>
              <a:defRPr sz="1800"/>
            </a:lvl2pPr>
            <a:lvl3pPr>
              <a:defRPr sz="16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148620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- 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/>
          <p:cNvSpPr>
            <a:spLocks noGrp="1"/>
          </p:cNvSpPr>
          <p:nvPr>
            <p:ph type="chart" sz="quarter" idx="12"/>
          </p:nvPr>
        </p:nvSpPr>
        <p:spPr>
          <a:xfrm>
            <a:off x="404813" y="1521069"/>
            <a:ext cx="8399462" cy="43415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344321" y="86003"/>
            <a:ext cx="8580438" cy="865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376086" y="1055574"/>
            <a:ext cx="8451850" cy="427577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200" b="1" i="0"/>
            </a:lvl1pPr>
          </a:lstStyle>
          <a:p>
            <a:pPr lvl="0"/>
            <a:r>
              <a:rPr lang="en-US" dirty="0"/>
              <a:t>Click to edit Master text styles</a:t>
            </a:r>
            <a:endParaRPr lang="en-CA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-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 bwMode="auto">
          <a:xfrm>
            <a:off x="344321" y="86003"/>
            <a:ext cx="8580438" cy="865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 - 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itle 6"/>
          <p:cNvSpPr txBox="1">
            <a:spLocks/>
          </p:cNvSpPr>
          <p:nvPr userDrawn="1"/>
        </p:nvSpPr>
        <p:spPr bwMode="auto">
          <a:xfrm>
            <a:off x="541167" y="2135100"/>
            <a:ext cx="7238607" cy="55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 kern="1200" baseline="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91440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9760149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01" y="6278782"/>
            <a:ext cx="1937853" cy="579218"/>
          </a:xfrm>
          <a:prstGeom prst="rect">
            <a:avLst/>
          </a:prstGeom>
        </p:spPr>
      </p:pic>
      <p:sp>
        <p:nvSpPr>
          <p:cNvPr id="9" name="Slide Number Placeholder 8"/>
          <p:cNvSpPr txBox="1">
            <a:spLocks/>
          </p:cNvSpPr>
          <p:nvPr/>
        </p:nvSpPr>
        <p:spPr>
          <a:xfrm>
            <a:off x="8657253" y="6453119"/>
            <a:ext cx="410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2BB061-133C-4005-839C-094AA68E4FB6}" type="slidenum">
              <a:rPr kumimoji="0" lang="en-CA" sz="10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CA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Footer Placeholder 9"/>
          <p:cNvSpPr txBox="1">
            <a:spLocks/>
          </p:cNvSpPr>
          <p:nvPr/>
        </p:nvSpPr>
        <p:spPr>
          <a:xfrm>
            <a:off x="6906208" y="6453119"/>
            <a:ext cx="1990142" cy="365125"/>
          </a:xfrm>
          <a:prstGeom prst="rect">
            <a:avLst/>
          </a:prstGeom>
        </p:spPr>
        <p:txBody>
          <a:bodyPr vert="horz" lIns="182880" tIns="45720" rIns="91440" bIns="45720" rtlCol="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rPr>
              <a:t>Proprietary and Confidential</a:t>
            </a:r>
            <a:endParaRPr kumimoji="0" lang="en-CA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790292" y="6537726"/>
            <a:ext cx="1283" cy="172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988141"/>
            <a:ext cx="9144000" cy="36576"/>
          </a:xfrm>
          <a:prstGeom prst="rect">
            <a:avLst/>
          </a:prstGeom>
          <a:gradFill flip="none" rotWithShape="1">
            <a:gsLst>
              <a:gs pos="9000">
                <a:schemeClr val="bg1"/>
              </a:gs>
              <a:gs pos="66000">
                <a:schemeClr val="accent2"/>
              </a:gs>
            </a:gsLst>
            <a:lin ang="0" scaled="0"/>
            <a:tileRect/>
          </a:gradFill>
          <a:ln>
            <a:noFill/>
          </a:ln>
        </p:spPr>
        <p:txBody>
          <a:bodyPr wrap="none" rtlCol="0" anchor="ctr">
            <a:noAutofit/>
          </a:bodyPr>
          <a:lstStyle/>
          <a:p>
            <a:pPr algn="ctr"/>
            <a:endParaRPr lang="en-US" sz="1050" dirty="0"/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 bwMode="auto">
          <a:xfrm>
            <a:off x="344321" y="86003"/>
            <a:ext cx="8580438" cy="865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1444" y="1076632"/>
            <a:ext cx="8461275" cy="5202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marL="457200" lvl="2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–"/>
            </a:pPr>
            <a:r>
              <a:rPr lang="en-US" dirty="0"/>
              <a:t>Second level</a:t>
            </a:r>
          </a:p>
          <a:p>
            <a:pPr marL="685800" lvl="3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‒"/>
            </a:pPr>
            <a:r>
              <a:rPr lang="en-US" dirty="0"/>
              <a:t>Third level</a:t>
            </a:r>
          </a:p>
          <a:p>
            <a:pPr marL="914400" lvl="4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‒"/>
            </a:pPr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41" r:id="rId2"/>
    <p:sldLayoutId id="2147483742" r:id="rId3"/>
    <p:sldLayoutId id="2147483736" r:id="rId4"/>
    <p:sldLayoutId id="2147483740" r:id="rId5"/>
    <p:sldLayoutId id="2147483744" r:id="rId6"/>
    <p:sldLayoutId id="2147483737" r:id="rId7"/>
    <p:sldLayoutId id="2147483738" r:id="rId8"/>
    <p:sldLayoutId id="2147483739" r:id="rId9"/>
  </p:sldLayoutIdLst>
  <p:transition>
    <p:fade/>
  </p:transition>
  <p:hf hd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2800" b="1" kern="1200">
          <a:solidFill>
            <a:schemeClr val="accent2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  <a:ea typeface="ＭＳ Ｐゴシック" charset="0"/>
        </a:defRPr>
      </a:lvl9pPr>
    </p:titleStyle>
    <p:bodyStyle>
      <a:lvl1pPr marL="0" indent="-228600" algn="l" rtl="0" eaLnBrk="1" fontAlgn="base" hangingPunct="1">
        <a:lnSpc>
          <a:spcPct val="100000"/>
        </a:lnSpc>
        <a:spcBef>
          <a:spcPts val="0"/>
        </a:spcBef>
        <a:spcAft>
          <a:spcPts val="1400"/>
        </a:spcAft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457200" indent="-228600" algn="l" rtl="0" eaLnBrk="1" fontAlgn="base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charset="0"/>
        <a:buChar char="•"/>
        <a:defRPr sz="2000" kern="1200">
          <a:solidFill>
            <a:srgbClr val="000000"/>
          </a:solidFill>
          <a:latin typeface="Arial" pitchFamily="34" charset="0"/>
          <a:ea typeface="ＭＳ Ｐゴシック" charset="0"/>
          <a:cs typeface="Arial" pitchFamily="34" charset="0"/>
        </a:defRPr>
      </a:lvl2pPr>
      <a:lvl3pPr marL="685800" indent="-228600" algn="l" rtl="0" eaLnBrk="1" fontAlgn="base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itchFamily="34" charset="0"/>
        <a:buChar char="–"/>
        <a:defRPr lang="en-US" sz="1800" kern="1200" dirty="0" smtClean="0">
          <a:solidFill>
            <a:srgbClr val="000000"/>
          </a:solidFill>
          <a:latin typeface="Arial" pitchFamily="34" charset="0"/>
          <a:ea typeface="ＭＳ Ｐゴシック" charset="0"/>
          <a:cs typeface="Arial" pitchFamily="34" charset="0"/>
        </a:defRPr>
      </a:lvl3pPr>
      <a:lvl4pPr marL="914400" indent="-228600" algn="l" rtl="0" eaLnBrk="1" fontAlgn="base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itchFamily="34" charset="0"/>
        <a:buChar char="‒"/>
        <a:defRPr lang="en-US" sz="1600" kern="1200" dirty="0" smtClean="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914400" indent="-228600" algn="l" rtl="0" eaLnBrk="1" fontAlgn="base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itchFamily="34" charset="0"/>
        <a:buChar char="‒"/>
        <a:defRPr lang="en-US" sz="1600" kern="1200" dirty="0" smtClean="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itchFamily="34" charset="0"/>
        <a:buChar char="‒"/>
        <a:defRPr lang="en-US" sz="1600" kern="1200" dirty="0" smtClean="0">
          <a:solidFill>
            <a:schemeClr val="tx1"/>
          </a:solidFill>
          <a:latin typeface="+mn-lt"/>
          <a:ea typeface="ＭＳ Ｐゴシック" charset="0"/>
          <a:cs typeface="+mn-cs"/>
        </a:defRPr>
      </a:lvl6pPr>
      <a:lvl7pPr marL="1371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itchFamily="34" charset="0"/>
        <a:buChar char="‒"/>
        <a:defRPr lang="en-US" sz="1600" kern="1200" dirty="0" smtClean="0">
          <a:solidFill>
            <a:schemeClr val="tx1"/>
          </a:solidFill>
          <a:latin typeface="+mn-lt"/>
          <a:ea typeface="ＭＳ Ｐゴシック" charset="0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tdichip.com/Drivers/VCP.ht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osdn.net/projects/ttssh2/release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HL78xx – Collecting ModemFW logs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collect </a:t>
            </a:r>
            <a:r>
              <a:rPr lang="en-US" dirty="0" err="1"/>
              <a:t>ModemFW</a:t>
            </a:r>
            <a:r>
              <a:rPr lang="en-US" dirty="0"/>
              <a:t> with </a:t>
            </a:r>
            <a:r>
              <a:rPr lang="en-US" dirty="0" err="1"/>
              <a:t>TeraTerm</a:t>
            </a:r>
            <a:r>
              <a:rPr lang="en-US" dirty="0"/>
              <a:t> - R00.01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501444" y="1135117"/>
            <a:ext cx="5924756" cy="5465380"/>
          </a:xfrm>
        </p:spPr>
        <p:txBody>
          <a:bodyPr>
            <a:normAutofit/>
          </a:bodyPr>
          <a:lstStyle/>
          <a:p>
            <a:r>
              <a:rPr lang="en-US" dirty="0"/>
              <a:t>Host</a:t>
            </a:r>
          </a:p>
          <a:p>
            <a:pPr lvl="1"/>
            <a:r>
              <a:rPr lang="en-US" sz="1400" dirty="0"/>
              <a:t>Windows 7, Windows 8, Windows 8.1 or Windows 10</a:t>
            </a:r>
          </a:p>
          <a:p>
            <a:pPr lvl="1"/>
            <a:r>
              <a:rPr lang="en-US" sz="1400" dirty="0"/>
              <a:t>Install FTDI VCP drivers if needed (</a:t>
            </a:r>
            <a:r>
              <a:rPr lang="en-US" sz="1400" dirty="0">
                <a:hlinkClick r:id="rId3"/>
              </a:rPr>
              <a:t>http://www.ftdichip.com/Drivers/VCP.htm</a:t>
            </a:r>
            <a:r>
              <a:rPr lang="en-US" sz="1400" dirty="0"/>
              <a:t>)</a:t>
            </a:r>
          </a:p>
          <a:p>
            <a:pPr lvl="1"/>
            <a:r>
              <a:rPr lang="en-US" sz="1400" dirty="0"/>
              <a:t>Tera Term serial tool available </a:t>
            </a:r>
            <a:r>
              <a:rPr lang="en-US" sz="1400" dirty="0">
                <a:hlinkClick r:id="rId4"/>
              </a:rPr>
              <a:t>here</a:t>
            </a:r>
            <a:endParaRPr lang="en-US" sz="1400" dirty="0"/>
          </a:p>
          <a:p>
            <a:r>
              <a:rPr lang="en-US" dirty="0"/>
              <a:t>Device</a:t>
            </a:r>
          </a:p>
          <a:p>
            <a:pPr lvl="1"/>
            <a:r>
              <a:rPr lang="en-US" sz="1400" dirty="0"/>
              <a:t>AHL78xx.1.4.4.0 FW Release (or newer)</a:t>
            </a:r>
          </a:p>
          <a:p>
            <a:pPr lvl="1"/>
            <a:r>
              <a:rPr lang="en-US" sz="1400" dirty="0"/>
              <a:t>HL78xx LOG Traces activated (</a:t>
            </a:r>
            <a:r>
              <a:rPr lang="en-US" sz="1400" dirty="0">
                <a:latin typeface="Consolas" panose="020B0609020204030204" pitchFamily="49" charset="0"/>
              </a:rPr>
              <a:t>AT+SWITRACEMODE=LOG</a:t>
            </a:r>
            <a:r>
              <a:rPr lang="en-US" sz="1400" dirty="0"/>
              <a:t>)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457200" lvl="2" indent="0">
              <a:buNone/>
            </a:pPr>
            <a:endParaRPr lang="en-US" dirty="0"/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400626" y="5845008"/>
            <a:ext cx="8295970" cy="520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1pPr>
            <a:lvl2pPr marL="457200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‒"/>
              <a:defRPr sz="1800" kern="1200">
                <a:solidFill>
                  <a:srgbClr val="000000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2pPr>
            <a:lvl3pPr marL="685800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–"/>
              <a:defRPr lang="en-US" sz="1600" kern="1200">
                <a:solidFill>
                  <a:srgbClr val="000000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3pPr>
            <a:lvl4pPr marL="914400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‒"/>
              <a:defRPr lang="en-US" sz="16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914400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‒"/>
              <a:defRPr lang="en-US" sz="16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‒"/>
              <a:defRPr lang="en-US" sz="16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6pPr>
            <a:lvl7pPr marL="1371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‒"/>
              <a:defRPr lang="en-US" sz="16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02342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Connection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device</a:t>
            </a:r>
            <a:r>
              <a:rPr lang="fr-FR" dirty="0"/>
              <a:t> and host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501444" y="1135117"/>
            <a:ext cx="4583304" cy="5465380"/>
          </a:xfrm>
        </p:spPr>
        <p:txBody>
          <a:bodyPr>
            <a:normAutofit/>
          </a:bodyPr>
          <a:lstStyle/>
          <a:p>
            <a:r>
              <a:rPr lang="en-US" sz="1600" dirty="0"/>
              <a:t>2 USB cables needed</a:t>
            </a:r>
          </a:p>
          <a:p>
            <a:pPr lvl="1"/>
            <a:r>
              <a:rPr lang="en-US" sz="1400" dirty="0"/>
              <a:t>One for AT UART</a:t>
            </a:r>
          </a:p>
          <a:p>
            <a:pPr lvl="1"/>
            <a:r>
              <a:rPr lang="en-US" sz="1400" dirty="0"/>
              <a:t>One for Debug UART</a:t>
            </a:r>
          </a:p>
          <a:p>
            <a:pPr lvl="2"/>
            <a:r>
              <a:rPr lang="en-US" sz="1200" dirty="0" err="1"/>
              <a:t>ModemFW</a:t>
            </a:r>
            <a:r>
              <a:rPr lang="en-US" sz="1200" dirty="0"/>
              <a:t> logs will be retrieved from this UART</a:t>
            </a:r>
          </a:p>
          <a:p>
            <a:r>
              <a:rPr lang="en-US" sz="1600" dirty="0"/>
              <a:t>Interfaces seen on host side</a:t>
            </a:r>
          </a:p>
          <a:p>
            <a:pPr lvl="1"/>
            <a:r>
              <a:rPr lang="en-US" sz="1400" dirty="0"/>
              <a:t>When AT UART is connected to the host, a first Virtual COM port is created</a:t>
            </a:r>
          </a:p>
          <a:p>
            <a:pPr lvl="2"/>
            <a:r>
              <a:rPr lang="en-US" sz="1200" dirty="0"/>
              <a:t>Note the COM port number (here COM8)</a:t>
            </a:r>
          </a:p>
          <a:p>
            <a:pPr lvl="1"/>
            <a:r>
              <a:rPr lang="en-US" sz="1400" dirty="0"/>
              <a:t>When Debug UART is connected to the host, a second Virtual COM port is created</a:t>
            </a:r>
          </a:p>
          <a:p>
            <a:pPr lvl="2"/>
            <a:r>
              <a:rPr lang="en-US" sz="1200" dirty="0"/>
              <a:t>Note the COM port number (here COM12)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457200" lvl="2" indent="0">
              <a:buNone/>
            </a:pPr>
            <a:endParaRPr lang="en-US" dirty="0"/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400626" y="5845008"/>
            <a:ext cx="8295970" cy="520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1pPr>
            <a:lvl2pPr marL="457200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‒"/>
              <a:defRPr sz="1800" kern="1200">
                <a:solidFill>
                  <a:srgbClr val="000000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2pPr>
            <a:lvl3pPr marL="685800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–"/>
              <a:defRPr lang="en-US" sz="1600" kern="1200">
                <a:solidFill>
                  <a:srgbClr val="000000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3pPr>
            <a:lvl4pPr marL="914400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‒"/>
              <a:defRPr lang="en-US" sz="16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914400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‒"/>
              <a:defRPr lang="en-US" sz="16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‒"/>
              <a:defRPr lang="en-US" sz="16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6pPr>
            <a:lvl7pPr marL="1371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‒"/>
              <a:defRPr lang="en-US" sz="16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1F6151-3148-4728-B7F9-04D077B3C5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634" r="13487"/>
          <a:stretch/>
        </p:blipFill>
        <p:spPr>
          <a:xfrm>
            <a:off x="5939327" y="1135117"/>
            <a:ext cx="2165951" cy="22599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A7EF4E-A90D-44BC-9C8D-7AF4A780C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4465" y="3483107"/>
            <a:ext cx="1787715" cy="29009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C58D6E-1F80-4657-82EC-EED96F8E32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738" y="3483107"/>
            <a:ext cx="1787716" cy="29009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1982778-D120-4F5C-8273-B0EAF2A9038D}"/>
              </a:ext>
            </a:extLst>
          </p:cNvPr>
          <p:cNvSpPr/>
          <p:nvPr/>
        </p:nvSpPr>
        <p:spPr>
          <a:xfrm>
            <a:off x="4973652" y="5623133"/>
            <a:ext cx="1117768" cy="2218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62500" lnSpcReduction="20000"/>
          </a:bodyPr>
          <a:lstStyle/>
          <a:p>
            <a:pPr algn="ctr"/>
            <a:endParaRPr lang="en-US" sz="1600" dirty="0" err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21DEB1-E2E6-4FF1-A71D-C9B216891B51}"/>
              </a:ext>
            </a:extLst>
          </p:cNvPr>
          <p:cNvSpPr/>
          <p:nvPr/>
        </p:nvSpPr>
        <p:spPr>
          <a:xfrm>
            <a:off x="6987510" y="5611945"/>
            <a:ext cx="1117768" cy="32738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/>
          <a:p>
            <a:pPr algn="ctr"/>
            <a:endParaRPr lang="en-US" sz="1600" dirty="0" err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62ABDB-817F-42CA-BF4A-568C36577FB5}"/>
              </a:ext>
            </a:extLst>
          </p:cNvPr>
          <p:cNvSpPr/>
          <p:nvPr/>
        </p:nvSpPr>
        <p:spPr>
          <a:xfrm>
            <a:off x="6048690" y="2642506"/>
            <a:ext cx="360656" cy="3199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 algn="ctr"/>
            <a:endParaRPr lang="en-US" sz="1600" dirty="0" err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A31D1D-2B70-482C-8432-397833E8D5EF}"/>
              </a:ext>
            </a:extLst>
          </p:cNvPr>
          <p:cNvSpPr/>
          <p:nvPr/>
        </p:nvSpPr>
        <p:spPr>
          <a:xfrm>
            <a:off x="7336940" y="2547078"/>
            <a:ext cx="360656" cy="3199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 algn="ctr"/>
            <a:endParaRPr lang="en-US" sz="1600" dirty="0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74F689-FC36-4D7E-AC9F-0F1E5F4DC737}"/>
              </a:ext>
            </a:extLst>
          </p:cNvPr>
          <p:cNvSpPr txBox="1"/>
          <p:nvPr/>
        </p:nvSpPr>
        <p:spPr>
          <a:xfrm>
            <a:off x="6373431" y="2882237"/>
            <a:ext cx="61407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Debug UART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BA982B-EA8C-4FDB-BEAC-6FD499B55754}"/>
              </a:ext>
            </a:extLst>
          </p:cNvPr>
          <p:cNvSpPr txBox="1"/>
          <p:nvPr/>
        </p:nvSpPr>
        <p:spPr>
          <a:xfrm>
            <a:off x="7336940" y="2880153"/>
            <a:ext cx="61407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AT UART</a:t>
            </a:r>
          </a:p>
        </p:txBody>
      </p:sp>
    </p:spTree>
    <p:extLst>
      <p:ext uri="{BB962C8B-B14F-4D97-AF65-F5344CB8AC3E}">
        <p14:creationId xmlns:p14="http://schemas.microsoft.com/office/powerpoint/2010/main" val="126878731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Logs configuration on host side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2"/>
          </p:nvPr>
        </p:nvSpPr>
        <p:spPr>
          <a:xfrm>
            <a:off x="462383" y="1207017"/>
            <a:ext cx="4757317" cy="5158614"/>
          </a:xfrm>
        </p:spPr>
        <p:txBody>
          <a:bodyPr>
            <a:noAutofit/>
          </a:bodyPr>
          <a:lstStyle/>
          <a:p>
            <a:r>
              <a:rPr lang="en-US" sz="1600" dirty="0"/>
              <a:t>Launch </a:t>
            </a:r>
            <a:r>
              <a:rPr lang="fr-FR" sz="1600" dirty="0" err="1"/>
              <a:t>TeraTerm</a:t>
            </a:r>
            <a:endParaRPr lang="en-US" sz="1600" dirty="0"/>
          </a:p>
          <a:p>
            <a:pPr lvl="1"/>
            <a:r>
              <a:rPr lang="en-US" sz="1400" dirty="0"/>
              <a:t>Go to “</a:t>
            </a:r>
            <a:r>
              <a:rPr lang="en-US" sz="1400" i="1" dirty="0"/>
              <a:t>Setup</a:t>
            </a:r>
            <a:r>
              <a:rPr lang="en-US" sz="1400" dirty="0"/>
              <a:t>” and “</a:t>
            </a:r>
            <a:r>
              <a:rPr lang="en-US" sz="1400" i="1" dirty="0"/>
              <a:t>Serial port</a:t>
            </a:r>
            <a:r>
              <a:rPr lang="en-US" sz="1400" dirty="0"/>
              <a:t>” </a:t>
            </a:r>
          </a:p>
          <a:p>
            <a:pPr lvl="1"/>
            <a:r>
              <a:rPr lang="en-US" sz="1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Port:</a:t>
            </a:r>
            <a:r>
              <a:rPr lang="en-US" sz="1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COM used and selected must be the UART 0 (Debug UART)</a:t>
            </a:r>
          </a:p>
          <a:p>
            <a:pPr lvl="1"/>
            <a:r>
              <a:rPr lang="en-US" sz="1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Speed:</a:t>
            </a:r>
            <a:r>
              <a:rPr lang="en-US" sz="1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Must be set to </a:t>
            </a:r>
            <a:r>
              <a:rPr lang="en-US" sz="1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921600</a:t>
            </a:r>
          </a:p>
          <a:p>
            <a:r>
              <a:rPr lang="en-US" sz="16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Logs file creation</a:t>
            </a:r>
          </a:p>
          <a:p>
            <a:pPr lvl="1"/>
            <a:r>
              <a:rPr lang="en-US" sz="1400" dirty="0"/>
              <a:t>Go to “</a:t>
            </a:r>
            <a:r>
              <a:rPr lang="en-US" sz="1400" i="1" dirty="0"/>
              <a:t>TTY recording selection</a:t>
            </a:r>
            <a:r>
              <a:rPr lang="en-US" sz="1400" dirty="0"/>
              <a:t>” </a:t>
            </a:r>
            <a:r>
              <a:rPr lang="en-US" sz="1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→ The logs are saved in a file with </a:t>
            </a:r>
            <a:r>
              <a:rPr lang="en-US" sz="1400" i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400" i="1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tty</a:t>
            </a:r>
            <a:r>
              <a:rPr lang="en-US" sz="1400" i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extension </a:t>
            </a:r>
            <a:r>
              <a:rPr lang="en-US" sz="1400" i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400" i="1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log_file</a:t>
            </a:r>
            <a:r>
              <a:rPr lang="en-US" sz="1400" i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&gt;.</a:t>
            </a:r>
            <a:r>
              <a:rPr lang="en-US" sz="1400" i="1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tty</a:t>
            </a:r>
            <a:r>
              <a:rPr lang="en-US" sz="1400" i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for example</a:t>
            </a:r>
          </a:p>
          <a:p>
            <a:r>
              <a:rPr lang="en-US" sz="16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After logs collection done, rename </a:t>
            </a:r>
            <a:r>
              <a:rPr lang="en-US" sz="1600" i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600" i="1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tty</a:t>
            </a:r>
            <a:r>
              <a:rPr lang="en-US" sz="16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extension to </a:t>
            </a:r>
            <a:r>
              <a:rPr lang="en-US" sz="1600" i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.bin </a:t>
            </a:r>
            <a:r>
              <a:rPr lang="en-US" sz="16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and provided the </a:t>
            </a:r>
            <a:r>
              <a:rPr lang="en-US" sz="1600" i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600" i="1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log_file</a:t>
            </a:r>
            <a:r>
              <a:rPr lang="en-US" sz="1600" i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&gt;.bin </a:t>
            </a:r>
            <a:r>
              <a:rPr lang="en-US" sz="16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for analysis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400626" y="5845008"/>
            <a:ext cx="8295970" cy="520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1pPr>
            <a:lvl2pPr marL="457200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‒"/>
              <a:defRPr sz="1800" kern="1200">
                <a:solidFill>
                  <a:srgbClr val="000000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2pPr>
            <a:lvl3pPr marL="685800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–"/>
              <a:defRPr lang="en-US" sz="1600" kern="1200">
                <a:solidFill>
                  <a:srgbClr val="000000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3pPr>
            <a:lvl4pPr marL="914400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‒"/>
              <a:defRPr lang="en-US" sz="16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914400" indent="-2286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‒"/>
              <a:defRPr lang="en-US" sz="16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‒"/>
              <a:defRPr lang="en-US" sz="16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6pPr>
            <a:lvl7pPr marL="1371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itchFamily="34" charset="0"/>
              <a:buChar char="‒"/>
              <a:defRPr lang="en-US" sz="16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endParaRPr lang="en-US" dirty="0"/>
          </a:p>
        </p:txBody>
      </p:sp>
      <p:pic>
        <p:nvPicPr>
          <p:cNvPr id="10" name="Picture 9" descr="C:\f47da7edb02fd80674885014c5ccded1">
            <a:extLst>
              <a:ext uri="{FF2B5EF4-FFF2-40B4-BE49-F238E27FC236}">
                <a16:creationId xmlns:a16="http://schemas.microsoft.com/office/drawing/2014/main" id="{A322D156-1A11-42D9-9D51-E4670293AF7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4847" y="1143517"/>
            <a:ext cx="3419912" cy="2779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C:\007c7a68aa91319ed74e2b63267a79dc">
            <a:extLst>
              <a:ext uri="{FF2B5EF4-FFF2-40B4-BE49-F238E27FC236}">
                <a16:creationId xmlns:a16="http://schemas.microsoft.com/office/drawing/2014/main" id="{EE0C0F4F-D380-450B-A2FA-B3401BB317D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278" y="3786324"/>
            <a:ext cx="3648075" cy="27795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881729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Sie15_4x3 template">
  <a:themeElements>
    <a:clrScheme name="Sierra Wireless Colours">
      <a:dk1>
        <a:srgbClr val="000000"/>
      </a:dk1>
      <a:lt1>
        <a:srgbClr val="FFFFFF"/>
      </a:lt1>
      <a:dk2>
        <a:srgbClr val="5D5E61"/>
      </a:dk2>
      <a:lt2>
        <a:srgbClr val="FFFFFF"/>
      </a:lt2>
      <a:accent1>
        <a:srgbClr val="A0ACAF"/>
      </a:accent1>
      <a:accent2>
        <a:srgbClr val="E53B30"/>
      </a:accent2>
      <a:accent3>
        <a:srgbClr val="666666"/>
      </a:accent3>
      <a:accent4>
        <a:srgbClr val="A09B25"/>
      </a:accent4>
      <a:accent5>
        <a:srgbClr val="E5AE12"/>
      </a:accent5>
      <a:accent6>
        <a:srgbClr val="006892"/>
      </a:accent6>
      <a:hlink>
        <a:srgbClr val="E53B30"/>
      </a:hlink>
      <a:folHlink>
        <a:srgbClr val="666666"/>
      </a:folHlink>
    </a:clrScheme>
    <a:fontScheme name="Sierra Wirele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 w="12700">
          <a:solidFill>
            <a:schemeClr val="tx2"/>
          </a:solidFill>
        </a:ln>
      </a:spPr>
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<a:prstTxWarp prst="textNoShape">
          <a:avLst/>
        </a:prstTxWarp>
        <a:normAutofit/>
      </a:bodyPr>
      <a:lstStyle>
        <a:defPPr algn="ctr">
          <a:defRPr sz="1600" dirty="0" err="1" smtClean="0"/>
        </a:defPPr>
      </a:lstStyle>
    </a:spDef>
    <a:lnDef>
      <a:spPr>
        <a:ln w="12700">
          <a:solidFill>
            <a:schemeClr val="tx2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48097867E6C449A114071E0634E56B" ma:contentTypeVersion="1" ma:contentTypeDescription="Create a new document." ma:contentTypeScope="" ma:versionID="3dde096d69ab5857cdc974d3d09c8d8a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3421B9A4-707A-4ACD-A306-FF2BCCF8B8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7C145F8B-01A2-4D71-846C-71BB0E10FD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02D680-3E2C-482E-9E2E-DA3DDC91443F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23540</TotalTime>
  <Words>254</Words>
  <Application>Microsoft Office PowerPoint</Application>
  <PresentationFormat>On-screen Show (4:3)</PresentationFormat>
  <Paragraphs>59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ＭＳ Ｐゴシック</vt:lpstr>
      <vt:lpstr>Arial</vt:lpstr>
      <vt:lpstr>Calibri</vt:lpstr>
      <vt:lpstr>Consolas</vt:lpstr>
      <vt:lpstr>Sie15_4x3 template</vt:lpstr>
      <vt:lpstr>HL78xx – Collecting ModemFW logs</vt:lpstr>
      <vt:lpstr>Prerequisites</vt:lpstr>
      <vt:lpstr>Connection between device and host</vt:lpstr>
      <vt:lpstr>Logs configuration on host side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HL78xx - How to collect ModemFW logs</dc:title>
  <dc:creator>yhascoet@sierrawireless.com</dc:creator>
  <cp:lastModifiedBy>Alban Roche</cp:lastModifiedBy>
  <cp:revision>824</cp:revision>
  <cp:lastPrinted>2018-07-06T14:11:05Z</cp:lastPrinted>
  <dcterms:created xsi:type="dcterms:W3CDTF">2012-09-05T19:37:14Z</dcterms:created>
  <dcterms:modified xsi:type="dcterms:W3CDTF">2018-07-19T08:16:32Z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0x0101004748097867E6C449A114071E0634E56B</vt:lpwstr>
  </property>
</Properties>
</file>