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3" r:id="rId3"/>
    <p:sldId id="274" r:id="rId4"/>
    <p:sldId id="269" r:id="rId5"/>
    <p:sldId id="258" r:id="rId6"/>
    <p:sldId id="259" r:id="rId7"/>
    <p:sldId id="260" r:id="rId8"/>
    <p:sldId id="261" r:id="rId9"/>
    <p:sldId id="272" r:id="rId10"/>
    <p:sldId id="262" r:id="rId11"/>
    <p:sldId id="263" r:id="rId12"/>
    <p:sldId id="264" r:id="rId13"/>
    <p:sldId id="265" r:id="rId14"/>
    <p:sldId id="266" r:id="rId15"/>
    <p:sldId id="267"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3/23/2018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3/23/2018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3/23/2018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3/23/2018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3/23/2018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3/23/2018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3/23/2018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3/23/2018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3/23/2018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3/23/2018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3/23/2018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3/23/2018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3/23/2018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3/23/2018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3/23/2018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3/23/2018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3/23/2018</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mailto:example@tma.com.vn"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hyperlink" Target="https://git-scm.com/"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1432560"/>
            <a:ext cx="8915399" cy="2262781"/>
          </a:xfrm>
        </p:spPr>
        <p:txBody>
          <a:bodyPr/>
          <a:lstStyle/>
          <a:p>
            <a:r>
              <a:rPr lang="en-US" dirty="0" smtClean="0">
                <a:latin typeface="Times New Roman" panose="02020603050405020304" pitchFamily="18" charset="0"/>
                <a:cs typeface="Times New Roman" panose="02020603050405020304" pitchFamily="18" charset="0"/>
              </a:rPr>
              <a:t>How to use </a:t>
            </a:r>
            <a:r>
              <a:rPr lang="en-US" dirty="0" err="1" smtClean="0">
                <a:latin typeface="Times New Roman" panose="02020603050405020304" pitchFamily="18" charset="0"/>
                <a:cs typeface="Times New Roman" panose="02020603050405020304" pitchFamily="18" charset="0"/>
              </a:rPr>
              <a:t>Git</a:t>
            </a:r>
            <a:r>
              <a:rPr lang="en-US" dirty="0" smtClean="0"/>
              <a:t/>
            </a:r>
            <a:br>
              <a:rPr lang="en-US" dirty="0" smtClean="0"/>
            </a:br>
            <a:endParaRPr lang="en-US" dirty="0"/>
          </a:p>
        </p:txBody>
      </p:sp>
    </p:spTree>
    <p:extLst>
      <p:ext uri="{BB962C8B-B14F-4D97-AF65-F5344CB8AC3E}">
        <p14:creationId xmlns:p14="http://schemas.microsoft.com/office/powerpoint/2010/main" val="35969347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780629"/>
            <a:ext cx="8911687" cy="924604"/>
          </a:xfrm>
        </p:spPr>
        <p:txBody>
          <a:bodyPr>
            <a:normAutofit/>
          </a:bodyPr>
          <a:lstStyle/>
          <a:p>
            <a:r>
              <a:rPr lang="en-US" sz="4000" dirty="0" err="1" smtClean="0">
                <a:latin typeface="Times New Roman" panose="02020603050405020304" pitchFamily="18" charset="0"/>
                <a:cs typeface="Times New Roman" panose="02020603050405020304" pitchFamily="18" charset="0"/>
              </a:rPr>
              <a:t>Git</a:t>
            </a:r>
            <a:r>
              <a:rPr lang="en-US" sz="4000" dirty="0" smtClean="0">
                <a:latin typeface="Times New Roman" panose="02020603050405020304" pitchFamily="18" charset="0"/>
                <a:cs typeface="Times New Roman" panose="02020603050405020304" pitchFamily="18" charset="0"/>
              </a:rPr>
              <a:t> </a:t>
            </a:r>
            <a:r>
              <a:rPr lang="en-US" sz="4000" dirty="0" err="1" smtClean="0">
                <a:latin typeface="Times New Roman" panose="02020603050405020304" pitchFamily="18" charset="0"/>
                <a:cs typeface="Times New Roman" panose="02020603050405020304" pitchFamily="18" charset="0"/>
              </a:rPr>
              <a:t>là</a:t>
            </a:r>
            <a:r>
              <a:rPr lang="en-US" sz="4000" dirty="0" smtClean="0">
                <a:latin typeface="Times New Roman" panose="02020603050405020304" pitchFamily="18" charset="0"/>
                <a:cs typeface="Times New Roman" panose="02020603050405020304" pitchFamily="18" charset="0"/>
              </a:rPr>
              <a:t> </a:t>
            </a:r>
            <a:r>
              <a:rPr lang="en-US" sz="4000" dirty="0" err="1" smtClean="0">
                <a:latin typeface="Times New Roman" panose="02020603050405020304" pitchFamily="18" charset="0"/>
                <a:cs typeface="Times New Roman" panose="02020603050405020304" pitchFamily="18" charset="0"/>
              </a:rPr>
              <a:t>gì</a:t>
            </a:r>
            <a:r>
              <a:rPr lang="en-US" sz="4000" dirty="0" smtClean="0">
                <a:latin typeface="Times New Roman" panose="02020603050405020304" pitchFamily="18" charset="0"/>
                <a:cs typeface="Times New Roman" panose="02020603050405020304" pitchFamily="18" charset="0"/>
              </a:rPr>
              <a:t>?</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vi-VN" sz="2000" dirty="0">
                <a:latin typeface="Times New Roman" panose="02020603050405020304" pitchFamily="18" charset="0"/>
                <a:cs typeface="Times New Roman" panose="02020603050405020304" pitchFamily="18" charset="0"/>
              </a:rPr>
              <a:t>Git là tên gọi của một Hệ thống quản lý phiên bản phân tán (Distributed Version Control System – DVCS) là một trong những hệ thống quản lý phiên bản phân tán phổ biến nhất hiện nay. DVCS nghĩa là hệ thống giúp mỗi máy tính có thể lưu trữ nhiều phiên bản khác nhau của một mã nguồn được nhân bản (clone) từ một kho chứa mã nguồn (repository), mỗi thay đổi vào mã nguồn trên máy tính sẽ có thể ủy thác (commit) rồi đưa lên máy chủ nơi đặt kho chứa chính. Và một máy tính khác (nếu họ có quyền truy cập) cũng có thể clone lại mã nguồn từ kho chứa hoặc clone lại một tập hợp các thay đổi mới nhất trên máy tính kia.</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4895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err="1" smtClean="0">
                <a:latin typeface="Times New Roman" panose="02020603050405020304" pitchFamily="18" charset="0"/>
                <a:cs typeface="Times New Roman" panose="02020603050405020304" pitchFamily="18" charset="0"/>
              </a:rPr>
              <a:t>Tại</a:t>
            </a:r>
            <a:r>
              <a:rPr lang="en-US" sz="4000" dirty="0" smtClean="0">
                <a:latin typeface="Times New Roman" panose="02020603050405020304" pitchFamily="18" charset="0"/>
                <a:cs typeface="Times New Roman" panose="02020603050405020304" pitchFamily="18" charset="0"/>
              </a:rPr>
              <a:t> </a:t>
            </a:r>
            <a:r>
              <a:rPr lang="en-US" sz="4000" dirty="0" err="1" smtClean="0">
                <a:latin typeface="Times New Roman" panose="02020603050405020304" pitchFamily="18" charset="0"/>
                <a:cs typeface="Times New Roman" panose="02020603050405020304" pitchFamily="18" charset="0"/>
              </a:rPr>
              <a:t>sao</a:t>
            </a:r>
            <a:r>
              <a:rPr lang="en-US" sz="4000" dirty="0" smtClean="0">
                <a:latin typeface="Times New Roman" panose="02020603050405020304" pitchFamily="18" charset="0"/>
                <a:cs typeface="Times New Roman" panose="02020603050405020304" pitchFamily="18" charset="0"/>
              </a:rPr>
              <a:t> </a:t>
            </a:r>
            <a:r>
              <a:rPr lang="en-US" sz="4000" dirty="0" err="1" smtClean="0">
                <a:latin typeface="Times New Roman" panose="02020603050405020304" pitchFamily="18" charset="0"/>
                <a:cs typeface="Times New Roman" panose="02020603050405020304" pitchFamily="18" charset="0"/>
              </a:rPr>
              <a:t>lại</a:t>
            </a:r>
            <a:r>
              <a:rPr lang="en-US" sz="4000" dirty="0" smtClean="0">
                <a:latin typeface="Times New Roman" panose="02020603050405020304" pitchFamily="18" charset="0"/>
                <a:cs typeface="Times New Roman" panose="02020603050405020304" pitchFamily="18" charset="0"/>
              </a:rPr>
              <a:t> </a:t>
            </a:r>
            <a:r>
              <a:rPr lang="en-US" sz="4000" dirty="0" err="1" smtClean="0">
                <a:latin typeface="Times New Roman" panose="02020603050405020304" pitchFamily="18" charset="0"/>
                <a:cs typeface="Times New Roman" panose="02020603050405020304" pitchFamily="18" charset="0"/>
              </a:rPr>
              <a:t>sử</a:t>
            </a:r>
            <a:r>
              <a:rPr lang="en-US" sz="4000" dirty="0" smtClean="0">
                <a:latin typeface="Times New Roman" panose="02020603050405020304" pitchFamily="18" charset="0"/>
                <a:cs typeface="Times New Roman" panose="02020603050405020304" pitchFamily="18" charset="0"/>
              </a:rPr>
              <a:t> </a:t>
            </a:r>
            <a:r>
              <a:rPr lang="en-US" sz="4000" dirty="0" err="1" smtClean="0">
                <a:latin typeface="Times New Roman" panose="02020603050405020304" pitchFamily="18" charset="0"/>
                <a:cs typeface="Times New Roman" panose="02020603050405020304" pitchFamily="18" charset="0"/>
              </a:rPr>
              <a:t>dụng</a:t>
            </a:r>
            <a:r>
              <a:rPr lang="en-US" sz="4000" dirty="0" smtClean="0">
                <a:latin typeface="Times New Roman" panose="02020603050405020304" pitchFamily="18" charset="0"/>
                <a:cs typeface="Times New Roman" panose="02020603050405020304" pitchFamily="18" charset="0"/>
              </a:rPr>
              <a:t> </a:t>
            </a:r>
            <a:r>
              <a:rPr lang="en-US" sz="4000" dirty="0" err="1" smtClean="0">
                <a:latin typeface="Times New Roman" panose="02020603050405020304" pitchFamily="18" charset="0"/>
                <a:cs typeface="Times New Roman" panose="02020603050405020304" pitchFamily="18" charset="0"/>
              </a:rPr>
              <a:t>Git</a:t>
            </a:r>
            <a:r>
              <a:rPr lang="en-US" sz="4000" dirty="0">
                <a:latin typeface="Times New Roman" panose="02020603050405020304" pitchFamily="18" charset="0"/>
                <a:cs typeface="Times New Roman" panose="02020603050405020304" pitchFamily="18" charset="0"/>
              </a:rPr>
              <a:t>?</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vi-VN" sz="2000" dirty="0">
                <a:latin typeface="Times New Roman" panose="02020603050405020304" pitchFamily="18" charset="0"/>
                <a:cs typeface="Times New Roman" panose="02020603050405020304" pitchFamily="18" charset="0"/>
              </a:rPr>
              <a:t>Git dễ sử dụng, an toàn và nhanh chóng.</a:t>
            </a:r>
          </a:p>
          <a:p>
            <a:r>
              <a:rPr lang="vi-VN" sz="2000" dirty="0">
                <a:latin typeface="Times New Roman" panose="02020603050405020304" pitchFamily="18" charset="0"/>
                <a:cs typeface="Times New Roman" panose="02020603050405020304" pitchFamily="18" charset="0"/>
              </a:rPr>
              <a:t>Có thể giúp quy trình làm việc code theo nhóm đơn giản hơn rất nhiều bằng việc kết hợp các phân nhánh (branch).</a:t>
            </a:r>
          </a:p>
          <a:p>
            <a:r>
              <a:rPr lang="vi-VN" sz="2000" dirty="0">
                <a:latin typeface="Times New Roman" panose="02020603050405020304" pitchFamily="18" charset="0"/>
                <a:cs typeface="Times New Roman" panose="02020603050405020304" pitchFamily="18" charset="0"/>
              </a:rPr>
              <a:t>Bạn có thể làm việc ở bất cứ đâu vì chỉ cần clone mã nguồn từ kho chứa hoặc clone một phiên bản thay đổi nào đó từ kho chứa, hoặc một nhánh nào đó từ kho chứa.</a:t>
            </a:r>
          </a:p>
          <a:p>
            <a:r>
              <a:rPr lang="vi-VN" sz="2000" dirty="0">
                <a:latin typeface="Times New Roman" panose="02020603050405020304" pitchFamily="18" charset="0"/>
                <a:cs typeface="Times New Roman" panose="02020603050405020304" pitchFamily="18" charset="0"/>
              </a:rPr>
              <a:t>Dễ dàng trong việc deployment sản phẩm.</a:t>
            </a:r>
          </a:p>
          <a:p>
            <a:r>
              <a:rPr lang="vi-VN" sz="2000" dirty="0">
                <a:latin typeface="Times New Roman" panose="02020603050405020304" pitchFamily="18" charset="0"/>
                <a:cs typeface="Times New Roman" panose="02020603050405020304" pitchFamily="18" charset="0"/>
              </a:rPr>
              <a:t>Và nhiều hơn thế nữa.</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3507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err="1" smtClean="0">
                <a:latin typeface="Times New Roman" panose="02020603050405020304" pitchFamily="18" charset="0"/>
                <a:cs typeface="Times New Roman" panose="02020603050405020304" pitchFamily="18" charset="0"/>
              </a:rPr>
              <a:t>Phương</a:t>
            </a:r>
            <a:r>
              <a:rPr lang="en-US" sz="4000" dirty="0" smtClean="0">
                <a:latin typeface="Times New Roman" panose="02020603050405020304" pitchFamily="18" charset="0"/>
                <a:cs typeface="Times New Roman" panose="02020603050405020304" pitchFamily="18" charset="0"/>
              </a:rPr>
              <a:t> </a:t>
            </a:r>
            <a:r>
              <a:rPr lang="en-US" sz="4000" dirty="0" err="1" smtClean="0">
                <a:latin typeface="Times New Roman" panose="02020603050405020304" pitchFamily="18" charset="0"/>
                <a:cs typeface="Times New Roman" panose="02020603050405020304" pitchFamily="18" charset="0"/>
              </a:rPr>
              <a:t>thức</a:t>
            </a:r>
            <a:r>
              <a:rPr lang="en-US" sz="4000" dirty="0" smtClean="0">
                <a:latin typeface="Times New Roman" panose="02020603050405020304" pitchFamily="18" charset="0"/>
                <a:cs typeface="Times New Roman" panose="02020603050405020304" pitchFamily="18" charset="0"/>
              </a:rPr>
              <a:t> </a:t>
            </a:r>
            <a:r>
              <a:rPr lang="en-US" sz="4000" dirty="0" err="1" smtClean="0">
                <a:latin typeface="Times New Roman" panose="02020603050405020304" pitchFamily="18" charset="0"/>
                <a:cs typeface="Times New Roman" panose="02020603050405020304" pitchFamily="18" charset="0"/>
              </a:rPr>
              <a:t>hoạt</a:t>
            </a:r>
            <a:r>
              <a:rPr lang="en-US" sz="4000" dirty="0" smtClean="0">
                <a:latin typeface="Times New Roman" panose="02020603050405020304" pitchFamily="18" charset="0"/>
                <a:cs typeface="Times New Roman" panose="02020603050405020304" pitchFamily="18" charset="0"/>
              </a:rPr>
              <a:t> </a:t>
            </a:r>
            <a:r>
              <a:rPr lang="en-US" sz="4000" dirty="0" err="1" smtClean="0">
                <a:latin typeface="Times New Roman" panose="02020603050405020304" pitchFamily="18" charset="0"/>
                <a:cs typeface="Times New Roman" panose="02020603050405020304" pitchFamily="18" charset="0"/>
              </a:rPr>
              <a:t>động</a:t>
            </a:r>
            <a:r>
              <a:rPr lang="en-US" sz="4000" dirty="0" smtClean="0">
                <a:latin typeface="Times New Roman" panose="02020603050405020304" pitchFamily="18" charset="0"/>
                <a:cs typeface="Times New Roman" panose="02020603050405020304" pitchFamily="18" charset="0"/>
              </a:rPr>
              <a:t> </a:t>
            </a:r>
            <a:r>
              <a:rPr lang="en-US" sz="4000" dirty="0" err="1" smtClean="0">
                <a:latin typeface="Times New Roman" panose="02020603050405020304" pitchFamily="18" charset="0"/>
                <a:cs typeface="Times New Roman" panose="02020603050405020304" pitchFamily="18" charset="0"/>
              </a:rPr>
              <a:t>của</a:t>
            </a:r>
            <a:r>
              <a:rPr lang="en-US" sz="4000" dirty="0" smtClean="0">
                <a:latin typeface="Times New Roman" panose="02020603050405020304" pitchFamily="18" charset="0"/>
                <a:cs typeface="Times New Roman" panose="02020603050405020304" pitchFamily="18" charset="0"/>
              </a:rPr>
              <a:t> </a:t>
            </a:r>
            <a:r>
              <a:rPr lang="en-US" sz="4000" dirty="0" err="1" smtClean="0">
                <a:latin typeface="Times New Roman" panose="02020603050405020304" pitchFamily="18" charset="0"/>
                <a:cs typeface="Times New Roman" panose="02020603050405020304" pitchFamily="18" charset="0"/>
              </a:rPr>
              <a:t>Git</a:t>
            </a:r>
            <a:endParaRPr lang="en-US" sz="4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6825" y="1600200"/>
            <a:ext cx="5591175" cy="4795837"/>
          </a:xfrm>
          <a:prstGeom prst="rect">
            <a:avLst/>
          </a:prstGeom>
        </p:spPr>
      </p:pic>
    </p:spTree>
    <p:extLst>
      <p:ext uri="{BB962C8B-B14F-4D97-AF65-F5344CB8AC3E}">
        <p14:creationId xmlns:p14="http://schemas.microsoft.com/office/powerpoint/2010/main" val="31687675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900510"/>
            <a:ext cx="8915399" cy="1468800"/>
          </a:xfrm>
        </p:spPr>
        <p:txBody>
          <a:bodyPr/>
          <a:lstStyle/>
          <a:p>
            <a:r>
              <a:rPr lang="en-US" dirty="0" err="1">
                <a:latin typeface="Times New Roman" panose="02020603050405020304" pitchFamily="18" charset="0"/>
                <a:cs typeface="Times New Roman" panose="02020603050405020304" pitchFamily="18" charset="0"/>
              </a:rPr>
              <a:t>Thiết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chứng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Git</a:t>
            </a:r>
            <a:r>
              <a:rPr lang="en-US" dirty="0">
                <a:latin typeface="Times New Roman" panose="02020603050405020304" pitchFamily="18" charset="0"/>
                <a:cs typeface="Times New Roman" panose="02020603050405020304" pitchFamily="18" charset="0"/>
              </a:rPr>
              <a:t> Bash</a:t>
            </a:r>
          </a:p>
        </p:txBody>
      </p:sp>
      <p:sp>
        <p:nvSpPr>
          <p:cNvPr id="3" name="Text Placeholder 2"/>
          <p:cNvSpPr>
            <a:spLocks noGrp="1"/>
          </p:cNvSpPr>
          <p:nvPr>
            <p:ph type="body" idx="1"/>
          </p:nvPr>
        </p:nvSpPr>
        <p:spPr>
          <a:xfrm>
            <a:off x="2589212" y="2592869"/>
            <a:ext cx="8915399" cy="3950806"/>
          </a:xfrm>
        </p:spPr>
        <p:txBody>
          <a:bodyPr>
            <a:noAutofit/>
          </a:bodyPr>
          <a:lstStyle/>
          <a:p>
            <a:pPr marL="342900" indent="-342900">
              <a:buFontTx/>
              <a:buChar char="-"/>
            </a:pPr>
            <a:r>
              <a:rPr lang="en-US" dirty="0" smtClean="0">
                <a:latin typeface="Times New Roman" panose="02020603050405020304" pitchFamily="18" charset="0"/>
                <a:cs typeface="Times New Roman" panose="02020603050405020304" pitchFamily="18" charset="0"/>
              </a:rPr>
              <a:t>Sau </a:t>
            </a:r>
            <a:r>
              <a:rPr lang="en-US" dirty="0" err="1" smtClean="0">
                <a:latin typeface="Times New Roman" panose="02020603050405020304" pitchFamily="18" charset="0"/>
                <a:cs typeface="Times New Roman" panose="02020603050405020304" pitchFamily="18" charset="0"/>
              </a:rPr>
              <a:t>khi</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cài</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đặt</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vào</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Git</a:t>
            </a:r>
            <a:r>
              <a:rPr lang="en-US" dirty="0" smtClean="0">
                <a:latin typeface="Times New Roman" panose="02020603050405020304" pitchFamily="18" charset="0"/>
                <a:cs typeface="Times New Roman" panose="02020603050405020304" pitchFamily="18" charset="0"/>
              </a:rPr>
              <a:t> Bash </a:t>
            </a:r>
            <a:r>
              <a:rPr lang="en-US" dirty="0" err="1" smtClean="0">
                <a:latin typeface="Times New Roman" panose="02020603050405020304" pitchFamily="18" charset="0"/>
                <a:cs typeface="Times New Roman" panose="02020603050405020304" pitchFamily="18" charset="0"/>
              </a:rPr>
              <a:t>và</a:t>
            </a:r>
            <a:r>
              <a:rPr lang="en-US" dirty="0" smtClean="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nhập</a:t>
            </a:r>
            <a:r>
              <a:rPr lang="en-US" dirty="0">
                <a:latin typeface="Times New Roman" panose="02020603050405020304" pitchFamily="18" charset="0"/>
                <a:cs typeface="Times New Roman" panose="02020603050405020304" pitchFamily="18" charset="0"/>
              </a:rPr>
              <a:t> 2 </a:t>
            </a:r>
            <a:r>
              <a:rPr lang="en-US" dirty="0" smtClean="0">
                <a:latin typeface="Times New Roman" panose="02020603050405020304" pitchFamily="18" charset="0"/>
                <a:cs typeface="Times New Roman" panose="02020603050405020304" pitchFamily="18" charset="0"/>
              </a:rPr>
              <a:t>command </a:t>
            </a:r>
            <a:r>
              <a:rPr lang="en-US" dirty="0" err="1">
                <a:latin typeface="Times New Roman" panose="02020603050405020304" pitchFamily="18" charset="0"/>
                <a:cs typeface="Times New Roman" panose="02020603050405020304" pitchFamily="18" charset="0"/>
              </a:rPr>
              <a:t>sau</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config</a:t>
            </a:r>
            <a:r>
              <a:rPr lang="en-US" dirty="0">
                <a:latin typeface="Times New Roman" panose="02020603050405020304" pitchFamily="18" charset="0"/>
                <a:cs typeface="Times New Roman" panose="02020603050405020304" pitchFamily="18" charset="0"/>
              </a:rPr>
              <a:t> --global user.name "User name"</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config</a:t>
            </a:r>
            <a:r>
              <a:rPr lang="en-US" dirty="0">
                <a:latin typeface="Times New Roman" panose="02020603050405020304" pitchFamily="18" charset="0"/>
                <a:cs typeface="Times New Roman" panose="02020603050405020304" pitchFamily="18" charset="0"/>
              </a:rPr>
              <a:t> --global </a:t>
            </a:r>
            <a:r>
              <a:rPr lang="en-US" dirty="0" err="1">
                <a:latin typeface="Times New Roman" panose="02020603050405020304" pitchFamily="18" charset="0"/>
                <a:cs typeface="Times New Roman" panose="02020603050405020304" pitchFamily="18" charset="0"/>
              </a:rPr>
              <a:t>user.email</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hlinkClick r:id="rId2"/>
              </a:rPr>
              <a:t>example@tma.com.vn</a:t>
            </a:r>
            <a:endParaRPr lang="en-US" dirty="0" smtClean="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pPr marL="342900" indent="-342900">
              <a:buFontTx/>
              <a:buChar char="-"/>
            </a:pPr>
            <a:r>
              <a:rPr lang="en-US" dirty="0" err="1" smtClean="0">
                <a:latin typeface="Times New Roman" panose="02020603050405020304" pitchFamily="18" charset="0"/>
                <a:cs typeface="Times New Roman" panose="02020603050405020304" pitchFamily="18" charset="0"/>
              </a:rPr>
              <a:t>Kiểm</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tra</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thông</a:t>
            </a:r>
            <a:r>
              <a:rPr lang="en-US" dirty="0" smtClean="0">
                <a:latin typeface="Times New Roman" panose="02020603050405020304" pitchFamily="18" charset="0"/>
                <a:cs typeface="Times New Roman" panose="02020603050405020304" pitchFamily="18" charset="0"/>
              </a:rPr>
              <a:t> tin </a:t>
            </a:r>
            <a:r>
              <a:rPr lang="en-US" dirty="0" err="1" smtClean="0">
                <a:latin typeface="Times New Roman" panose="02020603050405020304" pitchFamily="18" charset="0"/>
                <a:cs typeface="Times New Roman" panose="02020603050405020304" pitchFamily="18" charset="0"/>
              </a:rPr>
              <a:t>chứng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thực</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cá</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nhân</a:t>
            </a:r>
            <a:r>
              <a:rPr lang="en-US" dirty="0" smtClean="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cat ~/.</a:t>
            </a:r>
            <a:r>
              <a:rPr lang="en-US" dirty="0" err="1">
                <a:latin typeface="Times New Roman" panose="02020603050405020304" pitchFamily="18" charset="0"/>
                <a:cs typeface="Times New Roman" panose="02020603050405020304" pitchFamily="18" charset="0"/>
              </a:rPr>
              <a:t>gitconfig</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[user]</a:t>
            </a:r>
          </a:p>
          <a:p>
            <a:r>
              <a:rPr lang="en-US" dirty="0">
                <a:latin typeface="Times New Roman" panose="02020603050405020304" pitchFamily="18" charset="0"/>
                <a:cs typeface="Times New Roman" panose="02020603050405020304" pitchFamily="18" charset="0"/>
              </a:rPr>
              <a:t> name = Thach Pham</a:t>
            </a:r>
          </a:p>
          <a:p>
            <a:r>
              <a:rPr lang="en-US" dirty="0">
                <a:latin typeface="Times New Roman" panose="02020603050405020304" pitchFamily="18" charset="0"/>
                <a:cs typeface="Times New Roman" panose="02020603050405020304" pitchFamily="18" charset="0"/>
              </a:rPr>
              <a:t> email = contact@thachpham.com</a:t>
            </a:r>
          </a:p>
        </p:txBody>
      </p:sp>
    </p:spTree>
    <p:extLst>
      <p:ext uri="{BB962C8B-B14F-4D97-AF65-F5344CB8AC3E}">
        <p14:creationId xmlns:p14="http://schemas.microsoft.com/office/powerpoint/2010/main" val="6499727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971550"/>
            <a:ext cx="8915399" cy="1962150"/>
          </a:xfrm>
        </p:spPr>
        <p:txBody>
          <a:bodyPr>
            <a:noAutofit/>
          </a:bodyPr>
          <a:lstStyle/>
          <a:p>
            <a:r>
              <a:rPr lang="vi-VN" dirty="0">
                <a:latin typeface="Times New Roman" panose="02020603050405020304" pitchFamily="18" charset="0"/>
                <a:cs typeface="Times New Roman" panose="02020603050405020304" pitchFamily="18" charset="0"/>
              </a:rPr>
              <a:t>Tạo account and create new repository trên Git server (bởi vì ILM đã có server và account nên bỏ qua bước này)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75150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0" y="1167210"/>
            <a:ext cx="8915399" cy="1468800"/>
          </a:xfrm>
        </p:spPr>
        <p:txBody>
          <a:bodyPr/>
          <a:lstStyle/>
          <a:p>
            <a:r>
              <a:rPr lang="en-US" dirty="0" smtClean="0">
                <a:latin typeface="Times New Roman" panose="02020603050405020304" pitchFamily="18" charset="0"/>
                <a:cs typeface="Times New Roman" panose="02020603050405020304" pitchFamily="18" charset="0"/>
              </a:rPr>
              <a:t>Clone </a:t>
            </a:r>
            <a:r>
              <a:rPr lang="en-US" dirty="0" err="1" smtClean="0">
                <a:latin typeface="Times New Roman" panose="02020603050405020304" pitchFamily="18" charset="0"/>
                <a:cs typeface="Times New Roman" panose="02020603050405020304" pitchFamily="18" charset="0"/>
              </a:rPr>
              <a:t>kho</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chứa</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trên</a:t>
            </a:r>
            <a:r>
              <a:rPr lang="en-US" dirty="0" smtClean="0">
                <a:latin typeface="Times New Roman" panose="02020603050405020304" pitchFamily="18" charset="0"/>
                <a:cs typeface="Times New Roman" panose="02020603050405020304" pitchFamily="18" charset="0"/>
              </a:rPr>
              <a:t> server(</a:t>
            </a:r>
            <a:r>
              <a:rPr lang="en-US" dirty="0" err="1" smtClean="0">
                <a:latin typeface="Times New Roman" panose="02020603050405020304" pitchFamily="18" charset="0"/>
                <a:cs typeface="Times New Roman" panose="02020603050405020304" pitchFamily="18" charset="0"/>
              </a:rPr>
              <a:t>github</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về</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máy</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2589211" y="2636010"/>
            <a:ext cx="8915399" cy="860400"/>
          </a:xfrm>
        </p:spPr>
        <p:txBody>
          <a:bodyPr/>
          <a:lstStyle/>
          <a:p>
            <a:r>
              <a:rPr lang="en-US" dirty="0" err="1" smtClean="0">
                <a:latin typeface="Times New Roman" panose="02020603050405020304" pitchFamily="18" charset="0"/>
                <a:cs typeface="Times New Roman" panose="02020603050405020304" pitchFamily="18" charset="0"/>
              </a:rPr>
              <a:t>Vào</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git</a:t>
            </a:r>
            <a:r>
              <a:rPr lang="en-US" dirty="0" smtClean="0">
                <a:latin typeface="Times New Roman" panose="02020603050405020304" pitchFamily="18" charset="0"/>
                <a:cs typeface="Times New Roman" panose="02020603050405020304" pitchFamily="18" charset="0"/>
              </a:rPr>
              <a:t> bash </a:t>
            </a:r>
            <a:r>
              <a:rPr lang="en-US" dirty="0" err="1" smtClean="0">
                <a:latin typeface="Times New Roman" panose="02020603050405020304" pitchFamily="18" charset="0"/>
                <a:cs typeface="Times New Roman" panose="02020603050405020304" pitchFamily="18" charset="0"/>
              </a:rPr>
              <a:t>và</a:t>
            </a:r>
            <a:r>
              <a:rPr lang="en-US" dirty="0" smtClean="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nhập</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command:</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git</a:t>
            </a:r>
            <a:r>
              <a:rPr lang="en-US" dirty="0">
                <a:latin typeface="Times New Roman" panose="02020603050405020304" pitchFamily="18" charset="0"/>
                <a:cs typeface="Times New Roman" panose="02020603050405020304" pitchFamily="18" charset="0"/>
              </a:rPr>
              <a:t> clone </a:t>
            </a:r>
            <a:r>
              <a:rPr lang="en-US" dirty="0" smtClean="0">
                <a:latin typeface="Times New Roman" panose="02020603050405020304" pitchFamily="18" charset="0"/>
                <a:cs typeface="Times New Roman" panose="02020603050405020304" pitchFamily="18" charset="0"/>
              </a:rPr>
              <a:t>URL</a:t>
            </a:r>
            <a:endParaRPr lang="en-US"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9211" y="3689842"/>
            <a:ext cx="5744377" cy="2038635"/>
          </a:xfrm>
          <a:prstGeom prst="rect">
            <a:avLst/>
          </a:prstGeom>
        </p:spPr>
      </p:pic>
    </p:spTree>
    <p:extLst>
      <p:ext uri="{BB962C8B-B14F-4D97-AF65-F5344CB8AC3E}">
        <p14:creationId xmlns:p14="http://schemas.microsoft.com/office/powerpoint/2010/main" val="12314068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0" y="378540"/>
            <a:ext cx="8915399" cy="1468800"/>
          </a:xfrm>
        </p:spPr>
        <p:txBody>
          <a:bodyPr/>
          <a:lstStyle/>
          <a:p>
            <a:r>
              <a:rPr lang="en-US" dirty="0" smtClean="0">
                <a:latin typeface="Times New Roman" panose="02020603050405020304" pitchFamily="18" charset="0"/>
                <a:cs typeface="Times New Roman" panose="02020603050405020304" pitchFamily="18" charset="0"/>
              </a:rPr>
              <a:t>Staging area and commit</a:t>
            </a:r>
            <a:endParaRPr lang="en-US"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5625" y="2124075"/>
            <a:ext cx="6534150" cy="3771900"/>
          </a:xfrm>
          <a:prstGeom prst="rect">
            <a:avLst/>
          </a:prstGeom>
        </p:spPr>
      </p:pic>
    </p:spTree>
    <p:extLst>
      <p:ext uri="{BB962C8B-B14F-4D97-AF65-F5344CB8AC3E}">
        <p14:creationId xmlns:p14="http://schemas.microsoft.com/office/powerpoint/2010/main" val="12804488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440646"/>
            <a:ext cx="8915399" cy="809115"/>
          </a:xfrm>
        </p:spPr>
        <p:txBody>
          <a:bodyPr/>
          <a:lstStyle/>
          <a:p>
            <a:r>
              <a:rPr lang="en-US" dirty="0" smtClean="0">
                <a:latin typeface="Times New Roman" panose="02020603050405020304" pitchFamily="18" charset="0"/>
                <a:cs typeface="Times New Roman" panose="02020603050405020304" pitchFamily="18" charset="0"/>
              </a:rPr>
              <a:t>Staging area and commit</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2732086" y="1249761"/>
            <a:ext cx="2382839" cy="354164"/>
          </a:xfrm>
        </p:spPr>
        <p:txBody>
          <a:bodyPr>
            <a:noAutofit/>
          </a:bodyPr>
          <a:lstStyle/>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git</a:t>
            </a:r>
            <a:r>
              <a:rPr lang="en-US" dirty="0">
                <a:latin typeface="Times New Roman" panose="02020603050405020304" pitchFamily="18" charset="0"/>
                <a:cs typeface="Times New Roman" panose="02020603050405020304" pitchFamily="18" charset="0"/>
              </a:rPr>
              <a:t> add </a:t>
            </a:r>
            <a:r>
              <a:rPr lang="en-US" dirty="0" smtClean="0">
                <a:latin typeface="Times New Roman" panose="02020603050405020304" pitchFamily="18" charset="0"/>
                <a:cs typeface="Times New Roman" panose="02020603050405020304" pitchFamily="18" charset="0"/>
              </a:rPr>
              <a:t>&lt;</a:t>
            </a:r>
            <a:r>
              <a:rPr lang="en-US" dirty="0" err="1" smtClean="0">
                <a:latin typeface="Times New Roman" panose="02020603050405020304" pitchFamily="18" charset="0"/>
                <a:cs typeface="Times New Roman" panose="02020603050405020304" pitchFamily="18" charset="0"/>
              </a:rPr>
              <a:t>tên</a:t>
            </a:r>
            <a:r>
              <a:rPr lang="en-US" dirty="0" smtClean="0">
                <a:latin typeface="Times New Roman" panose="02020603050405020304" pitchFamily="18" charset="0"/>
                <a:cs typeface="Times New Roman" panose="02020603050405020304" pitchFamily="18" charset="0"/>
              </a:rPr>
              <a:t> file&gt;</a:t>
            </a:r>
          </a:p>
          <a:p>
            <a:endParaRPr lang="en-US" sz="15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9446" y="1678384"/>
            <a:ext cx="6154009" cy="1771897"/>
          </a:xfrm>
          <a:prstGeom prst="rect">
            <a:avLst/>
          </a:prstGeom>
        </p:spPr>
      </p:pic>
      <p:sp>
        <p:nvSpPr>
          <p:cNvPr id="5" name="Text Placeholder 2"/>
          <p:cNvSpPr txBox="1">
            <a:spLocks/>
          </p:cNvSpPr>
          <p:nvPr/>
        </p:nvSpPr>
        <p:spPr>
          <a:xfrm>
            <a:off x="2732086" y="3496705"/>
            <a:ext cx="5421314" cy="914236"/>
          </a:xfrm>
          <a:prstGeom prst="rect">
            <a:avLst/>
          </a:prstGeom>
        </p:spPr>
        <p:txBody>
          <a:bodyPr vert="horz" lIns="91440" tIns="45720" rIns="91440" bIns="45720" rtlCol="0" anchor="t">
            <a:noAutofit/>
          </a:bodyPr>
          <a:lstStyle>
            <a:lvl1pPr marL="0" indent="0" algn="l" defTabSz="457200" rtl="0" eaLnBrk="1" latinLnBrk="0" hangingPunct="1">
              <a:spcBef>
                <a:spcPts val="1000"/>
              </a:spcBef>
              <a:spcAft>
                <a:spcPts val="0"/>
              </a:spcAft>
              <a:buClr>
                <a:schemeClr val="accent1"/>
              </a:buClr>
              <a:buFont typeface="Wingdings 3" charset="2"/>
              <a:buNone/>
              <a:defRPr sz="2000" kern="1200">
                <a:solidFill>
                  <a:schemeClr val="tx1">
                    <a:lumMod val="65000"/>
                    <a:lumOff val="35000"/>
                  </a:schemeClr>
                </a:solidFill>
                <a:latin typeface="+mn-lt"/>
                <a:ea typeface="+mn-ea"/>
                <a:cs typeface="+mn-cs"/>
              </a:defRPr>
            </a:lvl1pPr>
            <a:lvl2pPr marL="457200" indent="0" algn="l" defTabSz="457200" rtl="0" eaLnBrk="1" latinLnBrk="0" hangingPunct="1">
              <a:spcBef>
                <a:spcPts val="1000"/>
              </a:spcBef>
              <a:spcAft>
                <a:spcPts val="0"/>
              </a:spcAft>
              <a:buClr>
                <a:schemeClr val="accent1"/>
              </a:buClr>
              <a:buFont typeface="Wingdings 3" charset="2"/>
              <a:buNone/>
              <a:defRPr sz="1800" kern="1200">
                <a:solidFill>
                  <a:schemeClr val="tx1">
                    <a:tint val="75000"/>
                  </a:schemeClr>
                </a:solidFill>
                <a:latin typeface="+mn-lt"/>
                <a:ea typeface="+mn-ea"/>
                <a:cs typeface="+mn-cs"/>
              </a:defRPr>
            </a:lvl2pPr>
            <a:lvl3pPr marL="914400" indent="0" algn="l"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3pPr>
            <a:lvl4pPr marL="13716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4pPr>
            <a:lvl5pPr marL="18288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5pPr>
            <a:lvl6pPr marL="22860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9pPr>
          </a:lstStyle>
          <a:p>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git</a:t>
            </a:r>
            <a:r>
              <a:rPr lang="en-US" dirty="0" smtClean="0">
                <a:latin typeface="Times New Roman" panose="02020603050405020304" pitchFamily="18" charset="0"/>
                <a:cs typeface="Times New Roman" panose="02020603050405020304" pitchFamily="18" charset="0"/>
              </a:rPr>
              <a:t> commit -m “comment”</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git</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push &lt;</a:t>
            </a:r>
            <a:r>
              <a:rPr lang="en-US" dirty="0" err="1" smtClean="0">
                <a:latin typeface="Times New Roman" panose="02020603050405020304" pitchFamily="18" charset="0"/>
                <a:cs typeface="Times New Roman" panose="02020603050405020304" pitchFamily="18" charset="0"/>
              </a:rPr>
              <a:t>tên_remote</a:t>
            </a:r>
            <a:r>
              <a:rPr lang="en-US" dirty="0" smtClean="0">
                <a:latin typeface="Times New Roman" panose="02020603050405020304" pitchFamily="18" charset="0"/>
                <a:cs typeface="Times New Roman" panose="02020603050405020304" pitchFamily="18" charset="0"/>
              </a:rPr>
              <a:t>&gt; &lt;</a:t>
            </a:r>
            <a:r>
              <a:rPr lang="en-US" dirty="0" err="1" smtClean="0">
                <a:latin typeface="Times New Roman" panose="02020603050405020304" pitchFamily="18" charset="0"/>
                <a:cs typeface="Times New Roman" panose="02020603050405020304" pitchFamily="18" charset="0"/>
              </a:rPr>
              <a:t>tên</a:t>
            </a:r>
            <a:r>
              <a:rPr lang="en-US" dirty="0" smtClean="0">
                <a:latin typeface="Times New Roman" panose="02020603050405020304" pitchFamily="18" charset="0"/>
                <a:cs typeface="Times New Roman" panose="02020603050405020304" pitchFamily="18" charset="0"/>
              </a:rPr>
              <a:t> branch&gt;</a:t>
            </a:r>
            <a:endParaRPr lang="en-US" dirty="0">
              <a:latin typeface="Times New Roman" panose="02020603050405020304" pitchFamily="18" charset="0"/>
              <a:cs typeface="Times New Roman" panose="02020603050405020304" pitchFamily="18" charset="0"/>
            </a:endParaRPr>
          </a:p>
          <a:p>
            <a:endParaRPr lang="en-US" sz="1500"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9446" y="4324015"/>
            <a:ext cx="6163535" cy="2400635"/>
          </a:xfrm>
          <a:prstGeom prst="rect">
            <a:avLst/>
          </a:prstGeom>
        </p:spPr>
      </p:pic>
    </p:spTree>
    <p:extLst>
      <p:ext uri="{BB962C8B-B14F-4D97-AF65-F5344CB8AC3E}">
        <p14:creationId xmlns:p14="http://schemas.microsoft.com/office/powerpoint/2010/main" val="35392822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885270"/>
            <a:ext cx="8915399" cy="1468800"/>
          </a:xfrm>
        </p:spPr>
        <p:txBody>
          <a:bodyPr/>
          <a:lstStyle/>
          <a:p>
            <a:r>
              <a:rPr lang="en-US" dirty="0" smtClean="0">
                <a:latin typeface="Times New Roman" panose="02020603050405020304" pitchFamily="18" charset="0"/>
                <a:cs typeface="Times New Roman" panose="02020603050405020304" pitchFamily="18" charset="0"/>
              </a:rPr>
              <a:t>Remove or delete </a:t>
            </a:r>
            <a:r>
              <a:rPr lang="en-US" dirty="0">
                <a:latin typeface="Times New Roman" panose="02020603050405020304" pitchFamily="18" charset="0"/>
                <a:cs typeface="Times New Roman" panose="02020603050405020304" pitchFamily="18" charset="0"/>
              </a:rPr>
              <a:t>1 file </a:t>
            </a:r>
            <a:r>
              <a:rPr lang="en-US" dirty="0" err="1">
                <a:latin typeface="Times New Roman" panose="02020603050405020304" pitchFamily="18" charset="0"/>
                <a:cs typeface="Times New Roman" panose="02020603050405020304" pitchFamily="18" charset="0"/>
              </a:rPr>
              <a:t>khỏi</a:t>
            </a:r>
            <a:r>
              <a:rPr lang="en-US" dirty="0">
                <a:latin typeface="Times New Roman" panose="02020603050405020304" pitchFamily="18" charset="0"/>
                <a:cs typeface="Times New Roman" panose="02020603050405020304" pitchFamily="18" charset="0"/>
              </a:rPr>
              <a:t> staging area</a:t>
            </a:r>
          </a:p>
        </p:txBody>
      </p:sp>
      <p:sp>
        <p:nvSpPr>
          <p:cNvPr id="3" name="Text Placeholder 2"/>
          <p:cNvSpPr>
            <a:spLocks noGrp="1"/>
          </p:cNvSpPr>
          <p:nvPr>
            <p:ph type="body" idx="1"/>
          </p:nvPr>
        </p:nvSpPr>
        <p:spPr>
          <a:xfrm>
            <a:off x="2589212" y="2874809"/>
            <a:ext cx="8915399" cy="1704812"/>
          </a:xfrm>
        </p:spPr>
        <p:txBody>
          <a:bodyPr>
            <a:normAutofit/>
          </a:bodyPr>
          <a:lstStyle/>
          <a:p>
            <a:pPr marL="342900" indent="-342900">
              <a:buFontTx/>
              <a:buChar char="-"/>
            </a:pPr>
            <a:r>
              <a:rPr lang="en-US" dirty="0" smtClean="0">
                <a:latin typeface="Times New Roman" panose="02020603050405020304" pitchFamily="18" charset="0"/>
                <a:cs typeface="Times New Roman" panose="02020603050405020304" pitchFamily="18" charset="0"/>
              </a:rPr>
              <a:t>Remove: $ </a:t>
            </a:r>
            <a:r>
              <a:rPr lang="en-US" dirty="0" err="1">
                <a:latin typeface="Times New Roman" panose="02020603050405020304" pitchFamily="18" charset="0"/>
                <a:cs typeface="Times New Roman" panose="02020603050405020304" pitchFamily="18" charset="0"/>
              </a:rPr>
              <a:t>rm</a:t>
            </a:r>
            <a:r>
              <a:rPr lang="en-US" dirty="0">
                <a:latin typeface="Times New Roman" panose="02020603050405020304" pitchFamily="18" charset="0"/>
                <a:cs typeface="Times New Roman" panose="02020603050405020304" pitchFamily="18" charset="0"/>
              </a:rPr>
              <a:t> &lt;</a:t>
            </a:r>
            <a:r>
              <a:rPr lang="en-US" dirty="0" err="1">
                <a:latin typeface="Times New Roman" panose="02020603050405020304" pitchFamily="18" charset="0"/>
                <a:cs typeface="Times New Roman" panose="02020603050405020304" pitchFamily="18" charset="0"/>
              </a:rPr>
              <a:t>tên_file</a:t>
            </a:r>
            <a:r>
              <a:rPr lang="en-US" dirty="0" smtClean="0">
                <a:latin typeface="Times New Roman" panose="02020603050405020304" pitchFamily="18" charset="0"/>
                <a:cs typeface="Times New Roman" panose="02020603050405020304" pitchFamily="18" charset="0"/>
              </a:rPr>
              <a:t>&gt; , $ </a:t>
            </a:r>
            <a:r>
              <a:rPr lang="en-US" dirty="0" err="1" smtClean="0">
                <a:latin typeface="Times New Roman" panose="02020603050405020304" pitchFamily="18" charset="0"/>
                <a:cs typeface="Times New Roman" panose="02020603050405020304" pitchFamily="18" charset="0"/>
              </a:rPr>
              <a:t>git</a:t>
            </a:r>
            <a:r>
              <a:rPr lang="en-US" dirty="0" smtClean="0">
                <a:latin typeface="Times New Roman" panose="02020603050405020304" pitchFamily="18" charset="0"/>
                <a:cs typeface="Times New Roman" panose="02020603050405020304" pitchFamily="18" charset="0"/>
              </a:rPr>
              <a:t> reset HEAD &lt;</a:t>
            </a:r>
            <a:r>
              <a:rPr lang="en-US" dirty="0" err="1" smtClean="0">
                <a:latin typeface="Times New Roman" panose="02020603050405020304" pitchFamily="18" charset="0"/>
                <a:cs typeface="Times New Roman" panose="02020603050405020304" pitchFamily="18" charset="0"/>
              </a:rPr>
              <a:t>tên_file</a:t>
            </a:r>
            <a:r>
              <a:rPr lang="en-US" dirty="0" smtClean="0">
                <a:latin typeface="Times New Roman" panose="02020603050405020304" pitchFamily="18" charset="0"/>
                <a:cs typeface="Times New Roman" panose="02020603050405020304" pitchFamily="18" charset="0"/>
              </a:rPr>
              <a:t>&gt;</a:t>
            </a:r>
          </a:p>
          <a:p>
            <a:pPr marL="342900" indent="-342900">
              <a:buFontTx/>
              <a:buChar char="-"/>
            </a:pPr>
            <a:r>
              <a:rPr lang="en-US" dirty="0" smtClean="0">
                <a:latin typeface="Times New Roman" panose="02020603050405020304" pitchFamily="18" charset="0"/>
                <a:cs typeface="Times New Roman" panose="02020603050405020304" pitchFamily="18" charset="0"/>
              </a:rPr>
              <a:t> delete</a:t>
            </a:r>
            <a:r>
              <a:rPr lang="en-US" dirty="0">
                <a:latin typeface="Times New Roman" panose="02020603050405020304" pitchFamily="18" charset="0"/>
                <a:cs typeface="Times New Roman" panose="02020603050405020304" pitchFamily="18" charset="0"/>
              </a:rPr>
              <a:t>: $ </a:t>
            </a:r>
            <a:r>
              <a:rPr lang="en-US" dirty="0" err="1" smtClean="0">
                <a:latin typeface="Times New Roman" panose="02020603050405020304" pitchFamily="18" charset="0"/>
                <a:cs typeface="Times New Roman" panose="02020603050405020304" pitchFamily="18" charset="0"/>
              </a:rPr>
              <a:t>rm</a:t>
            </a:r>
            <a:r>
              <a:rPr lang="en-US" dirty="0" smtClean="0">
                <a:latin typeface="Times New Roman" panose="02020603050405020304" pitchFamily="18" charset="0"/>
                <a:cs typeface="Times New Roman" panose="02020603050405020304" pitchFamily="18" charset="0"/>
              </a:rPr>
              <a:t> -f </a:t>
            </a:r>
            <a:r>
              <a:rPr lang="en-US" dirty="0">
                <a:latin typeface="Times New Roman" panose="02020603050405020304" pitchFamily="18" charset="0"/>
                <a:cs typeface="Times New Roman" panose="02020603050405020304" pitchFamily="18" charset="0"/>
              </a:rPr>
              <a:t>&lt;</a:t>
            </a:r>
            <a:r>
              <a:rPr lang="en-US" dirty="0" err="1">
                <a:latin typeface="Times New Roman" panose="02020603050405020304" pitchFamily="18" charset="0"/>
                <a:cs typeface="Times New Roman" panose="02020603050405020304" pitchFamily="18" charset="0"/>
              </a:rPr>
              <a:t>tên_file</a:t>
            </a:r>
            <a:r>
              <a:rPr lang="en-US" dirty="0">
                <a:latin typeface="Times New Roman" panose="02020603050405020304" pitchFamily="18" charset="0"/>
                <a:cs typeface="Times New Roman" panose="02020603050405020304" pitchFamily="18" charset="0"/>
              </a:rPr>
              <a:t>&gt;</a:t>
            </a:r>
          </a:p>
        </p:txBody>
      </p:sp>
    </p:spTree>
    <p:extLst>
      <p:ext uri="{BB962C8B-B14F-4D97-AF65-F5344CB8AC3E}">
        <p14:creationId xmlns:p14="http://schemas.microsoft.com/office/powerpoint/2010/main" val="15780547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1113870"/>
            <a:ext cx="8915399" cy="1468800"/>
          </a:xfrm>
        </p:spPr>
        <p:txBody>
          <a:bodyPr>
            <a:normAutofit/>
          </a:bodyPr>
          <a:lstStyle/>
          <a:p>
            <a:r>
              <a:rPr lang="en-US" dirty="0" err="1">
                <a:latin typeface="Times New Roman" panose="02020603050405020304" pitchFamily="18" charset="0"/>
                <a:cs typeface="Times New Roman" panose="02020603050405020304" pitchFamily="18" charset="0"/>
              </a:rPr>
              <a:t>Cách</a:t>
            </a:r>
            <a:r>
              <a:rPr lang="en-US" dirty="0">
                <a:latin typeface="Times New Roman" panose="02020603050405020304" pitchFamily="18" charset="0"/>
                <a:cs typeface="Times New Roman" panose="02020603050405020304" pitchFamily="18" charset="0"/>
              </a:rPr>
              <a:t> modify 1 file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sẵn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staging area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commit </a:t>
            </a:r>
            <a:r>
              <a:rPr lang="en-US" dirty="0" err="1">
                <a:latin typeface="Times New Roman" panose="02020603050405020304" pitchFamily="18" charset="0"/>
                <a:cs typeface="Times New Roman" panose="02020603050405020304" pitchFamily="18" charset="0"/>
              </a:rPr>
              <a:t>lên</a:t>
            </a:r>
            <a:r>
              <a:rPr lang="en-US" dirty="0">
                <a:latin typeface="Times New Roman" panose="02020603050405020304" pitchFamily="18" charset="0"/>
                <a:cs typeface="Times New Roman" panose="02020603050405020304" pitchFamily="18" charset="0"/>
              </a:rPr>
              <a:t> server (</a:t>
            </a:r>
            <a:r>
              <a:rPr lang="en-US" dirty="0" err="1">
                <a:latin typeface="Times New Roman" panose="02020603050405020304" pitchFamily="18" charset="0"/>
                <a:cs typeface="Times New Roman" panose="02020603050405020304" pitchFamily="18" charset="0"/>
              </a:rPr>
              <a:t>github</a:t>
            </a:r>
            <a:r>
              <a:rPr lang="en-US" dirty="0">
                <a:latin typeface="Times New Roman" panose="02020603050405020304" pitchFamily="18" charset="0"/>
                <a:cs typeface="Times New Roman" panose="02020603050405020304" pitchFamily="18" charset="0"/>
              </a:rPr>
              <a:t>)</a:t>
            </a:r>
          </a:p>
        </p:txBody>
      </p:sp>
      <p:sp>
        <p:nvSpPr>
          <p:cNvPr id="3" name="Text Placeholder 2"/>
          <p:cNvSpPr>
            <a:spLocks noGrp="1"/>
          </p:cNvSpPr>
          <p:nvPr>
            <p:ph type="body" idx="1"/>
          </p:nvPr>
        </p:nvSpPr>
        <p:spPr>
          <a:xfrm>
            <a:off x="2589212" y="2829089"/>
            <a:ext cx="8915399" cy="3505036"/>
          </a:xfrm>
        </p:spPr>
        <p:txBody>
          <a:bodyPr>
            <a:noAutofit/>
          </a:bodyPr>
          <a:lstStyle/>
          <a:p>
            <a:r>
              <a:rPr lang="en-US" dirty="0">
                <a:latin typeface="Times New Roman" panose="02020603050405020304" pitchFamily="18" charset="0"/>
                <a:cs typeface="Times New Roman" panose="02020603050405020304" pitchFamily="18" charset="0"/>
              </a:rPr>
              <a:t>Sau </a:t>
            </a:r>
            <a:r>
              <a:rPr lang="en-US" dirty="0" err="1">
                <a:latin typeface="Times New Roman" panose="02020603050405020304" pitchFamily="18" charset="0"/>
                <a:cs typeface="Times New Roman" panose="02020603050405020304" pitchFamily="18" charset="0"/>
              </a:rPr>
              <a:t>khi</a:t>
            </a:r>
            <a:r>
              <a:rPr lang="en-US" dirty="0">
                <a:latin typeface="Times New Roman" panose="02020603050405020304" pitchFamily="18" charset="0"/>
                <a:cs typeface="Times New Roman" panose="02020603050405020304" pitchFamily="18" charset="0"/>
              </a:rPr>
              <a:t> add 1 file </a:t>
            </a:r>
            <a:r>
              <a:rPr lang="en-US" dirty="0" err="1">
                <a:latin typeface="Times New Roman" panose="02020603050405020304" pitchFamily="18" charset="0"/>
                <a:cs typeface="Times New Roman" panose="02020603050405020304" pitchFamily="18" charset="0"/>
              </a:rPr>
              <a:t>vào</a:t>
            </a:r>
            <a:r>
              <a:rPr lang="en-US" dirty="0">
                <a:latin typeface="Times New Roman" panose="02020603050405020304" pitchFamily="18" charset="0"/>
                <a:cs typeface="Times New Roman" panose="02020603050405020304" pitchFamily="18" charset="0"/>
              </a:rPr>
              <a:t> staging are, </a:t>
            </a:r>
            <a:r>
              <a:rPr lang="en-US" dirty="0" err="1">
                <a:latin typeface="Times New Roman" panose="02020603050405020304" pitchFamily="18" charset="0"/>
                <a:cs typeface="Times New Roman" panose="02020603050405020304" pitchFamily="18" charset="0"/>
              </a:rPr>
              <a:t>tuy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muốn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chỉnh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nội</a:t>
            </a:r>
            <a:r>
              <a:rPr lang="en-US" dirty="0">
                <a:latin typeface="Times New Roman" panose="02020603050405020304" pitchFamily="18" charset="0"/>
                <a:cs typeface="Times New Roman" panose="02020603050405020304" pitchFamily="18" charset="0"/>
              </a:rPr>
              <a:t> dung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đó</a:t>
            </a:r>
            <a:r>
              <a:rPr lang="en-US" dirty="0">
                <a:latin typeface="Times New Roman" panose="02020603050405020304" pitchFamily="18" charset="0"/>
                <a:cs typeface="Times New Roman" panose="02020603050405020304" pitchFamily="18" charset="0"/>
              </a:rPr>
              <a:t>. </a:t>
            </a:r>
          </a:p>
          <a:p>
            <a:r>
              <a:rPr lang="en-US" dirty="0" err="1">
                <a:latin typeface="Times New Roman" panose="02020603050405020304" pitchFamily="18" charset="0"/>
                <a:cs typeface="Times New Roman" panose="02020603050405020304" pitchFamily="18" charset="0"/>
              </a:rPr>
              <a:t>Thì</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hoàn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sẽ</a:t>
            </a:r>
            <a:r>
              <a:rPr lang="en-US" dirty="0">
                <a:latin typeface="Times New Roman" panose="02020603050405020304" pitchFamily="18" charset="0"/>
                <a:cs typeface="Times New Roman" panose="02020603050405020304" pitchFamily="18" charset="0"/>
              </a:rPr>
              <a:t> add </a:t>
            </a:r>
            <a:r>
              <a:rPr lang="en-US" dirty="0" err="1">
                <a:latin typeface="Times New Roman" panose="02020603050405020304" pitchFamily="18" charset="0"/>
                <a:cs typeface="Times New Roman" panose="02020603050405020304" pitchFamily="18" charset="0"/>
              </a:rPr>
              <a:t>lại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vào</a:t>
            </a:r>
            <a:r>
              <a:rPr lang="en-US" dirty="0">
                <a:latin typeface="Times New Roman" panose="02020603050405020304" pitchFamily="18" charset="0"/>
                <a:cs typeface="Times New Roman" panose="02020603050405020304" pitchFamily="18" charset="0"/>
              </a:rPr>
              <a:t> staging area </a:t>
            </a:r>
            <a:r>
              <a:rPr lang="en-US" dirty="0" err="1">
                <a:latin typeface="Times New Roman" panose="02020603050405020304" pitchFamily="18" charset="0"/>
                <a:cs typeface="Times New Roman" panose="02020603050405020304" pitchFamily="18" charset="0"/>
              </a:rPr>
              <a:t>một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nữa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đổi</a:t>
            </a:r>
            <a:r>
              <a:rPr lang="en-US" dirty="0" smtClean="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git</a:t>
            </a:r>
            <a:r>
              <a:rPr lang="en-US" dirty="0">
                <a:latin typeface="Times New Roman" panose="02020603050405020304" pitchFamily="18" charset="0"/>
                <a:cs typeface="Times New Roman" panose="02020603050405020304" pitchFamily="18" charset="0"/>
              </a:rPr>
              <a:t> add &lt;</a:t>
            </a:r>
            <a:r>
              <a:rPr lang="en-US" dirty="0" err="1">
                <a:latin typeface="Times New Roman" panose="02020603050405020304" pitchFamily="18" charset="0"/>
                <a:cs typeface="Times New Roman" panose="02020603050405020304" pitchFamily="18" charset="0"/>
              </a:rPr>
              <a:t>tên</a:t>
            </a:r>
            <a:r>
              <a:rPr lang="en-US" dirty="0">
                <a:latin typeface="Times New Roman" panose="02020603050405020304" pitchFamily="18" charset="0"/>
                <a:cs typeface="Times New Roman" panose="02020603050405020304" pitchFamily="18" charset="0"/>
              </a:rPr>
              <a:t> file&gt;</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git</a:t>
            </a:r>
            <a:r>
              <a:rPr lang="en-US" dirty="0">
                <a:latin typeface="Times New Roman" panose="02020603050405020304" pitchFamily="18" charset="0"/>
                <a:cs typeface="Times New Roman" panose="02020603050405020304" pitchFamily="18" charset="0"/>
              </a:rPr>
              <a:t> commit -m "commit after modifying"</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git</a:t>
            </a:r>
            <a:r>
              <a:rPr lang="en-US" dirty="0">
                <a:latin typeface="Times New Roman" panose="02020603050405020304" pitchFamily="18" charset="0"/>
                <a:cs typeface="Times New Roman" panose="02020603050405020304" pitchFamily="18" charset="0"/>
              </a:rPr>
              <a:t> push </a:t>
            </a:r>
            <a:r>
              <a:rPr lang="en-US" dirty="0" smtClean="0">
                <a:latin typeface="Times New Roman" panose="02020603050405020304" pitchFamily="18" charset="0"/>
                <a:cs typeface="Times New Roman" panose="02020603050405020304" pitchFamily="18" charset="0"/>
              </a:rPr>
              <a:t>&lt;</a:t>
            </a:r>
            <a:r>
              <a:rPr lang="en-US" dirty="0" err="1" smtClean="0">
                <a:latin typeface="Times New Roman" panose="02020603050405020304" pitchFamily="18" charset="0"/>
                <a:cs typeface="Times New Roman" panose="02020603050405020304" pitchFamily="18" charset="0"/>
              </a:rPr>
              <a:t>tên_remote</a:t>
            </a:r>
            <a:r>
              <a:rPr lang="en-US" dirty="0">
                <a:latin typeface="Times New Roman" panose="02020603050405020304" pitchFamily="18" charset="0"/>
                <a:cs typeface="Times New Roman" panose="02020603050405020304" pitchFamily="18" charset="0"/>
              </a:rPr>
              <a:t>&gt;</a:t>
            </a:r>
            <a:r>
              <a:rPr lang="en-US" dirty="0" smtClean="0">
                <a:latin typeface="Times New Roman" panose="02020603050405020304" pitchFamily="18" charset="0"/>
                <a:cs typeface="Times New Roman" panose="02020603050405020304" pitchFamily="18" charset="0"/>
              </a:rPr>
              <a:t> &lt;</a:t>
            </a:r>
            <a:r>
              <a:rPr lang="en-US" dirty="0" err="1" smtClean="0">
                <a:latin typeface="Times New Roman" panose="02020603050405020304" pitchFamily="18" charset="0"/>
                <a:cs typeface="Times New Roman" panose="02020603050405020304" pitchFamily="18" charset="0"/>
              </a:rPr>
              <a:t>tên_branch</a:t>
            </a:r>
            <a:r>
              <a:rPr lang="en-US" dirty="0" smtClean="0">
                <a:latin typeface="Times New Roman" panose="02020603050405020304" pitchFamily="18" charset="0"/>
                <a:cs typeface="Times New Roman" panose="02020603050405020304" pitchFamily="18" charset="0"/>
              </a:rPr>
              <a:t>&gt;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98589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1205310"/>
            <a:ext cx="8915399" cy="1468800"/>
          </a:xfrm>
        </p:spPr>
        <p:txBody>
          <a:bodyPr/>
          <a:lstStyle/>
          <a:p>
            <a:r>
              <a:rPr lang="en-US" dirty="0" err="1">
                <a:latin typeface="Times New Roman" panose="02020603050405020304" pitchFamily="18" charset="0"/>
                <a:cs typeface="Times New Roman" panose="02020603050405020304" pitchFamily="18" charset="0"/>
              </a:rPr>
              <a:t>Cập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mọi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đổi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từ</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repository </a:t>
            </a:r>
            <a:r>
              <a:rPr lang="en-US" dirty="0">
                <a:latin typeface="Times New Roman" panose="02020603050405020304" pitchFamily="18" charset="0"/>
                <a:cs typeface="Times New Roman" panose="02020603050405020304" pitchFamily="18" charset="0"/>
              </a:rPr>
              <a:t>server </a:t>
            </a:r>
            <a:r>
              <a:rPr lang="en-US" dirty="0" err="1">
                <a:latin typeface="Times New Roman" panose="02020603050405020304" pitchFamily="18" charset="0"/>
                <a:cs typeface="Times New Roman" panose="02020603050405020304" pitchFamily="18" charset="0"/>
              </a:rPr>
              <a:t>về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máy</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local</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2589212" y="2928149"/>
            <a:ext cx="8915399" cy="860400"/>
          </a:xfrm>
        </p:spPr>
        <p:txBody>
          <a:bodyPr>
            <a:normAutofit/>
          </a:bodyPr>
          <a:lstStyle/>
          <a:p>
            <a:r>
              <a:rPr lang="en-US" dirty="0" smtClean="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git</a:t>
            </a:r>
            <a:r>
              <a:rPr lang="en-US" dirty="0">
                <a:latin typeface="Times New Roman" panose="02020603050405020304" pitchFamily="18" charset="0"/>
                <a:cs typeface="Times New Roman" panose="02020603050405020304" pitchFamily="18" charset="0"/>
              </a:rPr>
              <a:t> pull </a:t>
            </a:r>
            <a:r>
              <a:rPr lang="en-US" dirty="0" smtClean="0">
                <a:latin typeface="Times New Roman" panose="02020603050405020304" pitchFamily="18" charset="0"/>
                <a:cs typeface="Times New Roman" panose="02020603050405020304" pitchFamily="18" charset="0"/>
              </a:rPr>
              <a:t>&lt;</a:t>
            </a:r>
            <a:r>
              <a:rPr lang="en-US" dirty="0" err="1" smtClean="0">
                <a:latin typeface="Times New Roman" panose="02020603050405020304" pitchFamily="18" charset="0"/>
                <a:cs typeface="Times New Roman" panose="02020603050405020304" pitchFamily="18" charset="0"/>
              </a:rPr>
              <a:t>ten_remote</a:t>
            </a:r>
            <a:r>
              <a:rPr lang="en-US" dirty="0" smtClean="0">
                <a:latin typeface="Times New Roman" panose="02020603050405020304" pitchFamily="18" charset="0"/>
                <a:cs typeface="Times New Roman" panose="02020603050405020304" pitchFamily="18" charset="0"/>
              </a:rPr>
              <a:t>&gt;</a:t>
            </a:r>
          </a:p>
        </p:txBody>
      </p:sp>
    </p:spTree>
    <p:extLst>
      <p:ext uri="{BB962C8B-B14F-4D97-AF65-F5344CB8AC3E}">
        <p14:creationId xmlns:p14="http://schemas.microsoft.com/office/powerpoint/2010/main" val="40370331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676275"/>
            <a:ext cx="8915399" cy="902460"/>
          </a:xfrm>
        </p:spPr>
        <p:txBody>
          <a:bodyPr/>
          <a:lstStyle/>
          <a:p>
            <a:r>
              <a:rPr lang="en-US" dirty="0" smtClean="0">
                <a:latin typeface="Times New Roman" panose="02020603050405020304" pitchFamily="18" charset="0"/>
                <a:cs typeface="Times New Roman" panose="02020603050405020304" pitchFamily="18" charset="0"/>
              </a:rPr>
              <a:t>Branch </a:t>
            </a:r>
            <a:r>
              <a:rPr lang="en-US" dirty="0" err="1" smtClean="0">
                <a:latin typeface="Times New Roman" panose="02020603050405020304" pitchFamily="18" charset="0"/>
                <a:cs typeface="Times New Roman" panose="02020603050405020304" pitchFamily="18" charset="0"/>
              </a:rPr>
              <a:t>và</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cách</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tạo</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2589211" y="1937549"/>
            <a:ext cx="8915399" cy="860400"/>
          </a:xfrm>
        </p:spPr>
        <p:txBody>
          <a:bodyPr/>
          <a:lstStyle/>
          <a:p>
            <a:r>
              <a:rPr lang="en-US" dirty="0" err="1" smtClean="0">
                <a:latin typeface="Times New Roman" panose="02020603050405020304" pitchFamily="18" charset="0"/>
                <a:cs typeface="Times New Roman" panose="02020603050405020304" pitchFamily="18" charset="0"/>
              </a:rPr>
              <a:t>Banch</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là</a:t>
            </a:r>
            <a:r>
              <a:rPr lang="vi-VN" dirty="0" smtClean="0">
                <a:latin typeface="Times New Roman" panose="02020603050405020304" pitchFamily="18" charset="0"/>
                <a:cs typeface="Times New Roman" panose="02020603050405020304" pitchFamily="18" charset="0"/>
              </a:rPr>
              <a:t> một phiên bản thử nghiệm với mã nguồn đang làm việc trong working tree hiện tại mà không gây ảnh hưởng đến các code hiện tại</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0959" y="2797949"/>
            <a:ext cx="6144482" cy="3562847"/>
          </a:xfrm>
          <a:prstGeom prst="rect">
            <a:avLst/>
          </a:prstGeom>
        </p:spPr>
      </p:pic>
    </p:spTree>
    <p:extLst>
      <p:ext uri="{BB962C8B-B14F-4D97-AF65-F5344CB8AC3E}">
        <p14:creationId xmlns:p14="http://schemas.microsoft.com/office/powerpoint/2010/main" val="416192138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1348740"/>
            <a:ext cx="8915399" cy="1539240"/>
          </a:xfrm>
        </p:spPr>
        <p:txBody>
          <a:bodyPr/>
          <a:lstStyle/>
          <a:p>
            <a:r>
              <a:rPr lang="en-US" dirty="0" err="1" smtClean="0">
                <a:latin typeface="Times New Roman" panose="02020603050405020304" pitchFamily="18" charset="0"/>
                <a:cs typeface="Times New Roman" panose="02020603050405020304" pitchFamily="18" charset="0"/>
              </a:rPr>
              <a:t>Cách</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tạo</a:t>
            </a:r>
            <a:r>
              <a:rPr lang="en-US" dirty="0" smtClean="0">
                <a:latin typeface="Times New Roman" panose="02020603050405020304" pitchFamily="18" charset="0"/>
                <a:cs typeface="Times New Roman" panose="02020603050405020304" pitchFamily="18" charset="0"/>
              </a:rPr>
              <a:t> Branch </a:t>
            </a:r>
            <a:r>
              <a:rPr lang="en-US" dirty="0" err="1" smtClean="0">
                <a:latin typeface="Times New Roman" panose="02020603050405020304" pitchFamily="18" charset="0"/>
                <a:cs typeface="Times New Roman" panose="02020603050405020304" pitchFamily="18" charset="0"/>
              </a:rPr>
              <a:t>và</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các</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vấn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đề</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liên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quan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tới</a:t>
            </a:r>
            <a:r>
              <a:rPr lang="en-US" dirty="0" smtClean="0">
                <a:latin typeface="Times New Roman" panose="02020603050405020304" pitchFamily="18" charset="0"/>
                <a:cs typeface="Times New Roman" panose="02020603050405020304" pitchFamily="18" charset="0"/>
              </a:rPr>
              <a:t> branch</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2589212" y="3050069"/>
            <a:ext cx="8915399" cy="860400"/>
          </a:xfrm>
        </p:spPr>
        <p:txBody>
          <a:bodyPr>
            <a:normAutofit fontScale="25000" lnSpcReduction="20000"/>
          </a:bodyPr>
          <a:lstStyle/>
          <a:p>
            <a:r>
              <a:rPr lang="en-US" sz="8000" dirty="0">
                <a:latin typeface="Times New Roman" panose="02020603050405020304" pitchFamily="18" charset="0"/>
                <a:cs typeface="Times New Roman" panose="02020603050405020304" pitchFamily="18" charset="0"/>
              </a:rPr>
              <a:t>- </a:t>
            </a:r>
            <a:r>
              <a:rPr lang="en-US" sz="8000" dirty="0" err="1">
                <a:latin typeface="Times New Roman" panose="02020603050405020304" pitchFamily="18" charset="0"/>
                <a:cs typeface="Times New Roman" panose="02020603050405020304" pitchFamily="18" charset="0"/>
              </a:rPr>
              <a:t>Tạo</a:t>
            </a:r>
            <a:r>
              <a:rPr lang="en-US" sz="8000" dirty="0">
                <a:latin typeface="Times New Roman" panose="02020603050405020304" pitchFamily="18" charset="0"/>
                <a:cs typeface="Times New Roman" panose="02020603050405020304" pitchFamily="18" charset="0"/>
              </a:rPr>
              <a:t> 1 local branch </a:t>
            </a:r>
          </a:p>
          <a:p>
            <a:r>
              <a:rPr lang="en-US" sz="8000" dirty="0">
                <a:latin typeface="Times New Roman" panose="02020603050405020304" pitchFamily="18" charset="0"/>
                <a:cs typeface="Times New Roman" panose="02020603050405020304" pitchFamily="18" charset="0"/>
              </a:rPr>
              <a:t>$ </a:t>
            </a:r>
            <a:r>
              <a:rPr lang="en-US" sz="8000" dirty="0" err="1">
                <a:latin typeface="Times New Roman" panose="02020603050405020304" pitchFamily="18" charset="0"/>
                <a:cs typeface="Times New Roman" panose="02020603050405020304" pitchFamily="18" charset="0"/>
              </a:rPr>
              <a:t>git</a:t>
            </a:r>
            <a:r>
              <a:rPr lang="en-US" sz="8000" dirty="0">
                <a:latin typeface="Times New Roman" panose="02020603050405020304" pitchFamily="18" charset="0"/>
                <a:cs typeface="Times New Roman" panose="02020603050405020304" pitchFamily="18" charset="0"/>
              </a:rPr>
              <a:t> branch &lt;</a:t>
            </a:r>
            <a:r>
              <a:rPr lang="en-US" sz="8000" dirty="0" err="1">
                <a:latin typeface="Times New Roman" panose="02020603050405020304" pitchFamily="18" charset="0"/>
                <a:cs typeface="Times New Roman" panose="02020603050405020304" pitchFamily="18" charset="0"/>
              </a:rPr>
              <a:t>ten_branch</a:t>
            </a:r>
            <a:r>
              <a:rPr lang="en-US" sz="8000" dirty="0" smtClean="0">
                <a:latin typeface="Times New Roman" panose="02020603050405020304" pitchFamily="18" charset="0"/>
                <a:cs typeface="Times New Roman" panose="02020603050405020304" pitchFamily="18" charset="0"/>
              </a:rPr>
              <a:t>&gt;</a:t>
            </a:r>
          </a:p>
          <a:p>
            <a:r>
              <a:rPr lang="en-US" sz="8000" dirty="0">
                <a:latin typeface="Times New Roman" panose="02020603050405020304" pitchFamily="18" charset="0"/>
                <a:cs typeface="Times New Roman" panose="02020603050405020304" pitchFamily="18" charset="0"/>
              </a:rPr>
              <a:t>- Check </a:t>
            </a:r>
            <a:r>
              <a:rPr lang="en-US" sz="8000" dirty="0" err="1">
                <a:latin typeface="Times New Roman" panose="02020603050405020304" pitchFamily="18" charset="0"/>
                <a:cs typeface="Times New Roman" panose="02020603050405020304" pitchFamily="18" charset="0"/>
              </a:rPr>
              <a:t>các</a:t>
            </a:r>
            <a:r>
              <a:rPr lang="en-US" sz="8000" dirty="0">
                <a:latin typeface="Times New Roman" panose="02020603050405020304" pitchFamily="18" charset="0"/>
                <a:cs typeface="Times New Roman" panose="02020603050405020304" pitchFamily="18" charset="0"/>
              </a:rPr>
              <a:t> branch </a:t>
            </a:r>
            <a:r>
              <a:rPr lang="en-US" sz="8000" dirty="0" err="1">
                <a:latin typeface="Times New Roman" panose="02020603050405020304" pitchFamily="18" charset="0"/>
                <a:cs typeface="Times New Roman" panose="02020603050405020304" pitchFamily="18" charset="0"/>
              </a:rPr>
              <a:t>hiện</a:t>
            </a:r>
            <a:r>
              <a:rPr lang="en-US" sz="8000" dirty="0">
                <a:latin typeface="Times New Roman" panose="02020603050405020304" pitchFamily="18" charset="0"/>
                <a:cs typeface="Times New Roman" panose="02020603050405020304" pitchFamily="18" charset="0"/>
              </a:rPr>
              <a:t> </a:t>
            </a:r>
            <a:r>
              <a:rPr lang="en-US" sz="8000" dirty="0" err="1">
                <a:latin typeface="Times New Roman" panose="02020603050405020304" pitchFamily="18" charset="0"/>
                <a:cs typeface="Times New Roman" panose="02020603050405020304" pitchFamily="18" charset="0"/>
              </a:rPr>
              <a:t>tại</a:t>
            </a:r>
            <a:r>
              <a:rPr lang="en-US" sz="8000" dirty="0">
                <a:latin typeface="Times New Roman" panose="02020603050405020304" pitchFamily="18" charset="0"/>
                <a:cs typeface="Times New Roman" panose="02020603050405020304" pitchFamily="18" charset="0"/>
              </a:rPr>
              <a:t> </a:t>
            </a:r>
            <a:r>
              <a:rPr lang="en-US" sz="8000" dirty="0" err="1">
                <a:latin typeface="Times New Roman" panose="02020603050405020304" pitchFamily="18" charset="0"/>
                <a:cs typeface="Times New Roman" panose="02020603050405020304" pitchFamily="18" charset="0"/>
              </a:rPr>
              <a:t>trong</a:t>
            </a:r>
            <a:r>
              <a:rPr lang="en-US" sz="8000" dirty="0">
                <a:latin typeface="Times New Roman" panose="02020603050405020304" pitchFamily="18" charset="0"/>
                <a:cs typeface="Times New Roman" panose="02020603050405020304" pitchFamily="18" charset="0"/>
              </a:rPr>
              <a:t> remote</a:t>
            </a:r>
          </a:p>
          <a:p>
            <a:r>
              <a:rPr lang="en-US" sz="8000" dirty="0">
                <a:latin typeface="Times New Roman" panose="02020603050405020304" pitchFamily="18" charset="0"/>
                <a:cs typeface="Times New Roman" panose="02020603050405020304" pitchFamily="18" charset="0"/>
              </a:rPr>
              <a:t>$ </a:t>
            </a:r>
            <a:r>
              <a:rPr lang="en-US" sz="8000" dirty="0" err="1">
                <a:latin typeface="Times New Roman" panose="02020603050405020304" pitchFamily="18" charset="0"/>
                <a:cs typeface="Times New Roman" panose="02020603050405020304" pitchFamily="18" charset="0"/>
              </a:rPr>
              <a:t>git</a:t>
            </a:r>
            <a:r>
              <a:rPr lang="en-US" sz="8000" dirty="0">
                <a:latin typeface="Times New Roman" panose="02020603050405020304" pitchFamily="18" charset="0"/>
                <a:cs typeface="Times New Roman" panose="02020603050405020304" pitchFamily="18" charset="0"/>
              </a:rPr>
              <a:t> branch</a:t>
            </a:r>
          </a:p>
          <a:p>
            <a:r>
              <a:rPr lang="en-US" sz="8000" dirty="0">
                <a:latin typeface="Times New Roman" panose="02020603050405020304" pitchFamily="18" charset="0"/>
                <a:cs typeface="Times New Roman" panose="02020603050405020304" pitchFamily="18" charset="0"/>
              </a:rPr>
              <a:t>$ </a:t>
            </a:r>
            <a:r>
              <a:rPr lang="en-US" sz="8000" dirty="0" err="1">
                <a:latin typeface="Times New Roman" panose="02020603050405020304" pitchFamily="18" charset="0"/>
                <a:cs typeface="Times New Roman" panose="02020603050405020304" pitchFamily="18" charset="0"/>
              </a:rPr>
              <a:t>git</a:t>
            </a:r>
            <a:r>
              <a:rPr lang="en-US" sz="8000" dirty="0">
                <a:latin typeface="Times New Roman" panose="02020603050405020304" pitchFamily="18" charset="0"/>
                <a:cs typeface="Times New Roman" panose="02020603050405020304" pitchFamily="18" charset="0"/>
              </a:rPr>
              <a:t> remote show &lt;</a:t>
            </a:r>
            <a:r>
              <a:rPr lang="en-US" sz="8000" dirty="0" err="1">
                <a:latin typeface="Times New Roman" panose="02020603050405020304" pitchFamily="18" charset="0"/>
                <a:cs typeface="Times New Roman" panose="02020603050405020304" pitchFamily="18" charset="0"/>
              </a:rPr>
              <a:t>tên_remote</a:t>
            </a:r>
            <a:r>
              <a:rPr lang="en-US" sz="8000" dirty="0">
                <a:latin typeface="Times New Roman" panose="02020603050405020304" pitchFamily="18" charset="0"/>
                <a:cs typeface="Times New Roman" panose="02020603050405020304" pitchFamily="18" charset="0"/>
              </a:rPr>
              <a:t>&gt;</a:t>
            </a:r>
          </a:p>
          <a:p>
            <a:r>
              <a:rPr lang="en-US" sz="8000" dirty="0">
                <a:latin typeface="Times New Roman" panose="02020603050405020304" pitchFamily="18" charset="0"/>
                <a:cs typeface="Times New Roman" panose="02020603050405020304" pitchFamily="18" charset="0"/>
              </a:rPr>
              <a:t>- </a:t>
            </a:r>
            <a:r>
              <a:rPr lang="en-US" sz="8000" dirty="0" err="1" smtClean="0">
                <a:latin typeface="Times New Roman" panose="02020603050405020304" pitchFamily="18" charset="0"/>
                <a:cs typeface="Times New Roman" panose="02020603050405020304" pitchFamily="18" charset="0"/>
              </a:rPr>
              <a:t>Cách</a:t>
            </a:r>
            <a:r>
              <a:rPr lang="en-US" sz="8000" dirty="0" smtClean="0">
                <a:latin typeface="Times New Roman" panose="02020603050405020304" pitchFamily="18" charset="0"/>
                <a:cs typeface="Times New Roman" panose="02020603050405020304" pitchFamily="18" charset="0"/>
              </a:rPr>
              <a:t> switch </a:t>
            </a:r>
            <a:r>
              <a:rPr lang="en-US" sz="8000" dirty="0" err="1" smtClean="0">
                <a:latin typeface="Times New Roman" panose="02020603050405020304" pitchFamily="18" charset="0"/>
                <a:cs typeface="Times New Roman" panose="02020603050405020304" pitchFamily="18" charset="0"/>
              </a:rPr>
              <a:t>từ</a:t>
            </a:r>
            <a:r>
              <a:rPr lang="en-US" sz="8000" dirty="0">
                <a:latin typeface="Times New Roman" panose="02020603050405020304" pitchFamily="18" charset="0"/>
                <a:cs typeface="Times New Roman" panose="02020603050405020304" pitchFamily="18" charset="0"/>
              </a:rPr>
              <a:t> </a:t>
            </a:r>
            <a:r>
              <a:rPr lang="en-US" sz="8000" dirty="0" smtClean="0">
                <a:latin typeface="Times New Roman" panose="02020603050405020304" pitchFamily="18" charset="0"/>
                <a:cs typeface="Times New Roman" panose="02020603050405020304" pitchFamily="18" charset="0"/>
              </a:rPr>
              <a:t>branch </a:t>
            </a:r>
            <a:r>
              <a:rPr lang="en-US" sz="8000" dirty="0" err="1" smtClean="0">
                <a:latin typeface="Times New Roman" panose="02020603050405020304" pitchFamily="18" charset="0"/>
                <a:cs typeface="Times New Roman" panose="02020603050405020304" pitchFamily="18" charset="0"/>
              </a:rPr>
              <a:t>này</a:t>
            </a:r>
            <a:r>
              <a:rPr lang="en-US" sz="8000" dirty="0" smtClean="0">
                <a:latin typeface="Times New Roman" panose="02020603050405020304" pitchFamily="18" charset="0"/>
                <a:cs typeface="Times New Roman" panose="02020603050405020304" pitchFamily="18" charset="0"/>
              </a:rPr>
              <a:t> qua branch </a:t>
            </a:r>
            <a:r>
              <a:rPr lang="en-US" sz="8000" dirty="0" err="1" smtClean="0">
                <a:latin typeface="Times New Roman" panose="02020603050405020304" pitchFamily="18" charset="0"/>
                <a:cs typeface="Times New Roman" panose="02020603050405020304" pitchFamily="18" charset="0"/>
              </a:rPr>
              <a:t>khác</a:t>
            </a:r>
            <a:endParaRPr lang="en-US" sz="8000" dirty="0">
              <a:latin typeface="Times New Roman" panose="02020603050405020304" pitchFamily="18" charset="0"/>
              <a:cs typeface="Times New Roman" panose="02020603050405020304" pitchFamily="18" charset="0"/>
            </a:endParaRPr>
          </a:p>
          <a:p>
            <a:r>
              <a:rPr lang="en-US" sz="8000" dirty="0">
                <a:latin typeface="Times New Roman" panose="02020603050405020304" pitchFamily="18" charset="0"/>
                <a:cs typeface="Times New Roman" panose="02020603050405020304" pitchFamily="18" charset="0"/>
              </a:rPr>
              <a:t>$ </a:t>
            </a:r>
            <a:r>
              <a:rPr lang="en-US" sz="8000" dirty="0" err="1">
                <a:latin typeface="Times New Roman" panose="02020603050405020304" pitchFamily="18" charset="0"/>
                <a:cs typeface="Times New Roman" panose="02020603050405020304" pitchFamily="18" charset="0"/>
              </a:rPr>
              <a:t>git</a:t>
            </a:r>
            <a:r>
              <a:rPr lang="en-US" sz="8000" dirty="0">
                <a:latin typeface="Times New Roman" panose="02020603050405020304" pitchFamily="18" charset="0"/>
                <a:cs typeface="Times New Roman" panose="02020603050405020304" pitchFamily="18" charset="0"/>
              </a:rPr>
              <a:t> checkout &lt;</a:t>
            </a:r>
            <a:r>
              <a:rPr lang="en-US" sz="8000" dirty="0" err="1">
                <a:latin typeface="Times New Roman" panose="02020603050405020304" pitchFamily="18" charset="0"/>
                <a:cs typeface="Times New Roman" panose="02020603050405020304" pitchFamily="18" charset="0"/>
              </a:rPr>
              <a:t>tên_branch</a:t>
            </a:r>
            <a:r>
              <a:rPr lang="en-US" sz="8000" dirty="0" smtClean="0">
                <a:latin typeface="Times New Roman" panose="02020603050405020304" pitchFamily="18" charset="0"/>
                <a:cs typeface="Times New Roman" panose="02020603050405020304" pitchFamily="18" charset="0"/>
              </a:rPr>
              <a:t>&gt;</a:t>
            </a:r>
          </a:p>
          <a:p>
            <a:endParaRPr lang="en-US" sz="6000" dirty="0"/>
          </a:p>
        </p:txBody>
      </p:sp>
    </p:spTree>
    <p:extLst>
      <p:ext uri="{BB962C8B-B14F-4D97-AF65-F5344CB8AC3E}">
        <p14:creationId xmlns:p14="http://schemas.microsoft.com/office/powerpoint/2010/main" val="42315084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1572" y="923370"/>
            <a:ext cx="8915399" cy="1468800"/>
          </a:xfrm>
        </p:spPr>
        <p:txBody>
          <a:bodyPr/>
          <a:lstStyle/>
          <a:p>
            <a:r>
              <a:rPr lang="en-US" dirty="0" err="1">
                <a:latin typeface="Times New Roman" panose="02020603050405020304" pitchFamily="18" charset="0"/>
                <a:cs typeface="Times New Roman" panose="02020603050405020304" pitchFamily="18" charset="0"/>
              </a:rPr>
              <a:t>Cách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Branch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vấn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tới</a:t>
            </a:r>
            <a:r>
              <a:rPr lang="en-US" dirty="0">
                <a:latin typeface="Times New Roman" panose="02020603050405020304" pitchFamily="18" charset="0"/>
                <a:cs typeface="Times New Roman" panose="02020603050405020304" pitchFamily="18" charset="0"/>
              </a:rPr>
              <a:t> branch</a:t>
            </a:r>
            <a:endParaRPr lang="en-US" dirty="0"/>
          </a:p>
        </p:txBody>
      </p:sp>
      <p:sp>
        <p:nvSpPr>
          <p:cNvPr id="3" name="Text Placeholder 2"/>
          <p:cNvSpPr>
            <a:spLocks noGrp="1"/>
          </p:cNvSpPr>
          <p:nvPr>
            <p:ph type="body" idx="1"/>
          </p:nvPr>
        </p:nvSpPr>
        <p:spPr>
          <a:xfrm>
            <a:off x="2421572" y="2500710"/>
            <a:ext cx="8915399" cy="2331779"/>
          </a:xfrm>
        </p:spPr>
        <p:txBody>
          <a:bodyPr>
            <a:normAutofit fontScale="25000" lnSpcReduction="20000"/>
          </a:bodyPr>
          <a:lstStyle/>
          <a:p>
            <a:r>
              <a:rPr lang="en-US" sz="8000" dirty="0">
                <a:latin typeface="Times New Roman" panose="02020603050405020304" pitchFamily="18" charset="0"/>
                <a:cs typeface="Times New Roman" panose="02020603050405020304" pitchFamily="18" charset="0"/>
              </a:rPr>
              <a:t>- </a:t>
            </a:r>
            <a:r>
              <a:rPr lang="en-US" sz="8000" dirty="0" err="1">
                <a:latin typeface="Times New Roman" panose="02020603050405020304" pitchFamily="18" charset="0"/>
                <a:cs typeface="Times New Roman" panose="02020603050405020304" pitchFamily="18" charset="0"/>
              </a:rPr>
              <a:t>Gộp</a:t>
            </a:r>
            <a:r>
              <a:rPr lang="en-US" sz="8000" dirty="0">
                <a:latin typeface="Times New Roman" panose="02020603050405020304" pitchFamily="18" charset="0"/>
                <a:cs typeface="Times New Roman" panose="02020603050405020304" pitchFamily="18" charset="0"/>
              </a:rPr>
              <a:t> </a:t>
            </a:r>
            <a:r>
              <a:rPr lang="en-US" sz="8000" dirty="0" err="1">
                <a:latin typeface="Times New Roman" panose="02020603050405020304" pitchFamily="18" charset="0"/>
                <a:cs typeface="Times New Roman" panose="02020603050405020304" pitchFamily="18" charset="0"/>
              </a:rPr>
              <a:t>dữ</a:t>
            </a:r>
            <a:r>
              <a:rPr lang="en-US" sz="8000" dirty="0">
                <a:latin typeface="Times New Roman" panose="02020603050405020304" pitchFamily="18" charset="0"/>
                <a:cs typeface="Times New Roman" panose="02020603050405020304" pitchFamily="18" charset="0"/>
              </a:rPr>
              <a:t> </a:t>
            </a:r>
            <a:r>
              <a:rPr lang="en-US" sz="8000" dirty="0" err="1">
                <a:latin typeface="Times New Roman" panose="02020603050405020304" pitchFamily="18" charset="0"/>
                <a:cs typeface="Times New Roman" panose="02020603050405020304" pitchFamily="18" charset="0"/>
              </a:rPr>
              <a:t>liệu</a:t>
            </a:r>
            <a:r>
              <a:rPr lang="en-US" sz="8000" dirty="0">
                <a:latin typeface="Times New Roman" panose="02020603050405020304" pitchFamily="18" charset="0"/>
                <a:cs typeface="Times New Roman" panose="02020603050405020304" pitchFamily="18" charset="0"/>
              </a:rPr>
              <a:t> </a:t>
            </a:r>
            <a:r>
              <a:rPr lang="en-US" sz="8000" dirty="0" err="1">
                <a:latin typeface="Times New Roman" panose="02020603050405020304" pitchFamily="18" charset="0"/>
                <a:cs typeface="Times New Roman" panose="02020603050405020304" pitchFamily="18" charset="0"/>
              </a:rPr>
              <a:t>từ</a:t>
            </a:r>
            <a:r>
              <a:rPr lang="en-US" sz="8000" dirty="0">
                <a:latin typeface="Times New Roman" panose="02020603050405020304" pitchFamily="18" charset="0"/>
                <a:cs typeface="Times New Roman" panose="02020603050405020304" pitchFamily="18" charset="0"/>
              </a:rPr>
              <a:t> 1 branch </a:t>
            </a:r>
            <a:r>
              <a:rPr lang="en-US" sz="8000" dirty="0" err="1">
                <a:latin typeface="Times New Roman" panose="02020603050405020304" pitchFamily="18" charset="0"/>
                <a:cs typeface="Times New Roman" panose="02020603050405020304" pitchFamily="18" charset="0"/>
              </a:rPr>
              <a:t>bất</a:t>
            </a:r>
            <a:r>
              <a:rPr lang="en-US" sz="8000" dirty="0">
                <a:latin typeface="Times New Roman" panose="02020603050405020304" pitchFamily="18" charset="0"/>
                <a:cs typeface="Times New Roman" panose="02020603050405020304" pitchFamily="18" charset="0"/>
              </a:rPr>
              <a:t> </a:t>
            </a:r>
            <a:r>
              <a:rPr lang="en-US" sz="8000" dirty="0" err="1">
                <a:latin typeface="Times New Roman" panose="02020603050405020304" pitchFamily="18" charset="0"/>
                <a:cs typeface="Times New Roman" panose="02020603050405020304" pitchFamily="18" charset="0"/>
              </a:rPr>
              <a:t>kì</a:t>
            </a:r>
            <a:r>
              <a:rPr lang="en-US" sz="8000" dirty="0">
                <a:latin typeface="Times New Roman" panose="02020603050405020304" pitchFamily="18" charset="0"/>
                <a:cs typeface="Times New Roman" panose="02020603050405020304" pitchFamily="18" charset="0"/>
              </a:rPr>
              <a:t> </a:t>
            </a:r>
            <a:r>
              <a:rPr lang="en-US" sz="8000" dirty="0" err="1">
                <a:latin typeface="Times New Roman" panose="02020603050405020304" pitchFamily="18" charset="0"/>
                <a:cs typeface="Times New Roman" panose="02020603050405020304" pitchFamily="18" charset="0"/>
              </a:rPr>
              <a:t>về</a:t>
            </a:r>
            <a:r>
              <a:rPr lang="en-US" sz="8000" dirty="0">
                <a:latin typeface="Times New Roman" panose="02020603050405020304" pitchFamily="18" charset="0"/>
                <a:cs typeface="Times New Roman" panose="02020603050405020304" pitchFamily="18" charset="0"/>
              </a:rPr>
              <a:t> branch </a:t>
            </a:r>
            <a:r>
              <a:rPr lang="en-US" sz="8000" dirty="0" err="1">
                <a:latin typeface="Times New Roman" panose="02020603050405020304" pitchFamily="18" charset="0"/>
                <a:cs typeface="Times New Roman" panose="02020603050405020304" pitchFamily="18" charset="0"/>
              </a:rPr>
              <a:t>đang</a:t>
            </a:r>
            <a:r>
              <a:rPr lang="en-US" sz="8000" dirty="0">
                <a:latin typeface="Times New Roman" panose="02020603050405020304" pitchFamily="18" charset="0"/>
                <a:cs typeface="Times New Roman" panose="02020603050405020304" pitchFamily="18" charset="0"/>
              </a:rPr>
              <a:t> </a:t>
            </a:r>
            <a:r>
              <a:rPr lang="en-US" sz="8000" dirty="0" err="1">
                <a:latin typeface="Times New Roman" panose="02020603050405020304" pitchFamily="18" charset="0"/>
                <a:cs typeface="Times New Roman" panose="02020603050405020304" pitchFamily="18" charset="0"/>
              </a:rPr>
              <a:t>trỏ</a:t>
            </a:r>
            <a:endParaRPr lang="en-US" sz="8000" dirty="0">
              <a:latin typeface="Times New Roman" panose="02020603050405020304" pitchFamily="18" charset="0"/>
              <a:cs typeface="Times New Roman" panose="02020603050405020304" pitchFamily="18" charset="0"/>
            </a:endParaRPr>
          </a:p>
          <a:p>
            <a:r>
              <a:rPr lang="en-US" sz="8000" dirty="0">
                <a:latin typeface="Times New Roman" panose="02020603050405020304" pitchFamily="18" charset="0"/>
                <a:cs typeface="Times New Roman" panose="02020603050405020304" pitchFamily="18" charset="0"/>
              </a:rPr>
              <a:t>$ </a:t>
            </a:r>
            <a:r>
              <a:rPr lang="en-US" sz="8000" dirty="0" err="1">
                <a:latin typeface="Times New Roman" panose="02020603050405020304" pitchFamily="18" charset="0"/>
                <a:cs typeface="Times New Roman" panose="02020603050405020304" pitchFamily="18" charset="0"/>
              </a:rPr>
              <a:t>git</a:t>
            </a:r>
            <a:r>
              <a:rPr lang="en-US" sz="8000" dirty="0">
                <a:latin typeface="Times New Roman" panose="02020603050405020304" pitchFamily="18" charset="0"/>
                <a:cs typeface="Times New Roman" panose="02020603050405020304" pitchFamily="18" charset="0"/>
              </a:rPr>
              <a:t> merge &lt;</a:t>
            </a:r>
            <a:r>
              <a:rPr lang="en-US" sz="8000" dirty="0" err="1">
                <a:latin typeface="Times New Roman" panose="02020603050405020304" pitchFamily="18" charset="0"/>
                <a:cs typeface="Times New Roman" panose="02020603050405020304" pitchFamily="18" charset="0"/>
              </a:rPr>
              <a:t>tên_branch_muốn_gộp</a:t>
            </a:r>
            <a:r>
              <a:rPr lang="en-US" sz="8000" dirty="0">
                <a:latin typeface="Times New Roman" panose="02020603050405020304" pitchFamily="18" charset="0"/>
                <a:cs typeface="Times New Roman" panose="02020603050405020304" pitchFamily="18" charset="0"/>
              </a:rPr>
              <a:t>&gt;</a:t>
            </a:r>
          </a:p>
          <a:p>
            <a:endParaRPr lang="en-US" sz="8000" dirty="0">
              <a:latin typeface="Times New Roman" panose="02020603050405020304" pitchFamily="18" charset="0"/>
              <a:cs typeface="Times New Roman" panose="02020603050405020304" pitchFamily="18" charset="0"/>
            </a:endParaRPr>
          </a:p>
          <a:p>
            <a:r>
              <a:rPr lang="en-US" sz="8000" dirty="0">
                <a:latin typeface="Times New Roman" panose="02020603050405020304" pitchFamily="18" charset="0"/>
                <a:cs typeface="Times New Roman" panose="02020603050405020304" pitchFamily="18" charset="0"/>
              </a:rPr>
              <a:t>- </a:t>
            </a:r>
            <a:r>
              <a:rPr lang="en-US" sz="8000" dirty="0" err="1">
                <a:latin typeface="Times New Roman" panose="02020603050405020304" pitchFamily="18" charset="0"/>
                <a:cs typeface="Times New Roman" panose="02020603050405020304" pitchFamily="18" charset="0"/>
              </a:rPr>
              <a:t>Xóa</a:t>
            </a:r>
            <a:r>
              <a:rPr lang="en-US" sz="8000" dirty="0">
                <a:latin typeface="Times New Roman" panose="02020603050405020304" pitchFamily="18" charset="0"/>
                <a:cs typeface="Times New Roman" panose="02020603050405020304" pitchFamily="18" charset="0"/>
              </a:rPr>
              <a:t> branch</a:t>
            </a:r>
          </a:p>
          <a:p>
            <a:r>
              <a:rPr lang="en-US" sz="8000" dirty="0">
                <a:latin typeface="Times New Roman" panose="02020603050405020304" pitchFamily="18" charset="0"/>
                <a:cs typeface="Times New Roman" panose="02020603050405020304" pitchFamily="18" charset="0"/>
              </a:rPr>
              <a:t>$ </a:t>
            </a:r>
            <a:r>
              <a:rPr lang="en-US" sz="8000" dirty="0" err="1">
                <a:latin typeface="Times New Roman" panose="02020603050405020304" pitchFamily="18" charset="0"/>
                <a:cs typeface="Times New Roman" panose="02020603050405020304" pitchFamily="18" charset="0"/>
              </a:rPr>
              <a:t>git</a:t>
            </a:r>
            <a:r>
              <a:rPr lang="en-US" sz="8000" dirty="0">
                <a:latin typeface="Times New Roman" panose="02020603050405020304" pitchFamily="18" charset="0"/>
                <a:cs typeface="Times New Roman" panose="02020603050405020304" pitchFamily="18" charset="0"/>
              </a:rPr>
              <a:t> branch -d &lt;</a:t>
            </a:r>
            <a:r>
              <a:rPr lang="en-US" sz="8000" dirty="0" err="1">
                <a:latin typeface="Times New Roman" panose="02020603050405020304" pitchFamily="18" charset="0"/>
                <a:cs typeface="Times New Roman" panose="02020603050405020304" pitchFamily="18" charset="0"/>
              </a:rPr>
              <a:t>tên_branch_muốn_xóa</a:t>
            </a:r>
            <a:r>
              <a:rPr lang="en-US" sz="8000" dirty="0">
                <a:latin typeface="Times New Roman" panose="02020603050405020304" pitchFamily="18" charset="0"/>
                <a:cs typeface="Times New Roman" panose="02020603050405020304" pitchFamily="18" charset="0"/>
              </a:rPr>
              <a:t>&gt;</a:t>
            </a:r>
          </a:p>
          <a:p>
            <a:endParaRPr lang="en-US" sz="8000" dirty="0">
              <a:latin typeface="Times New Roman" panose="02020603050405020304" pitchFamily="18" charset="0"/>
              <a:cs typeface="Times New Roman" panose="02020603050405020304" pitchFamily="18" charset="0"/>
            </a:endParaRPr>
          </a:p>
          <a:p>
            <a:r>
              <a:rPr lang="en-US" sz="8000" dirty="0">
                <a:latin typeface="Times New Roman" panose="02020603050405020304" pitchFamily="18" charset="0"/>
                <a:cs typeface="Times New Roman" panose="02020603050405020304" pitchFamily="18" charset="0"/>
              </a:rPr>
              <a:t>- </a:t>
            </a:r>
            <a:r>
              <a:rPr lang="en-US" sz="8000" dirty="0" err="1">
                <a:latin typeface="Times New Roman" panose="02020603050405020304" pitchFamily="18" charset="0"/>
                <a:cs typeface="Times New Roman" panose="02020603050405020304" pitchFamily="18" charset="0"/>
              </a:rPr>
              <a:t>Tạo</a:t>
            </a:r>
            <a:r>
              <a:rPr lang="en-US" sz="8000" dirty="0">
                <a:latin typeface="Times New Roman" panose="02020603050405020304" pitchFamily="18" charset="0"/>
                <a:cs typeface="Times New Roman" panose="02020603050405020304" pitchFamily="18" charset="0"/>
              </a:rPr>
              <a:t> 1 branch </a:t>
            </a:r>
            <a:r>
              <a:rPr lang="en-US" sz="8000" dirty="0" err="1">
                <a:latin typeface="Times New Roman" panose="02020603050405020304" pitchFamily="18" charset="0"/>
                <a:cs typeface="Times New Roman" panose="02020603050405020304" pitchFamily="18" charset="0"/>
              </a:rPr>
              <a:t>trên</a:t>
            </a:r>
            <a:r>
              <a:rPr lang="en-US" sz="8000" dirty="0">
                <a:latin typeface="Times New Roman" panose="02020603050405020304" pitchFamily="18" charset="0"/>
                <a:cs typeface="Times New Roman" panose="02020603050405020304" pitchFamily="18" charset="0"/>
              </a:rPr>
              <a:t> repo </a:t>
            </a:r>
            <a:r>
              <a:rPr lang="en-US" sz="8000" dirty="0" smtClean="0">
                <a:latin typeface="Times New Roman" panose="02020603050405020304" pitchFamily="18" charset="0"/>
                <a:cs typeface="Times New Roman" panose="02020603050405020304" pitchFamily="18" charset="0"/>
              </a:rPr>
              <a:t>server</a:t>
            </a:r>
            <a:endParaRPr lang="en-US" sz="8000" dirty="0">
              <a:latin typeface="Times New Roman" panose="02020603050405020304" pitchFamily="18" charset="0"/>
              <a:cs typeface="Times New Roman" panose="02020603050405020304" pitchFamily="18" charset="0"/>
            </a:endParaRPr>
          </a:p>
          <a:p>
            <a:r>
              <a:rPr lang="en-US" sz="8000" dirty="0">
                <a:latin typeface="Times New Roman" panose="02020603050405020304" pitchFamily="18" charset="0"/>
                <a:cs typeface="Times New Roman" panose="02020603050405020304" pitchFamily="18" charset="0"/>
              </a:rPr>
              <a:t>$ </a:t>
            </a:r>
            <a:r>
              <a:rPr lang="en-US" sz="8000" dirty="0" err="1">
                <a:latin typeface="Times New Roman" panose="02020603050405020304" pitchFamily="18" charset="0"/>
                <a:cs typeface="Times New Roman" panose="02020603050405020304" pitchFamily="18" charset="0"/>
              </a:rPr>
              <a:t>git</a:t>
            </a:r>
            <a:r>
              <a:rPr lang="en-US" sz="8000" dirty="0">
                <a:latin typeface="Times New Roman" panose="02020603050405020304" pitchFamily="18" charset="0"/>
                <a:cs typeface="Times New Roman" panose="02020603050405020304" pitchFamily="18" charset="0"/>
              </a:rPr>
              <a:t> push origin &lt;</a:t>
            </a:r>
            <a:r>
              <a:rPr lang="en-US" sz="8000" dirty="0" err="1">
                <a:latin typeface="Times New Roman" panose="02020603050405020304" pitchFamily="18" charset="0"/>
                <a:cs typeface="Times New Roman" panose="02020603050405020304" pitchFamily="18" charset="0"/>
              </a:rPr>
              <a:t>tên_branch</a:t>
            </a:r>
            <a:r>
              <a:rPr lang="en-US" sz="8000" dirty="0">
                <a:latin typeface="Times New Roman" panose="02020603050405020304" pitchFamily="18" charset="0"/>
                <a:cs typeface="Times New Roman" panose="02020603050405020304" pitchFamily="18" charset="0"/>
              </a:rPr>
              <a:t>&gt;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636000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930990"/>
            <a:ext cx="8915399" cy="1468800"/>
          </a:xfrm>
        </p:spPr>
        <p:txBody>
          <a:bodyPr/>
          <a:lstStyle/>
          <a:p>
            <a:r>
              <a:rPr lang="en-US" dirty="0" smtClean="0">
                <a:latin typeface="Times New Roman" panose="02020603050405020304" pitchFamily="18" charset="0"/>
                <a:cs typeface="Times New Roman" panose="02020603050405020304" pitchFamily="18" charset="0"/>
              </a:rPr>
              <a:t>Link </a:t>
            </a:r>
            <a:r>
              <a:rPr lang="en-US" dirty="0" err="1" smtClean="0">
                <a:latin typeface="Times New Roman" panose="02020603050405020304" pitchFamily="18" charset="0"/>
                <a:cs typeface="Times New Roman" panose="02020603050405020304" pitchFamily="18" charset="0"/>
              </a:rPr>
              <a:t>cài</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đặt</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và</a:t>
            </a:r>
            <a:r>
              <a:rPr lang="en-US" dirty="0" smtClean="0">
                <a:latin typeface="Times New Roman" panose="02020603050405020304" pitchFamily="18" charset="0"/>
                <a:cs typeface="Times New Roman" panose="02020603050405020304" pitchFamily="18" charset="0"/>
              </a:rPr>
              <a:t> document</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2589212" y="2775749"/>
            <a:ext cx="8915399" cy="860400"/>
          </a:xfrm>
        </p:spPr>
        <p:txBody>
          <a:bodyPr/>
          <a:lstStyle/>
          <a:p>
            <a:pPr marL="457200" indent="-457200">
              <a:buAutoNum type="arabicPeriod"/>
            </a:pPr>
            <a:r>
              <a:rPr lang="en-US" dirty="0" smtClean="0">
                <a:latin typeface="Times New Roman" panose="02020603050405020304" pitchFamily="18" charset="0"/>
                <a:cs typeface="Times New Roman" panose="02020603050405020304" pitchFamily="18" charset="0"/>
              </a:rPr>
              <a:t>File </a:t>
            </a:r>
            <a:r>
              <a:rPr lang="en-US" dirty="0">
                <a:latin typeface="Times New Roman" panose="02020603050405020304" pitchFamily="18" charset="0"/>
                <a:cs typeface="Times New Roman" panose="02020603050405020304" pitchFamily="18" charset="0"/>
              </a:rPr>
              <a:t>download : </a:t>
            </a:r>
            <a:r>
              <a:rPr lang="en-US" dirty="0">
                <a:latin typeface="Times New Roman" panose="02020603050405020304" pitchFamily="18" charset="0"/>
                <a:cs typeface="Times New Roman" panose="02020603050405020304" pitchFamily="18" charset="0"/>
                <a:hlinkClick r:id="rId2"/>
              </a:rPr>
              <a:t>https://git-scm.com</a:t>
            </a:r>
            <a:r>
              <a:rPr lang="en-US" dirty="0" smtClean="0">
                <a:latin typeface="Times New Roman" panose="02020603050405020304" pitchFamily="18" charset="0"/>
                <a:cs typeface="Times New Roman" panose="02020603050405020304" pitchFamily="18" charset="0"/>
                <a:hlinkClick r:id="rId2"/>
              </a:rPr>
              <a:t>/</a:t>
            </a:r>
            <a:endParaRPr lang="en-US" dirty="0" smtClean="0">
              <a:latin typeface="Times New Roman" panose="02020603050405020304" pitchFamily="18" charset="0"/>
              <a:cs typeface="Times New Roman" panose="02020603050405020304" pitchFamily="18" charset="0"/>
            </a:endParaRPr>
          </a:p>
          <a:p>
            <a:pPr marL="457200" indent="-457200">
              <a:buFont typeface="Wingdings 3" charset="2"/>
              <a:buAutoNum type="arabicPeriod"/>
            </a:pPr>
            <a:r>
              <a:rPr lang="en-US" dirty="0">
                <a:latin typeface="Times New Roman" panose="02020603050405020304" pitchFamily="18" charset="0"/>
                <a:cs typeface="Times New Roman" panose="02020603050405020304" pitchFamily="18" charset="0"/>
              </a:rPr>
              <a:t>Document: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https://thachpham.com/series/git-co-ban</a:t>
            </a:r>
          </a:p>
        </p:txBody>
      </p:sp>
    </p:spTree>
    <p:extLst>
      <p:ext uri="{BB962C8B-B14F-4D97-AF65-F5344CB8AC3E}">
        <p14:creationId xmlns:p14="http://schemas.microsoft.com/office/powerpoint/2010/main" val="933733076"/>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1223</TotalTime>
  <Words>696</Words>
  <Application>Microsoft Office PowerPoint</Application>
  <PresentationFormat>Widescreen</PresentationFormat>
  <Paragraphs>62</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Century Gothic</vt:lpstr>
      <vt:lpstr>Times New Roman</vt:lpstr>
      <vt:lpstr>Wingdings 3</vt:lpstr>
      <vt:lpstr>Wisp</vt:lpstr>
      <vt:lpstr>How to use Git </vt:lpstr>
      <vt:lpstr>Git là gì?</vt:lpstr>
      <vt:lpstr>Tại sao lại sử dụng Git?</vt:lpstr>
      <vt:lpstr>Phương thức hoạt động của Git</vt:lpstr>
      <vt:lpstr>Thiết lập chứng thực cá nhân trên Git Bash</vt:lpstr>
      <vt:lpstr>Tạo account and create new repository trên Git server (bởi vì ILM đã có server và account nên bỏ qua bước này)</vt:lpstr>
      <vt:lpstr>Clone kho chứa trên server(github) về máy.</vt:lpstr>
      <vt:lpstr>Staging area and commit</vt:lpstr>
      <vt:lpstr>Staging area and commit</vt:lpstr>
      <vt:lpstr>Remove or delete 1 file khỏi staging area</vt:lpstr>
      <vt:lpstr>Cách modify 1 file có sẵn trong staging area và commit lên server (github)</vt:lpstr>
      <vt:lpstr>Cập nhật mọi thay đổi từ repository server về máy local</vt:lpstr>
      <vt:lpstr>Branch và cách tạo</vt:lpstr>
      <vt:lpstr>Cách tạo Branch và các vấn đề liên quan tới branch</vt:lpstr>
      <vt:lpstr>Cách tạo Branch và các vấn đề liên quan tới branch</vt:lpstr>
      <vt:lpstr>Link cài đặt và document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use Git </dc:title>
  <dc:creator>Tu  Nguyen Hoang Thanh</dc:creator>
  <cp:lastModifiedBy>Tu  Nguyen Hoang Thanh</cp:lastModifiedBy>
  <cp:revision>30</cp:revision>
  <dcterms:created xsi:type="dcterms:W3CDTF">2018-03-20T10:12:54Z</dcterms:created>
  <dcterms:modified xsi:type="dcterms:W3CDTF">2018-03-23T08:02:27Z</dcterms:modified>
</cp:coreProperties>
</file>