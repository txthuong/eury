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3" r:id="rId2"/>
    <p:sldId id="298" r:id="rId3"/>
    <p:sldId id="257" r:id="rId4"/>
    <p:sldId id="299" r:id="rId5"/>
    <p:sldId id="264" r:id="rId6"/>
    <p:sldId id="265" r:id="rId7"/>
    <p:sldId id="260" r:id="rId8"/>
    <p:sldId id="300" r:id="rId9"/>
    <p:sldId id="266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44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50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207AF-01F8-4555-8224-552A56F80E0E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A4FBB-AF16-438F-887C-2676E866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1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ierrawireless.com/products-and-solutions/cloud-and-connectivity-solutions/airvantage" TargetMode="External"/><Relationship Id="rId3" Type="http://schemas.openxmlformats.org/officeDocument/2006/relationships/hyperlink" Target="http://www.sierrawireless.com/products-and-solutions/embedded-solutions/open-source-initiatives" TargetMode="External"/><Relationship Id="rId7" Type="http://schemas.openxmlformats.org/officeDocument/2006/relationships/hyperlink" Target="http://www.sierrawireless.com/products-and-solutions/embedded-solutions/device-to-cloud-architecture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sierrawireless.com/products-and-solutions/embedded-solutions/open-source-initiatives#mangOH" TargetMode="External"/><Relationship Id="rId5" Type="http://schemas.openxmlformats.org/officeDocument/2006/relationships/hyperlink" Target="http://www.sierrawireless.com/products-and-solutions/embedded-solutions/fota" TargetMode="External"/><Relationship Id="rId4" Type="http://schemas.openxmlformats.org/officeDocument/2006/relationships/hyperlink" Target="http://www.sierrawireless.com/products-and-solutions/embedded-solutions/future-proof-form-factors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A7CE7465-A5A1-440C-A549-12AECFD99125}" type="slidenum">
              <a:t>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526280"/>
          </a:xfrm>
        </p:spPr>
        <p:txBody>
          <a:bodyPr>
            <a:spAutoFit/>
          </a:bodyPr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3743371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ARM core application processor with dedicated Flash and RAM running </a:t>
            </a:r>
            <a:r>
              <a:rPr lang="en-US" altLang="en-US" smtClean="0">
                <a:hlinkClick r:id="rId3"/>
              </a:rPr>
              <a:t>Legato™</a:t>
            </a:r>
            <a:r>
              <a:rPr lang="en-US" altLang="en-US" smtClean="0"/>
              <a:t> enhances security, reduces system complexity, and lowers overall BOM (bill of materials)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GNSS receiver enables tracking and location-based services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Ultra-low power mode reduces power consumption by 200x for battery or solar powered applications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Compact </a:t>
            </a:r>
            <a:r>
              <a:rPr lang="en-US" altLang="en-US" smtClean="0">
                <a:hlinkClick r:id="rId4"/>
              </a:rPr>
              <a:t>CF3™ form factor</a:t>
            </a:r>
            <a:r>
              <a:rPr lang="en-US" altLang="en-US" smtClean="0"/>
              <a:t> with solder-down or snap-in socket options for ultimate flexibility in prototyping and build-to-order manufacturing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Secure boot and value-add firmware with </a:t>
            </a:r>
            <a:r>
              <a:rPr lang="en-US" altLang="en-US" smtClean="0">
                <a:hlinkClick r:id="rId5"/>
              </a:rPr>
              <a:t>FREE unlimited firmware over-the-air (FOTA) upgrades</a:t>
            </a:r>
            <a:r>
              <a:rPr lang="en-US" altLang="en-US" smtClean="0"/>
              <a:t> for the lifetime of the module to keep the connectivity optimized and secure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Interfaces include USB, UART, SDIO, HSIC, I2C, SPI, GPIO, ADC, PCM, and more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Open hardware reference design from </a:t>
            </a:r>
            <a:r>
              <a:rPr lang="en-US" altLang="en-US" smtClean="0">
                <a:hlinkClick r:id="rId6"/>
              </a:rPr>
              <a:t>Project mangOH™</a:t>
            </a:r>
            <a:r>
              <a:rPr lang="en-US" altLang="en-US" smtClean="0"/>
              <a:t>,  enables rapid prototyping with industrial-grade components to get you to market faster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Secure </a:t>
            </a:r>
            <a:r>
              <a:rPr lang="en-US" altLang="en-US" smtClean="0">
                <a:hlinkClick r:id="rId7"/>
              </a:rPr>
              <a:t>device-to-cloud architecture</a:t>
            </a:r>
            <a:r>
              <a:rPr lang="en-US" altLang="en-US" smtClean="0"/>
              <a:t> with </a:t>
            </a:r>
            <a:r>
              <a:rPr lang="en-US" altLang="en-US" smtClean="0">
                <a:hlinkClick r:id="rId8"/>
              </a:rPr>
              <a:t>AirVantage®</a:t>
            </a:r>
            <a:r>
              <a:rPr lang="en-US" altLang="en-US" smtClean="0"/>
              <a:t> pre-integrated into the </a:t>
            </a:r>
            <a:r>
              <a:rPr lang="en-US" altLang="en-US" smtClean="0">
                <a:hlinkClick r:id="rId3"/>
              </a:rPr>
              <a:t>Legato platform</a:t>
            </a:r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9457B18-A09E-491E-BC7C-1571345EDBCA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679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8B76472-D6A3-4985-84C2-0697963EB3E6}" type="slidenum">
              <a:t>10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1926924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E6C93205-AE43-4757-B83F-D3C8C9C91F1B}" type="slidenum">
              <a:t>11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58495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A5F60358-BCC2-45F9-9682-4B1E0601046C}" type="slidenum">
              <a:t>12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3206228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EF658101-4C1A-4031-A484-4FC4668FC235}" type="slidenum">
              <a:t>13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643866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8529A9F-5D16-4EF1-958D-2A8F56E3903E}" type="slidenum">
              <a:t>14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3671369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727A7E2-34F8-4430-8068-4658B4B50E5E}" type="slidenum">
              <a:t>15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130534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87AF7F1-FE96-4A6C-944D-35DF6DCDD239}" type="slidenum">
              <a:t>16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888940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70E2D5A-29E9-4009-A8AF-43CF6210D0CE}" type="slidenum">
              <a:t>17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2812997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9049AA3-5E34-4F5C-8011-0200AF161E3E}" type="slidenum">
              <a:t>18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2092314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4175AFB-0B61-4884-B85D-9AFF5E6365BA}" type="slidenum">
              <a:t>19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1299480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F49975-6B88-4700-8B74-800CEC962E3C}" type="slidenum">
              <a:t>20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2385802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B408EE0-2480-4EA1-9E5C-F4C22925EC3C}" type="slidenum">
              <a:t>21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1993835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56A504F1-0DB9-463A-BE4A-2BFEFE957370}" type="slidenum">
              <a:t>22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63070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83690B7E-BDB0-4315-A463-21BF10E3E038}" type="slidenum">
              <a:t>23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1653581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E7BCB24-C27F-4D9C-BEDE-AB10966143EA}" type="slidenum">
              <a:t>24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2303703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0BFD074-042B-43C7-9C69-1500F7D03A4B}" type="slidenum">
              <a:t>25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82770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8E6EA1FF-7233-4044-AEA2-BEB3F4BFAD8C}" type="slidenum">
              <a:t>26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5646121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BE95377F-37B4-4DA6-964C-1BD855D8910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871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532EFA1C-BE1B-4DE0-B4A1-E59B720F1363}" type="slidenum">
              <a:t>35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6880" y="4777560"/>
            <a:ext cx="6217560" cy="4435920"/>
          </a:xfrm>
        </p:spPr>
        <p:txBody>
          <a:bodyPr/>
          <a:lstStyle/>
          <a:p>
            <a:endParaRPr lang="en-US">
              <a:latin typeface="Albany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220710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3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0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3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891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1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65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09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35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1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4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7B0E6-A6DB-49EF-86E6-3DF2C66F010F}" type="datetimeFigureOut">
              <a:rPr lang="en-US" smtClean="0"/>
              <a:t>8/31/2016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B35-B530-419A-86A2-0423E6F1A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8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inuxgizmos.com/latest-atheros-iot-socs-include-openwrt-friendly-model/" TargetMode="External"/><Relationship Id="rId2" Type="http://schemas.openxmlformats.org/officeDocument/2006/relationships/hyperlink" Target="http://linuxgizmos.com/linux-based-sierra-wireless-iot-module-has-3g-or-4g-radio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ierrawireless.com/newsroom/newsreleases/2014/02-24-2014-sierra_wireless_introduces_legato_a_powerful_linux-based_platform_for_embedded_application_developmen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ierrawireless.com/products-and-solutions/embedded-solutions/device-to-cloud-architecture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://www.sierrawireless.com/products-and-solutions/embedded-solutions/open-source-initiatives#mangO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ierrawireless.com/products-and-solutions/embedded-solutions/fota" TargetMode="External"/><Relationship Id="rId5" Type="http://schemas.openxmlformats.org/officeDocument/2006/relationships/hyperlink" Target="http://www.sierrawireless.com/products-and-solutions/embedded-solutions/future-proof-form-factors" TargetMode="External"/><Relationship Id="rId10" Type="http://schemas.openxmlformats.org/officeDocument/2006/relationships/hyperlink" Target="http://source.sierrawireless.com/resources/#tags=WP8548" TargetMode="External"/><Relationship Id="rId4" Type="http://schemas.openxmlformats.org/officeDocument/2006/relationships/hyperlink" Target="http://www.sierrawireless.com/products-and-solutions/embedded-solutions/open-source-initiatives" TargetMode="External"/><Relationship Id="rId9" Type="http://schemas.openxmlformats.org/officeDocument/2006/relationships/hyperlink" Target="http://www.sierrawireless.com/products-and-solutions/cloud-and-connectivity-solutions/airvantag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Placeholder 4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Aug 2016</a:t>
            </a:r>
          </a:p>
          <a:p>
            <a:pPr>
              <a:defRPr/>
            </a:pPr>
            <a:r>
              <a:rPr lang="en-US" dirty="0" err="1"/>
              <a:t>Kha</a:t>
            </a:r>
            <a:r>
              <a:rPr lang="en-US" dirty="0"/>
              <a:t> Nguyen</a:t>
            </a:r>
          </a:p>
          <a:p>
            <a:pPr>
              <a:defRPr/>
            </a:pPr>
            <a:r>
              <a:rPr lang="en-US" dirty="0" smtClean="0"/>
              <a:t>Cuong Bui</a:t>
            </a:r>
            <a:endParaRPr lang="en-US" dirty="0" smtClean="0"/>
          </a:p>
        </p:txBody>
      </p:sp>
      <p:sp>
        <p:nvSpPr>
          <p:cNvPr id="3075" name="Titl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91050F"/>
                </a:solidFill>
              </a:rPr>
              <a:t>Sierra Wireless</a:t>
            </a:r>
            <a:br>
              <a:rPr lang="en-US" altLang="en-US" dirty="0" smtClean="0">
                <a:solidFill>
                  <a:srgbClr val="91050F"/>
                </a:solidFill>
              </a:rPr>
            </a:br>
            <a:r>
              <a:rPr lang="en-US" altLang="en-US" dirty="0" smtClean="0">
                <a:solidFill>
                  <a:srgbClr val="91050F"/>
                </a:solidFill>
              </a:rPr>
              <a:t>Legato Application Framework</a:t>
            </a:r>
          </a:p>
        </p:txBody>
      </p:sp>
      <p:pic>
        <p:nvPicPr>
          <p:cNvPr id="3076" name="Picture 2" descr="http://www.sierrawireless.com/%7E/media/iot/logo/sw-logo.ashx?h=94&amp;la=en&amp;w=1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20675"/>
            <a:ext cx="16192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93231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 txBox="1">
            <a:spLocks noGrp="1"/>
          </p:cNvSpPr>
          <p:nvPr>
            <p:ph type="subTitle" idx="4294967295"/>
          </p:nvPr>
        </p:nvSpPr>
        <p:spPr>
          <a:xfrm>
            <a:off x="1983580" y="3212338"/>
            <a:ext cx="8223561" cy="1383969"/>
          </a:xfrm>
        </p:spPr>
        <p:txBody>
          <a:bodyPr anchor="ctr">
            <a:spAutoFit/>
          </a:bodyPr>
          <a:lstStyle/>
          <a:p>
            <a:pPr indent="-195869"/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Legato SW Platform Introduction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indent="-195869"/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Process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to development/testing Embedded application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1983580" y="494962"/>
            <a:ext cx="8223561" cy="701731"/>
          </a:xfrm>
        </p:spPr>
        <p:txBody>
          <a:bodyPr>
            <a:spAutoFit/>
          </a:bodyPr>
          <a:lstStyle/>
          <a:p>
            <a:pPr lvl="0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38915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229600" cy="6858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4900" dirty="0">
                <a:solidFill>
                  <a:srgbClr val="91050F"/>
                </a:solidFill>
              </a:rPr>
              <a:t>Embedded</a:t>
            </a:r>
            <a:r>
              <a:rPr lang="en-US" dirty="0" smtClean="0">
                <a:solidFill>
                  <a:srgbClr val="91050F"/>
                </a:solidFill>
              </a:rPr>
              <a:t> SW Platforms </a:t>
            </a:r>
            <a:endParaRPr lang="en-US" dirty="0">
              <a:solidFill>
                <a:srgbClr val="91050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2895600"/>
            <a:ext cx="9622971" cy="243840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dirty="0" err="1">
                <a:solidFill>
                  <a:srgbClr val="91050F"/>
                </a:solidFill>
              </a:rPr>
              <a:t>AirVantage</a:t>
            </a:r>
            <a:endParaRPr lang="en-US" dirty="0">
              <a:solidFill>
                <a:srgbClr val="91050F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Legato</a:t>
            </a:r>
            <a:r>
              <a:rPr lang="en-US" dirty="0">
                <a:solidFill>
                  <a:srgbClr val="91050F"/>
                </a:solidFill>
              </a:rPr>
              <a:t>: Open source embedded platform built on Linux. </a:t>
            </a:r>
            <a:r>
              <a:rPr lang="en-US" dirty="0" err="1">
                <a:solidFill>
                  <a:srgbClr val="91050F"/>
                </a:solidFill>
              </a:rPr>
              <a:t>AirPrime</a:t>
            </a:r>
            <a:r>
              <a:rPr lang="en-US" dirty="0">
                <a:solidFill>
                  <a:srgbClr val="91050F"/>
                </a:solidFill>
              </a:rPr>
              <a:t> WP and AR series board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Open AT Application Framework: FXT and GL series 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ALEOS AF: </a:t>
            </a:r>
            <a:r>
              <a:rPr lang="en-US" dirty="0" err="1">
                <a:solidFill>
                  <a:srgbClr val="91050F"/>
                </a:solidFill>
              </a:rPr>
              <a:t>AirLink</a:t>
            </a:r>
            <a:r>
              <a:rPr lang="en-US" dirty="0">
                <a:solidFill>
                  <a:srgbClr val="91050F"/>
                </a:solidFill>
              </a:rPr>
              <a:t> modems are highly configurable and can be scripted using the ALEOS Application Framework (AAF) to gather </a:t>
            </a:r>
            <a:r>
              <a:rPr lang="en-US" dirty="0" err="1">
                <a:solidFill>
                  <a:srgbClr val="91050F"/>
                </a:solidFill>
              </a:rPr>
              <a:t>IoT</a:t>
            </a:r>
            <a:r>
              <a:rPr lang="en-US" dirty="0">
                <a:solidFill>
                  <a:srgbClr val="91050F"/>
                </a:solidFill>
              </a:rPr>
              <a:t> data. 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Not Hosted OS</a:t>
            </a:r>
            <a:endParaRPr lang="en-US" dirty="0">
              <a:solidFill>
                <a:srgbClr val="91050F"/>
              </a:solidFill>
            </a:endParaRPr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762000"/>
            <a:ext cx="5334000" cy="189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726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676401" y="152400"/>
            <a:ext cx="7286625" cy="1143000"/>
          </a:xfrm>
        </p:spPr>
        <p:txBody>
          <a:bodyPr/>
          <a:lstStyle/>
          <a:p>
            <a:pPr algn="l" eaLnBrk="1" hangingPunct="1"/>
            <a:r>
              <a:rPr lang="en-US" altLang="en-US" b="1" dirty="0" smtClean="0">
                <a:solidFill>
                  <a:srgbClr val="91050F"/>
                </a:solidFill>
              </a:rPr>
              <a:t>Legato™ Embedded Platform</a:t>
            </a:r>
            <a:endParaRPr lang="en-US" altLang="en-US" dirty="0" smtClean="0">
              <a:solidFill>
                <a:srgbClr val="91050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7338" y="1181100"/>
            <a:ext cx="8577262" cy="15621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>
                <a:solidFill>
                  <a:srgbClr val="91050F"/>
                </a:solidFill>
              </a:rPr>
              <a:t>Developing immediately with Legato pre-integrated, tested, and validated inside the application processors of </a:t>
            </a:r>
            <a:r>
              <a:rPr lang="en-US" dirty="0" err="1" smtClean="0">
                <a:solidFill>
                  <a:srgbClr val="91050F"/>
                </a:solidFill>
              </a:rPr>
              <a:t>AirPrime</a:t>
            </a:r>
            <a:r>
              <a:rPr lang="en-US" dirty="0" smtClean="0">
                <a:solidFill>
                  <a:srgbClr val="91050F"/>
                </a:solidFill>
              </a:rPr>
              <a:t> WP Series and AR Series.</a:t>
            </a:r>
          </a:p>
          <a:p>
            <a:pPr>
              <a:defRPr/>
            </a:pPr>
            <a:endParaRPr lang="en-US" dirty="0">
              <a:solidFill>
                <a:srgbClr val="91050F"/>
              </a:solidFill>
            </a:endParaRPr>
          </a:p>
        </p:txBody>
      </p:sp>
      <p:pic>
        <p:nvPicPr>
          <p:cNvPr id="2050" name="Picture 2" descr="http://www.sierrawireless.com/%7E/media/iot/products/embedded/embedded_legato_250x70.ashx?la=e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7200" y="304800"/>
            <a:ext cx="2381250" cy="66675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1" name="Picture 4" descr="http://www.sierrawireless.com/%7E/media/iot/products/embedded/embeddedapplicationframeworkdiagram.ashx?h=275&amp;&amp;w=550&amp;la=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26" y="2743200"/>
            <a:ext cx="6096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Content Placeholder 2"/>
          <p:cNvSpPr txBox="1">
            <a:spLocks/>
          </p:cNvSpPr>
          <p:nvPr/>
        </p:nvSpPr>
        <p:spPr bwMode="auto">
          <a:xfrm>
            <a:off x="1600200" y="3246438"/>
            <a:ext cx="8077200" cy="178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0" y="2463283"/>
            <a:ext cx="5831633" cy="3755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95869" algn="just"/>
            <a:endParaRPr lang="en-US" sz="2539" dirty="0" smtClean="0">
              <a:latin typeface="Arial" pitchFamily="34"/>
            </a:endParaRPr>
          </a:p>
          <a:p>
            <a:pPr indent="-195869" algn="just"/>
            <a:endParaRPr lang="en-US" sz="2539" dirty="0" smtClean="0">
              <a:latin typeface="Arial" pitchFamily="34"/>
            </a:endParaRPr>
          </a:p>
          <a:p>
            <a:pPr indent="-195869" algn="just"/>
            <a:r>
              <a:rPr lang="en-US" sz="3000" dirty="0">
                <a:solidFill>
                  <a:srgbClr val="91050F"/>
                </a:solidFill>
              </a:rPr>
              <a:t>Legato is an open source embedded platform built on Linux designed to simplify embedded </a:t>
            </a:r>
            <a:r>
              <a:rPr lang="en-US" sz="3000" dirty="0" err="1">
                <a:solidFill>
                  <a:srgbClr val="91050F"/>
                </a:solidFill>
              </a:rPr>
              <a:t>IoT</a:t>
            </a:r>
            <a:r>
              <a:rPr lang="en-US" sz="3000" dirty="0">
                <a:solidFill>
                  <a:srgbClr val="91050F"/>
                </a:solidFill>
              </a:rPr>
              <a:t> development.</a:t>
            </a:r>
          </a:p>
          <a:p>
            <a:pPr indent="-195869" algn="just"/>
            <a:r>
              <a:rPr lang="en-US" sz="3000" dirty="0" smtClean="0">
                <a:solidFill>
                  <a:srgbClr val="91050F"/>
                </a:solidFill>
              </a:rPr>
              <a:t>Legato </a:t>
            </a:r>
            <a:r>
              <a:rPr lang="en-US" sz="3000" dirty="0">
                <a:solidFill>
                  <a:srgbClr val="91050F"/>
                </a:solidFill>
              </a:rPr>
              <a:t>provide:</a:t>
            </a:r>
          </a:p>
          <a:p>
            <a:pPr indent="-195869" algn="just"/>
            <a:r>
              <a:rPr lang="en-US" sz="3000" dirty="0">
                <a:solidFill>
                  <a:srgbClr val="91050F"/>
                </a:solidFill>
              </a:rPr>
              <a:t>     +Programming language APIs</a:t>
            </a:r>
          </a:p>
          <a:p>
            <a:pPr indent="-195869" algn="just"/>
            <a:r>
              <a:rPr lang="en-US" sz="3000" dirty="0">
                <a:solidFill>
                  <a:srgbClr val="91050F"/>
                </a:solidFill>
              </a:rPr>
              <a:t>     +Target runtime environment</a:t>
            </a:r>
          </a:p>
          <a:p>
            <a:pPr indent="-195869" algn="just"/>
            <a:r>
              <a:rPr lang="en-US" sz="3000" dirty="0">
                <a:solidFill>
                  <a:srgbClr val="91050F"/>
                </a:solidFill>
              </a:rPr>
              <a:t>     +Development and build tools</a:t>
            </a:r>
          </a:p>
          <a:p>
            <a:pPr indent="-195869" algn="just"/>
            <a:endParaRPr lang="en-US" sz="2539" dirty="0" smtClean="0">
              <a:latin typeface="Arial" pitchFamily="34"/>
            </a:endParaRPr>
          </a:p>
          <a:p>
            <a:pPr indent="-195869" algn="just"/>
            <a:endParaRPr lang="en-US" sz="2539" dirty="0" smtClean="0">
              <a:latin typeface="Arial" pitchFamily="34"/>
            </a:endParaRPr>
          </a:p>
          <a:p>
            <a:pPr indent="-195869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hlinkClick r:id="rId2" tooltip="Permanent Link: Linux-based Sierra Wireless IoT module has 3G or 4G radios"/>
              </a:rPr>
              <a:t>Linux-based Sierra Wireless </a:t>
            </a:r>
            <a:r>
              <a:rPr lang="en-US" b="1" dirty="0" err="1">
                <a:solidFill>
                  <a:srgbClr val="C00000"/>
                </a:solidFill>
                <a:hlinkClick r:id="rId2" tooltip="Permanent Link: Linux-based Sierra Wireless IoT module has 3G or 4G radios"/>
              </a:rPr>
              <a:t>IoT</a:t>
            </a:r>
            <a:r>
              <a:rPr lang="en-US" b="1" dirty="0">
                <a:solidFill>
                  <a:srgbClr val="C00000"/>
                </a:solidFill>
                <a:hlinkClick r:id="rId2" tooltip="Permanent Link: Linux-based Sierra Wireless IoT module has 3G or 4G radios"/>
              </a:rPr>
              <a:t> module has 3G or 4G </a:t>
            </a:r>
            <a:r>
              <a:rPr lang="en-US" b="1" dirty="0" smtClean="0">
                <a:solidFill>
                  <a:srgbClr val="C00000"/>
                </a:solidFill>
                <a:hlinkClick r:id="rId2" tooltip="Permanent Link: Linux-based Sierra Wireless IoT module has 3G or 4G radios"/>
              </a:rPr>
              <a:t>radios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Sierra Wireless unveiled a Cortex-A5 based “</a:t>
            </a:r>
            <a:r>
              <a:rPr lang="en-US" dirty="0" err="1">
                <a:solidFill>
                  <a:srgbClr val="91050F"/>
                </a:solidFill>
              </a:rPr>
              <a:t>AirPrime</a:t>
            </a:r>
            <a:r>
              <a:rPr lang="en-US" dirty="0">
                <a:solidFill>
                  <a:srgbClr val="91050F"/>
                </a:solidFill>
              </a:rPr>
              <a:t> WP” </a:t>
            </a:r>
            <a:r>
              <a:rPr lang="en-US" dirty="0" err="1">
                <a:solidFill>
                  <a:srgbClr val="91050F"/>
                </a:solidFill>
              </a:rPr>
              <a:t>IoT</a:t>
            </a:r>
            <a:r>
              <a:rPr lang="en-US" dirty="0">
                <a:solidFill>
                  <a:srgbClr val="91050F"/>
                </a:solidFill>
              </a:rPr>
              <a:t> module with 3G or 4G radios, plus a modularly expandable, open-source “</a:t>
            </a:r>
            <a:r>
              <a:rPr lang="en-US" dirty="0" err="1">
                <a:solidFill>
                  <a:srgbClr val="91050F"/>
                </a:solidFill>
              </a:rPr>
              <a:t>mangOH</a:t>
            </a:r>
            <a:r>
              <a:rPr lang="en-US" dirty="0">
                <a:solidFill>
                  <a:srgbClr val="91050F"/>
                </a:solidFill>
              </a:rPr>
              <a:t>” carrier board</a:t>
            </a:r>
            <a:r>
              <a:rPr lang="en-US" dirty="0">
                <a:solidFill>
                  <a:srgbClr val="91050F"/>
                </a:solidFill>
              </a:rPr>
              <a:t>.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We’ve seen plenty of low-power, Linux-ready Internet of Things computer-on-modules, mostly based on Qualcomm’s MIPS-based </a:t>
            </a:r>
            <a:r>
              <a:rPr lang="en-US" dirty="0">
                <a:solidFill>
                  <a:srgbClr val="91050F"/>
                </a:solidFill>
                <a:hlinkClick r:id="rId3"/>
              </a:rPr>
              <a:t>Atheros</a:t>
            </a:r>
            <a:r>
              <a:rPr lang="en-US" dirty="0">
                <a:solidFill>
                  <a:srgbClr val="91050F"/>
                </a:solidFill>
              </a:rPr>
              <a:t> </a:t>
            </a:r>
            <a:r>
              <a:rPr lang="en-US" dirty="0" err="1">
                <a:solidFill>
                  <a:srgbClr val="91050F"/>
                </a:solidFill>
              </a:rPr>
              <a:t>SoCs</a:t>
            </a:r>
            <a:r>
              <a:rPr lang="en-US" dirty="0">
                <a:solidFill>
                  <a:srgbClr val="91050F"/>
                </a:solidFill>
              </a:rPr>
              <a:t>. The Linux-based </a:t>
            </a:r>
            <a:r>
              <a:rPr lang="en-US" dirty="0" err="1">
                <a:solidFill>
                  <a:srgbClr val="91050F"/>
                </a:solidFill>
              </a:rPr>
              <a:t>AirPrime</a:t>
            </a:r>
            <a:r>
              <a:rPr lang="en-US" dirty="0">
                <a:solidFill>
                  <a:srgbClr val="91050F"/>
                </a:solidFill>
              </a:rPr>
              <a:t> WP modules from Sierra Wireless instead tackle </a:t>
            </a:r>
            <a:r>
              <a:rPr lang="en-US" dirty="0" err="1">
                <a:solidFill>
                  <a:srgbClr val="91050F"/>
                </a:solidFill>
              </a:rPr>
              <a:t>IoT</a:t>
            </a:r>
            <a:r>
              <a:rPr lang="en-US" dirty="0">
                <a:solidFill>
                  <a:srgbClr val="91050F"/>
                </a:solidFill>
              </a:rPr>
              <a:t> and industrial M2M with integrated cellular radios. A 3G HSPA+/EDGE/GPRS/GSM version called WP75xx is due in the fourth quarter while a WP8548 version that adds 4G LTE is due in Q1 2016.</a:t>
            </a:r>
          </a:p>
        </p:txBody>
      </p:sp>
    </p:spTree>
    <p:extLst>
      <p:ext uri="{BB962C8B-B14F-4D97-AF65-F5344CB8AC3E}">
        <p14:creationId xmlns:p14="http://schemas.microsoft.com/office/powerpoint/2010/main" val="108286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Legato Linux, which </a:t>
            </a:r>
            <a:r>
              <a:rPr lang="en-US" dirty="0">
                <a:solidFill>
                  <a:srgbClr val="91050F"/>
                </a:solidFill>
                <a:hlinkClick r:id="rId2"/>
              </a:rPr>
              <a:t>Sierra Wireless introduced in 2014</a:t>
            </a:r>
            <a:r>
              <a:rPr lang="en-US" dirty="0">
                <a:solidFill>
                  <a:srgbClr val="91050F"/>
                </a:solidFill>
              </a:rPr>
              <a:t> is built from Wind River’s </a:t>
            </a:r>
            <a:r>
              <a:rPr lang="en-US" dirty="0" err="1">
                <a:solidFill>
                  <a:srgbClr val="91050F"/>
                </a:solidFill>
              </a:rPr>
              <a:t>Yocto</a:t>
            </a:r>
            <a:r>
              <a:rPr lang="en-US" dirty="0">
                <a:solidFill>
                  <a:srgbClr val="91050F"/>
                </a:solidFill>
              </a:rPr>
              <a:t>-based Linux distribution. Legato adds an application sandbox that can host proprietary software and provide a secure place for third-party applications, says Sierra. </a:t>
            </a:r>
            <a:r>
              <a:rPr lang="en-US" dirty="0" err="1">
                <a:solidFill>
                  <a:srgbClr val="91050F"/>
                </a:solidFill>
              </a:rPr>
              <a:t>AirPrime</a:t>
            </a:r>
            <a:r>
              <a:rPr lang="en-US" dirty="0">
                <a:solidFill>
                  <a:srgbClr val="91050F"/>
                </a:solidFill>
              </a:rPr>
              <a:t> WP supports Sierra’s integrated </a:t>
            </a:r>
            <a:r>
              <a:rPr lang="en-US" dirty="0" err="1">
                <a:solidFill>
                  <a:srgbClr val="91050F"/>
                </a:solidFill>
              </a:rPr>
              <a:t>AirVantage</a:t>
            </a:r>
            <a:r>
              <a:rPr lang="en-US" dirty="0">
                <a:solidFill>
                  <a:srgbClr val="91050F"/>
                </a:solidFill>
              </a:rPr>
              <a:t> M2M Cloud services, including wireless data monitoring, application updates, and application business data services. All these services, as well as the Legato stack itself, offer OTA updates.</a:t>
            </a:r>
          </a:p>
        </p:txBody>
      </p:sp>
    </p:spTree>
    <p:extLst>
      <p:ext uri="{BB962C8B-B14F-4D97-AF65-F5344CB8AC3E}">
        <p14:creationId xmlns:p14="http://schemas.microsoft.com/office/powerpoint/2010/main" val="424290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679575" y="2667000"/>
            <a:ext cx="6248400" cy="3505200"/>
          </a:xfrm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20484" name="Picture 2" descr="AF_Architec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-152400"/>
            <a:ext cx="82296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0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76200"/>
            <a:ext cx="7772400" cy="6096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 smtClean="0">
                <a:solidFill>
                  <a:srgbClr val="91050F"/>
                </a:solidFill>
              </a:rPr>
              <a:t>WP Series Overview</a:t>
            </a:r>
            <a:endParaRPr lang="en-US" dirty="0">
              <a:solidFill>
                <a:srgbClr val="91050F"/>
              </a:solidFill>
            </a:endParaRPr>
          </a:p>
        </p:txBody>
      </p:sp>
      <p:pic>
        <p:nvPicPr>
          <p:cNvPr id="15363" name="Picture 2" descr="http://www.sierrawireless.com/%7E/media/iot/products/embedded/embedded_diagrams_wp.ashx?la=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544514"/>
            <a:ext cx="317182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24000" y="762001"/>
            <a:ext cx="7848600" cy="5078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srgbClr val="91050F"/>
                </a:solidFill>
              </a:rPr>
              <a:t>ARM core application processor with dedicated Flash and 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rgbClr val="91050F"/>
                </a:solidFill>
              </a:rPr>
              <a:t>RAM running </a:t>
            </a:r>
            <a:r>
              <a:rPr lang="en-US" dirty="0">
                <a:solidFill>
                  <a:srgbClr val="91050F"/>
                </a:solidFill>
                <a:hlinkClick r:id="rId4"/>
              </a:rPr>
              <a:t>Legato™</a:t>
            </a:r>
            <a:r>
              <a:rPr lang="en-US" dirty="0">
                <a:solidFill>
                  <a:srgbClr val="91050F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srgbClr val="91050F"/>
                </a:solidFill>
              </a:rPr>
              <a:t>GNSS receiver enables tracking and location-based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rgbClr val="91050F"/>
                </a:solidFill>
              </a:rPr>
              <a:t> services Ultra-low power mode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srgbClr val="91050F"/>
                </a:solidFill>
              </a:rPr>
              <a:t>Compact </a:t>
            </a:r>
            <a:r>
              <a:rPr lang="en-US" dirty="0">
                <a:solidFill>
                  <a:srgbClr val="91050F"/>
                </a:solidFill>
                <a:hlinkClick r:id="rId5"/>
              </a:rPr>
              <a:t>CF3™ form factor</a:t>
            </a:r>
            <a:endParaRPr lang="en-US" dirty="0">
              <a:solidFill>
                <a:srgbClr val="91050F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srgbClr val="91050F"/>
                </a:solidFill>
              </a:rPr>
              <a:t>Secure boot and value-add firmware with 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rgbClr val="91050F"/>
                </a:solidFill>
                <a:hlinkClick r:id="rId6"/>
              </a:rPr>
              <a:t>FREE unlimited firmware over-the-air (FOTA) upgrades</a:t>
            </a:r>
            <a:endParaRPr lang="en-US" dirty="0">
              <a:solidFill>
                <a:srgbClr val="91050F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srgbClr val="91050F"/>
                </a:solidFill>
              </a:rPr>
              <a:t>Interfaces include USB, UART, SDIO, HSIC, I2C, SPI, GPIO, ADC, PCM, and more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srgbClr val="91050F"/>
                </a:solidFill>
              </a:rPr>
              <a:t>Open hardware reference design from </a:t>
            </a:r>
            <a:r>
              <a:rPr lang="en-US" dirty="0">
                <a:solidFill>
                  <a:srgbClr val="91050F"/>
                </a:solidFill>
                <a:hlinkClick r:id="rId7"/>
              </a:rPr>
              <a:t>Project </a:t>
            </a:r>
            <a:r>
              <a:rPr lang="en-US" dirty="0" err="1">
                <a:solidFill>
                  <a:srgbClr val="91050F"/>
                </a:solidFill>
                <a:hlinkClick r:id="rId7"/>
              </a:rPr>
              <a:t>mangOH</a:t>
            </a:r>
            <a:r>
              <a:rPr lang="en-US" dirty="0">
                <a:solidFill>
                  <a:srgbClr val="91050F"/>
                </a:solidFill>
                <a:hlinkClick r:id="rId7"/>
              </a:rPr>
              <a:t>™</a:t>
            </a:r>
            <a:endParaRPr lang="en-US" dirty="0">
              <a:solidFill>
                <a:srgbClr val="91050F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srgbClr val="91050F"/>
                </a:solidFill>
              </a:rPr>
              <a:t>Secure </a:t>
            </a:r>
            <a:r>
              <a:rPr lang="en-US" dirty="0">
                <a:solidFill>
                  <a:srgbClr val="91050F"/>
                </a:solidFill>
                <a:hlinkClick r:id="rId8"/>
              </a:rPr>
              <a:t>device-to-cloud architecture</a:t>
            </a:r>
            <a:r>
              <a:rPr lang="en-US" dirty="0">
                <a:solidFill>
                  <a:srgbClr val="91050F"/>
                </a:solidFill>
              </a:rPr>
              <a:t> with </a:t>
            </a:r>
            <a:r>
              <a:rPr lang="en-US" dirty="0" err="1">
                <a:solidFill>
                  <a:srgbClr val="91050F"/>
                </a:solidFill>
                <a:hlinkClick r:id="rId9"/>
              </a:rPr>
              <a:t>AirVantage</a:t>
            </a:r>
            <a:r>
              <a:rPr lang="en-US" dirty="0">
                <a:solidFill>
                  <a:srgbClr val="91050F"/>
                </a:solidFill>
                <a:hlinkClick r:id="rId9"/>
              </a:rPr>
              <a:t>®</a:t>
            </a:r>
            <a:r>
              <a:rPr lang="en-US" dirty="0">
                <a:solidFill>
                  <a:srgbClr val="91050F"/>
                </a:solidFill>
              </a:rPr>
              <a:t> pre-integrated into the </a:t>
            </a:r>
            <a:r>
              <a:rPr lang="en-US" dirty="0">
                <a:solidFill>
                  <a:srgbClr val="91050F"/>
                </a:solidFill>
                <a:hlinkClick r:id="rId4"/>
              </a:rPr>
              <a:t>Legato platform</a:t>
            </a:r>
            <a:endParaRPr lang="en-US" dirty="0">
              <a:solidFill>
                <a:srgbClr val="91050F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rgbClr val="91050F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57500" y="5334000"/>
          <a:ext cx="6477000" cy="1306514"/>
        </p:xfrm>
        <a:graphic>
          <a:graphicData uri="http://schemas.openxmlformats.org/drawingml/2006/table">
            <a:tbl>
              <a:tblPr/>
              <a:tblGrid>
                <a:gridCol w="655861"/>
                <a:gridCol w="2192037"/>
                <a:gridCol w="2194952"/>
                <a:gridCol w="1434150"/>
              </a:tblGrid>
              <a:tr h="65325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Product Options</a:t>
                      </a:r>
                    </a:p>
                  </a:txBody>
                  <a:tcPr marL="9525" marR="9525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WP8548</a:t>
                      </a:r>
                    </a:p>
                  </a:txBody>
                  <a:tcPr marL="9525" marR="9525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3G: HSPA+ / EDGE / GPRS / GSM</a:t>
                      </a:r>
                    </a:p>
                  </a:txBody>
                  <a:tcPr marL="9525" marR="9525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0"/>
                        </a:rPr>
                        <a:t>Support and Technical Resources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2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WP75xx</a:t>
                      </a:r>
                    </a:p>
                  </a:txBody>
                  <a:tcPr marL="9525" marR="9525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4G: LTE / HSPA+ / EDGE / GPRS / GSM</a:t>
                      </a:r>
                    </a:p>
                  </a:txBody>
                  <a:tcPr marL="9525" marR="9525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Technical resources available soon</a:t>
                      </a:r>
                    </a:p>
                  </a:txBody>
                  <a:tcPr marL="9525" marR="9525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9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91050F"/>
                </a:solidFill>
              </a:rPr>
              <a:t>Project </a:t>
            </a:r>
            <a:r>
              <a:rPr lang="en-US" b="1" dirty="0" err="1">
                <a:solidFill>
                  <a:srgbClr val="91050F"/>
                </a:solidFill>
              </a:rPr>
              <a:t>mangOH</a:t>
            </a:r>
            <a:r>
              <a:rPr lang="en-US" b="1" dirty="0">
                <a:solidFill>
                  <a:srgbClr val="91050F"/>
                </a:solidFill>
              </a:rPr>
              <a:t>™ Open Hardware </a:t>
            </a:r>
            <a:br>
              <a:rPr lang="en-US" b="1" dirty="0">
                <a:solidFill>
                  <a:srgbClr val="91050F"/>
                </a:solidFill>
              </a:rPr>
            </a:br>
            <a:endParaRPr lang="en-US" dirty="0">
              <a:solidFill>
                <a:srgbClr val="91050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066800"/>
            <a:ext cx="8153400" cy="5105400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buNone/>
              <a:defRPr/>
            </a:pPr>
            <a:r>
              <a:rPr lang="en-US" dirty="0">
                <a:solidFill>
                  <a:srgbClr val="91050F"/>
                </a:solidFill>
              </a:rPr>
              <a:t>Project </a:t>
            </a:r>
            <a:r>
              <a:rPr lang="en-US" dirty="0" err="1">
                <a:solidFill>
                  <a:srgbClr val="91050F"/>
                </a:solidFill>
              </a:rPr>
              <a:t>MangOH</a:t>
            </a:r>
            <a:r>
              <a:rPr lang="en-US" dirty="0">
                <a:solidFill>
                  <a:srgbClr val="91050F"/>
                </a:solidFill>
              </a:rPr>
              <a:t>™ is an open hardware initiative to enable rapid prototyping and faster time-to-market of new </a:t>
            </a:r>
            <a:r>
              <a:rPr lang="en-US" dirty="0" err="1">
                <a:solidFill>
                  <a:srgbClr val="91050F"/>
                </a:solidFill>
              </a:rPr>
              <a:t>IoT</a:t>
            </a:r>
            <a:r>
              <a:rPr lang="en-US" dirty="0">
                <a:solidFill>
                  <a:srgbClr val="91050F"/>
                </a:solidFill>
              </a:rPr>
              <a:t> devices and applications.</a:t>
            </a:r>
            <a:endParaRPr lang="en-US" dirty="0" smtClean="0">
              <a:solidFill>
                <a:srgbClr val="91050F"/>
              </a:solidFill>
            </a:endParaRPr>
          </a:p>
          <a:p>
            <a:pPr marL="0" indent="0">
              <a:buNone/>
              <a:defRPr/>
            </a:pPr>
            <a:r>
              <a:rPr lang="en-US" dirty="0" smtClean="0">
                <a:solidFill>
                  <a:srgbClr val="91050F"/>
                </a:solidFill>
              </a:rPr>
              <a:t>Designed </a:t>
            </a:r>
            <a:r>
              <a:rPr lang="en-US" dirty="0">
                <a:solidFill>
                  <a:srgbClr val="91050F"/>
                </a:solidFill>
              </a:rPr>
              <a:t>to fit in a Euro card standard </a:t>
            </a:r>
            <a:endParaRPr lang="en-US" dirty="0" smtClean="0">
              <a:solidFill>
                <a:srgbClr val="91050F"/>
              </a:solidFill>
            </a:endParaRPr>
          </a:p>
          <a:p>
            <a:pPr marL="0" indent="0">
              <a:buNone/>
              <a:defRPr/>
            </a:pPr>
            <a:r>
              <a:rPr lang="en-US" dirty="0" smtClean="0">
                <a:solidFill>
                  <a:srgbClr val="91050F"/>
                </a:solidFill>
              </a:rPr>
              <a:t>size </a:t>
            </a:r>
            <a:r>
              <a:rPr lang="en-US" dirty="0">
                <a:solidFill>
                  <a:srgbClr val="91050F"/>
                </a:solidFill>
              </a:rPr>
              <a:t>casing (120mm x 100mm), </a:t>
            </a:r>
            <a:r>
              <a:rPr lang="en-US" dirty="0" smtClean="0">
                <a:solidFill>
                  <a:srgbClr val="91050F"/>
                </a:solidFill>
              </a:rPr>
              <a:t>additional</a:t>
            </a:r>
          </a:p>
          <a:p>
            <a:pPr marL="0" indent="0">
              <a:buNone/>
              <a:defRPr/>
            </a:pPr>
            <a:r>
              <a:rPr lang="en-US" dirty="0" smtClean="0">
                <a:solidFill>
                  <a:srgbClr val="91050F"/>
                </a:solidFill>
              </a:rPr>
              <a:t>hardware </a:t>
            </a:r>
            <a:r>
              <a:rPr lang="en-US" dirty="0">
                <a:solidFill>
                  <a:srgbClr val="91050F"/>
                </a:solidFill>
              </a:rPr>
              <a:t>specs include: 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1 USB 2.0 OTG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1 USB 2.0 Host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1 RS232/Serial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1 RJ45/Ethernet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Audio Jack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SD card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3 SMA antenna connectors </a:t>
            </a:r>
            <a:endParaRPr lang="en-US" dirty="0" smtClean="0">
              <a:solidFill>
                <a:srgbClr val="91050F"/>
              </a:solidFill>
            </a:endParaRPr>
          </a:p>
          <a:p>
            <a:pPr marL="0" indent="0">
              <a:buNone/>
              <a:defRPr/>
            </a:pPr>
            <a:r>
              <a:rPr lang="en-US" dirty="0" smtClean="0">
                <a:solidFill>
                  <a:srgbClr val="91050F"/>
                </a:solidFill>
              </a:rPr>
              <a:t>(</a:t>
            </a:r>
            <a:r>
              <a:rPr lang="en-US" dirty="0">
                <a:solidFill>
                  <a:srgbClr val="91050F"/>
                </a:solidFill>
              </a:rPr>
              <a:t>Primary, Secondary/Diversity, GPS)</a:t>
            </a:r>
          </a:p>
          <a:p>
            <a:pPr>
              <a:defRPr/>
            </a:pPr>
            <a:r>
              <a:rPr lang="en-US" dirty="0">
                <a:solidFill>
                  <a:srgbClr val="91050F"/>
                </a:solidFill>
              </a:rPr>
              <a:t>Accelerometer, </a:t>
            </a:r>
            <a:r>
              <a:rPr lang="en-US" dirty="0" smtClean="0">
                <a:solidFill>
                  <a:srgbClr val="91050F"/>
                </a:solidFill>
              </a:rPr>
              <a:t>Gyroscope</a:t>
            </a:r>
          </a:p>
          <a:p>
            <a:pPr>
              <a:defRPr/>
            </a:pPr>
            <a:r>
              <a:rPr lang="en-US" dirty="0" smtClean="0">
                <a:solidFill>
                  <a:srgbClr val="91050F"/>
                </a:solidFill>
              </a:rPr>
              <a:t>Battery/Battery </a:t>
            </a:r>
            <a:r>
              <a:rPr lang="en-US" dirty="0">
                <a:solidFill>
                  <a:srgbClr val="91050F"/>
                </a:solidFill>
              </a:rPr>
              <a:t>Charging</a:t>
            </a:r>
          </a:p>
          <a:p>
            <a:pPr>
              <a:defRPr/>
            </a:pPr>
            <a:endParaRPr lang="en-US" dirty="0">
              <a:solidFill>
                <a:srgbClr val="91050F"/>
              </a:solidFill>
            </a:endParaRPr>
          </a:p>
          <a:p>
            <a:pPr>
              <a:defRPr/>
            </a:pPr>
            <a:endParaRPr lang="en-US" dirty="0">
              <a:solidFill>
                <a:srgbClr val="91050F"/>
              </a:solidFill>
            </a:endParaRPr>
          </a:p>
        </p:txBody>
      </p:sp>
      <p:pic>
        <p:nvPicPr>
          <p:cNvPr id="18436" name="Picture 1" descr="mangOHboa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" t="8621" r="6383" b="6743"/>
          <a:stretch>
            <a:fillRect/>
          </a:stretch>
        </p:blipFill>
        <p:spPr bwMode="auto">
          <a:xfrm>
            <a:off x="6248401" y="2057400"/>
            <a:ext cx="40354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198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41176" y="278787"/>
            <a:ext cx="9665965" cy="11337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91050F"/>
                </a:solidFill>
              </a:rPr>
              <a:t>Process to </a:t>
            </a:r>
            <a:r>
              <a:rPr lang="en-US" b="1" dirty="0">
                <a:solidFill>
                  <a:srgbClr val="91050F"/>
                </a:solidFill>
              </a:rPr>
              <a:t>development Legato </a:t>
            </a:r>
            <a:r>
              <a:rPr lang="en-US" b="1" dirty="0">
                <a:solidFill>
                  <a:srgbClr val="91050F"/>
                </a:solidFill>
              </a:rPr>
              <a:t>application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410547" y="1670181"/>
            <a:ext cx="9796595" cy="4133744"/>
          </a:xfrm>
        </p:spPr>
        <p:txBody>
          <a:bodyPr anchor="ctr">
            <a:normAutofit/>
          </a:bodyPr>
          <a:lstStyle/>
          <a:p>
            <a:pPr indent="-195869" algn="just"/>
            <a:r>
              <a:rPr lang="en-US" sz="2000" dirty="0">
                <a:solidFill>
                  <a:srgbClr val="91050F"/>
                </a:solidFill>
              </a:rPr>
              <a:t>Install </a:t>
            </a:r>
            <a:r>
              <a:rPr lang="en-US" sz="2000" dirty="0">
                <a:solidFill>
                  <a:srgbClr val="91050F"/>
                </a:solidFill>
              </a:rPr>
              <a:t>Legato</a:t>
            </a:r>
          </a:p>
          <a:p>
            <a:pPr indent="-195869" algn="just"/>
            <a:r>
              <a:rPr lang="en-US" sz="2000" dirty="0">
                <a:solidFill>
                  <a:srgbClr val="91050F"/>
                </a:solidFill>
              </a:rPr>
              <a:t>Run </a:t>
            </a:r>
            <a:r>
              <a:rPr lang="en-US" sz="2000" dirty="0">
                <a:solidFill>
                  <a:srgbClr val="91050F"/>
                </a:solidFill>
              </a:rPr>
              <a:t>Developer Studio IDE</a:t>
            </a:r>
          </a:p>
          <a:p>
            <a:pPr indent="-195869" algn="just"/>
            <a:r>
              <a:rPr lang="en-US" sz="2000" dirty="0">
                <a:solidFill>
                  <a:srgbClr val="91050F"/>
                </a:solidFill>
              </a:rPr>
              <a:t>Create </a:t>
            </a:r>
            <a:r>
              <a:rPr lang="en-US" sz="2000" dirty="0">
                <a:solidFill>
                  <a:srgbClr val="91050F"/>
                </a:solidFill>
              </a:rPr>
              <a:t>Legato Application Project</a:t>
            </a:r>
          </a:p>
          <a:p>
            <a:pPr indent="-195869" algn="just"/>
            <a:r>
              <a:rPr lang="en-US" sz="2000" dirty="0">
                <a:solidFill>
                  <a:srgbClr val="91050F"/>
                </a:solidFill>
              </a:rPr>
              <a:t>Build </a:t>
            </a:r>
            <a:r>
              <a:rPr lang="en-US" sz="2000" dirty="0">
                <a:solidFill>
                  <a:srgbClr val="91050F"/>
                </a:solidFill>
              </a:rPr>
              <a:t>Project</a:t>
            </a:r>
          </a:p>
          <a:p>
            <a:pPr indent="-195869" algn="just"/>
            <a:r>
              <a:rPr lang="en-US" sz="2000" dirty="0">
                <a:solidFill>
                  <a:srgbClr val="91050F"/>
                </a:solidFill>
              </a:rPr>
              <a:t>Create </a:t>
            </a:r>
            <a:r>
              <a:rPr lang="en-US" sz="2000" dirty="0">
                <a:solidFill>
                  <a:srgbClr val="91050F"/>
                </a:solidFill>
              </a:rPr>
              <a:t>connection to a Legato device</a:t>
            </a:r>
          </a:p>
          <a:p>
            <a:pPr indent="-195869" algn="just"/>
            <a:r>
              <a:rPr lang="en-US" sz="2000" dirty="0">
                <a:solidFill>
                  <a:srgbClr val="91050F"/>
                </a:solidFill>
              </a:rPr>
              <a:t>Run </a:t>
            </a:r>
            <a:r>
              <a:rPr lang="en-US" sz="2000" dirty="0">
                <a:solidFill>
                  <a:srgbClr val="91050F"/>
                </a:solidFill>
              </a:rPr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251071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 dirty="0">
                <a:latin typeface="Arial" pitchFamily="34"/>
              </a:rPr>
              <a:t>Install Legato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621310" y="1173968"/>
            <a:ext cx="5284967" cy="3799532"/>
          </a:xfrm>
        </p:spPr>
        <p:txBody>
          <a:bodyPr anchor="ctr"/>
          <a:lstStyle/>
          <a:p>
            <a:pPr indent="-195869" algn="just"/>
            <a:r>
              <a:rPr lang="en-US" dirty="0"/>
              <a:t>-On Linux host:</a:t>
            </a:r>
          </a:p>
          <a:p>
            <a:pPr indent="-195869" algn="just"/>
            <a:r>
              <a:rPr lang="en-US" dirty="0"/>
              <a:t>        Developer Studio</a:t>
            </a:r>
          </a:p>
          <a:p>
            <a:pPr indent="-195869" algn="just"/>
            <a:r>
              <a:rPr lang="en-US" dirty="0"/>
              <a:t>        or Command Line</a:t>
            </a:r>
          </a:p>
          <a:p>
            <a:pPr indent="-195869" algn="just"/>
            <a:r>
              <a:rPr lang="en-US" dirty="0"/>
              <a:t>-On Window host:</a:t>
            </a:r>
          </a:p>
          <a:p>
            <a:pPr indent="-195869" algn="just"/>
            <a:r>
              <a:rPr lang="en-US" dirty="0"/>
              <a:t>        Developer Studio</a:t>
            </a:r>
          </a:p>
        </p:txBody>
      </p:sp>
    </p:spTree>
    <p:extLst>
      <p:ext uri="{BB962C8B-B14F-4D97-AF65-F5344CB8AC3E}">
        <p14:creationId xmlns:p14="http://schemas.microsoft.com/office/powerpoint/2010/main" val="104705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>
                <a:latin typeface="Arial" pitchFamily="34"/>
              </a:rPr>
              <a:t>Run Developer Studio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2977942" y="1865652"/>
            <a:ext cx="6633431" cy="41458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756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/>
              <a:t>Create Legato Application Project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4214448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2977942" y="2072947"/>
            <a:ext cx="6426136" cy="3938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014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494962"/>
            <a:ext cx="8223561" cy="701731"/>
          </a:xfrm>
        </p:spPr>
        <p:txBody>
          <a:bodyPr>
            <a:spAutoFit/>
          </a:bodyPr>
          <a:lstStyle/>
          <a:p>
            <a:pPr lvl="0"/>
            <a:r>
              <a:rPr lang="en-US"/>
              <a:t>Create Legato Application Project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2148762" y="1658358"/>
            <a:ext cx="3109421" cy="43531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ubtitle 3"/>
          <p:cNvSpPr txBox="1">
            <a:spLocks noGrp="1"/>
          </p:cNvSpPr>
          <p:nvPr>
            <p:ph type="subTitle" idx="4294967295"/>
          </p:nvPr>
        </p:nvSpPr>
        <p:spPr>
          <a:xfrm>
            <a:off x="2009696" y="1797425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lum bright="-50000"/>
            <a:alphaModFix/>
          </a:blip>
          <a:srcRect/>
          <a:stretch>
            <a:fillRect/>
          </a:stretch>
        </p:blipFill>
        <p:spPr>
          <a:xfrm>
            <a:off x="5465479" y="1658358"/>
            <a:ext cx="4733501" cy="4353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99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/>
              <a:t>Create Legato Application Project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6294658" y="1658357"/>
            <a:ext cx="3938599" cy="4560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lum bright="-50000"/>
            <a:alphaModFix/>
          </a:blip>
          <a:srcRect/>
          <a:stretch>
            <a:fillRect/>
          </a:stretch>
        </p:blipFill>
        <p:spPr>
          <a:xfrm>
            <a:off x="1941469" y="1658357"/>
            <a:ext cx="3938599" cy="45604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601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/>
              <a:t>Create Legato Application Project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1941469" y="1658357"/>
            <a:ext cx="3938599" cy="4560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lum bright="-50000"/>
            <a:alphaModFix/>
          </a:blip>
          <a:srcRect/>
          <a:stretch>
            <a:fillRect/>
          </a:stretch>
        </p:blipFill>
        <p:spPr>
          <a:xfrm>
            <a:off x="6087363" y="1658357"/>
            <a:ext cx="4111617" cy="45604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835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/>
              <a:t>Create Legato Application Project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2356058" y="1658357"/>
            <a:ext cx="7462610" cy="45604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675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/>
              <a:t>Build Project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just"/>
            <a:r>
              <a:rPr lang="en-US" dirty="0">
                <a:latin typeface="Arial" pitchFamily="34"/>
              </a:rPr>
              <a:t>- Is needed to compiled/Built before running?</a:t>
            </a:r>
          </a:p>
          <a:p>
            <a:pPr indent="-195869" algn="just"/>
            <a:r>
              <a:rPr lang="en-US" dirty="0" smtClean="0">
                <a:latin typeface="Arial" pitchFamily="34"/>
              </a:rPr>
              <a:t>-</a:t>
            </a:r>
            <a:r>
              <a:rPr lang="en-US" dirty="0">
                <a:latin typeface="Arial" pitchFamily="34"/>
              </a:rPr>
              <a:t>How to build?</a:t>
            </a:r>
          </a:p>
          <a:p>
            <a:pPr indent="-195869" algn="just"/>
            <a:r>
              <a:rPr lang="en-US" dirty="0">
                <a:latin typeface="Arial" pitchFamily="34"/>
              </a:rPr>
              <a:t>    Use Legato </a:t>
            </a:r>
            <a:r>
              <a:rPr lang="en-US" dirty="0" err="1">
                <a:latin typeface="Arial" pitchFamily="34"/>
              </a:rPr>
              <a:t>toolchain</a:t>
            </a:r>
            <a:r>
              <a:rPr lang="en-US" dirty="0">
                <a:latin typeface="Arial" pitchFamily="34"/>
              </a:rPr>
              <a:t> (cross compiler &amp; linker</a:t>
            </a:r>
            <a:r>
              <a:rPr lang="en-US" dirty="0" smtClean="0">
                <a:latin typeface="Arial" pitchFamily="34"/>
              </a:rPr>
              <a:t>)</a:t>
            </a:r>
            <a:endParaRPr lang="en-US" dirty="0">
              <a:latin typeface="Arial" pitchFamily="34"/>
            </a:endParaRPr>
          </a:p>
          <a:p>
            <a:pPr indent="-195869" algn="just"/>
            <a:r>
              <a:rPr lang="en-US" dirty="0">
                <a:latin typeface="Arial" pitchFamily="34"/>
              </a:rPr>
              <a:t>-Cross compiler :</a:t>
            </a:r>
          </a:p>
          <a:p>
            <a:pPr indent="-195869" algn="just">
              <a:spcBef>
                <a:spcPts val="452"/>
              </a:spcBef>
              <a:spcAft>
                <a:spcPts val="452"/>
              </a:spcAft>
            </a:pPr>
            <a:r>
              <a:rPr lang="x-none" sz="2539" dirty="0">
                <a:latin typeface="Arial" pitchFamily="34"/>
                <a:cs typeface="Times New Roman" pitchFamily="18"/>
              </a:rPr>
              <a:t>     A cross compiler is a compiler capable of creating        executable code for a platform other than the one on which the compiler is running.</a:t>
            </a:r>
          </a:p>
        </p:txBody>
      </p:sp>
    </p:spTree>
    <p:extLst>
      <p:ext uri="{BB962C8B-B14F-4D97-AF65-F5344CB8AC3E}">
        <p14:creationId xmlns:p14="http://schemas.microsoft.com/office/powerpoint/2010/main" val="17206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/>
              <a:t>Build Project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3392531" y="2280242"/>
            <a:ext cx="5182368" cy="2902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710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/>
              <a:t>Build Project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2148762" y="2280242"/>
            <a:ext cx="3731305" cy="2703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lum bright="-50000"/>
            <a:alphaModFix/>
          </a:blip>
          <a:srcRect/>
          <a:stretch>
            <a:fillRect/>
          </a:stretch>
        </p:blipFill>
        <p:spPr>
          <a:xfrm>
            <a:off x="6087363" y="2263266"/>
            <a:ext cx="3852417" cy="27118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3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278787"/>
            <a:ext cx="8223561" cy="1133755"/>
          </a:xfrm>
        </p:spPr>
        <p:txBody>
          <a:bodyPr>
            <a:normAutofit fontScale="90000"/>
          </a:bodyPr>
          <a:lstStyle/>
          <a:p>
            <a:pPr lvl="0"/>
            <a:r>
              <a:rPr lang="en-US">
                <a:latin typeface="Arial" pitchFamily="34"/>
              </a:rPr>
              <a:t>Create connection to a Legato device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2009696" y="2004720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6087363" y="1684147"/>
            <a:ext cx="3731305" cy="432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lum bright="-50000"/>
            <a:alphaModFix/>
          </a:blip>
          <a:srcRect/>
          <a:stretch>
            <a:fillRect/>
          </a:stretch>
        </p:blipFill>
        <p:spPr>
          <a:xfrm>
            <a:off x="2554865" y="1658358"/>
            <a:ext cx="3117908" cy="4353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191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278787"/>
            <a:ext cx="8223561" cy="1133755"/>
          </a:xfrm>
        </p:spPr>
        <p:txBody>
          <a:bodyPr>
            <a:normAutofit fontScale="90000"/>
          </a:bodyPr>
          <a:lstStyle/>
          <a:p>
            <a:pPr lvl="0"/>
            <a:r>
              <a:rPr lang="en-US">
                <a:latin typeface="Arial" pitchFamily="34"/>
              </a:rPr>
              <a:t>Create connection to a Legato device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1941468" y="1649543"/>
            <a:ext cx="3731305" cy="4569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lum bright="-50000"/>
            <a:alphaModFix/>
          </a:blip>
          <a:srcRect/>
          <a:stretch>
            <a:fillRect/>
          </a:stretch>
        </p:blipFill>
        <p:spPr>
          <a:xfrm>
            <a:off x="6294658" y="1658357"/>
            <a:ext cx="3938599" cy="45604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831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278787"/>
            <a:ext cx="8223561" cy="1133755"/>
          </a:xfrm>
        </p:spPr>
        <p:txBody>
          <a:bodyPr>
            <a:normAutofit fontScale="90000"/>
          </a:bodyPr>
          <a:lstStyle/>
          <a:p>
            <a:pPr lvl="0"/>
            <a:r>
              <a:rPr lang="en-US">
                <a:latin typeface="Arial" pitchFamily="34"/>
              </a:rPr>
              <a:t>Create connection to a Legato device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2295664" y="1658357"/>
            <a:ext cx="3377108" cy="4560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lum bright="-50000"/>
            <a:alphaModFix/>
          </a:blip>
          <a:srcRect/>
          <a:stretch>
            <a:fillRect/>
          </a:stretch>
        </p:blipFill>
        <p:spPr>
          <a:xfrm>
            <a:off x="6294657" y="1658357"/>
            <a:ext cx="3524010" cy="45604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083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278787"/>
            <a:ext cx="8223561" cy="1133755"/>
          </a:xfrm>
        </p:spPr>
        <p:txBody>
          <a:bodyPr>
            <a:normAutofit fontScale="90000"/>
          </a:bodyPr>
          <a:lstStyle/>
          <a:p>
            <a:pPr lvl="0"/>
            <a:r>
              <a:rPr lang="en-US">
                <a:latin typeface="Arial" pitchFamily="34"/>
              </a:rPr>
              <a:t>Create connection to a Legato device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1645380" y="1623755"/>
            <a:ext cx="8923140" cy="48023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09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/>
              <a:t>Run application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1734174" y="1658358"/>
            <a:ext cx="8706378" cy="47677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310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/>
              <a:t>Run application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6916542" y="1986438"/>
            <a:ext cx="2712133" cy="3817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lum bright="-50000"/>
            <a:alphaModFix/>
          </a:blip>
          <a:srcRect/>
          <a:stretch>
            <a:fillRect/>
          </a:stretch>
        </p:blipFill>
        <p:spPr>
          <a:xfrm>
            <a:off x="2148762" y="2487536"/>
            <a:ext cx="4362003" cy="26948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77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14589" indent="-414589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develop a Legato application.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4589" indent="-414589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Logging API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Le_Info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Le_Error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…)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77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14589" indent="-414589"/>
            <a:r>
              <a:rPr lang="en-US" dirty="0" smtClean="0"/>
              <a:t>Example: Testing for send SMS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88982" y="2346516"/>
            <a:ext cx="4569121" cy="28550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32" dirty="0">
                <a:solidFill>
                  <a:schemeClr val="bg1"/>
                </a:solidFill>
              </a:rPr>
              <a:t>#include "</a:t>
            </a:r>
            <a:r>
              <a:rPr lang="en-US" sz="1632" dirty="0" err="1">
                <a:solidFill>
                  <a:srgbClr val="FF0000"/>
                </a:solidFill>
              </a:rPr>
              <a:t>legato.h</a:t>
            </a:r>
            <a:r>
              <a:rPr lang="en-US" sz="1632" dirty="0">
                <a:solidFill>
                  <a:schemeClr val="bg1"/>
                </a:solidFill>
              </a:rPr>
              <a:t>"</a:t>
            </a:r>
          </a:p>
          <a:p>
            <a:r>
              <a:rPr lang="en-US" sz="1632" dirty="0">
                <a:solidFill>
                  <a:schemeClr val="bg1"/>
                </a:solidFill>
              </a:rPr>
              <a:t>#include "</a:t>
            </a:r>
            <a:r>
              <a:rPr lang="en-US" sz="1632" dirty="0" err="1">
                <a:solidFill>
                  <a:schemeClr val="bg1"/>
                </a:solidFill>
              </a:rPr>
              <a:t>interfaces.h</a:t>
            </a:r>
            <a:r>
              <a:rPr lang="en-US" sz="1632" dirty="0">
                <a:solidFill>
                  <a:schemeClr val="bg1"/>
                </a:solidFill>
              </a:rPr>
              <a:t>"</a:t>
            </a:r>
          </a:p>
          <a:p>
            <a:r>
              <a:rPr lang="en-US" sz="1632" dirty="0">
                <a:solidFill>
                  <a:schemeClr val="bg1"/>
                </a:solidFill>
              </a:rPr>
              <a:t>//--------------------------------------------------------------------------------------------------</a:t>
            </a:r>
          </a:p>
          <a:p>
            <a:r>
              <a:rPr lang="en-US" sz="1632" dirty="0">
                <a:solidFill>
                  <a:schemeClr val="bg1"/>
                </a:solidFill>
              </a:rPr>
              <a:t>//--------------------------------------------------------------------------------------------------</a:t>
            </a:r>
          </a:p>
          <a:p>
            <a:r>
              <a:rPr lang="en-US" sz="1632" dirty="0" err="1">
                <a:solidFill>
                  <a:srgbClr val="FF0000"/>
                </a:solidFill>
              </a:rPr>
              <a:t>le_result_t</a:t>
            </a:r>
            <a:r>
              <a:rPr lang="en-US" sz="1632" dirty="0">
                <a:solidFill>
                  <a:srgbClr val="FF0000"/>
                </a:solidFill>
              </a:rPr>
              <a:t> </a:t>
            </a:r>
            <a:r>
              <a:rPr lang="en-US" sz="1632" dirty="0">
                <a:solidFill>
                  <a:schemeClr val="bg1"/>
                </a:solidFill>
              </a:rPr>
              <a:t> </a:t>
            </a:r>
            <a:r>
              <a:rPr lang="en-US" sz="1632" dirty="0" err="1">
                <a:solidFill>
                  <a:schemeClr val="bg1"/>
                </a:solidFill>
              </a:rPr>
              <a:t>smsmo_SendMessage</a:t>
            </a:r>
            <a:endParaRPr lang="en-US" sz="1632" dirty="0">
              <a:solidFill>
                <a:schemeClr val="bg1"/>
              </a:solidFill>
            </a:endParaRPr>
          </a:p>
          <a:p>
            <a:r>
              <a:rPr lang="en-US" sz="1632" dirty="0">
                <a:solidFill>
                  <a:schemeClr val="bg1"/>
                </a:solidFill>
              </a:rPr>
              <a:t>(</a:t>
            </a:r>
          </a:p>
          <a:p>
            <a:r>
              <a:rPr lang="en-US" sz="1632" dirty="0" err="1">
                <a:solidFill>
                  <a:schemeClr val="bg1"/>
                </a:solidFill>
              </a:rPr>
              <a:t>const</a:t>
            </a:r>
            <a:r>
              <a:rPr lang="en-US" sz="1632" dirty="0">
                <a:solidFill>
                  <a:schemeClr val="bg1"/>
                </a:solidFill>
              </a:rPr>
              <a:t> char* </a:t>
            </a:r>
            <a:r>
              <a:rPr lang="en-US" sz="1632" dirty="0" err="1">
                <a:solidFill>
                  <a:schemeClr val="bg1"/>
                </a:solidFill>
              </a:rPr>
              <a:t>destinationPtr</a:t>
            </a:r>
            <a:r>
              <a:rPr lang="en-US" sz="1632" dirty="0">
                <a:solidFill>
                  <a:schemeClr val="bg1"/>
                </a:solidFill>
              </a:rPr>
              <a:t>, </a:t>
            </a:r>
          </a:p>
          <a:p>
            <a:r>
              <a:rPr lang="en-US" sz="1632" dirty="0" err="1">
                <a:solidFill>
                  <a:schemeClr val="bg1"/>
                </a:solidFill>
              </a:rPr>
              <a:t>const</a:t>
            </a:r>
            <a:r>
              <a:rPr lang="en-US" sz="1632" dirty="0">
                <a:solidFill>
                  <a:schemeClr val="bg1"/>
                </a:solidFill>
              </a:rPr>
              <a:t> char* </a:t>
            </a:r>
            <a:r>
              <a:rPr lang="en-US" sz="1632" dirty="0" err="1">
                <a:solidFill>
                  <a:schemeClr val="bg1"/>
                </a:solidFill>
              </a:rPr>
              <a:t>textPtr</a:t>
            </a:r>
            <a:r>
              <a:rPr lang="en-US" sz="1632" dirty="0">
                <a:solidFill>
                  <a:schemeClr val="bg1"/>
                </a:solidFill>
              </a:rPr>
              <a:t> </a:t>
            </a:r>
          </a:p>
          <a:p>
            <a:r>
              <a:rPr lang="en-US" sz="1632" dirty="0">
                <a:solidFill>
                  <a:schemeClr val="bg1"/>
                </a:solidFill>
              </a:rPr>
              <a:t>)</a:t>
            </a:r>
            <a:endParaRPr lang="en-US" sz="1632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72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800" y="1727242"/>
            <a:ext cx="4569121" cy="43620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32" dirty="0">
                <a:solidFill>
                  <a:schemeClr val="bg1"/>
                </a:solidFill>
              </a:rPr>
              <a:t>{</a:t>
            </a:r>
          </a:p>
          <a:p>
            <a:r>
              <a:rPr lang="en-US" sz="1632" dirty="0" err="1">
                <a:solidFill>
                  <a:srgbClr val="FF0000"/>
                </a:solidFill>
              </a:rPr>
              <a:t>le_result_t</a:t>
            </a:r>
            <a:r>
              <a:rPr lang="en-US" sz="1632" dirty="0">
                <a:solidFill>
                  <a:schemeClr val="bg1"/>
                </a:solidFill>
              </a:rPr>
              <a:t> </a:t>
            </a:r>
            <a:r>
              <a:rPr lang="en-US" sz="1632" dirty="0">
                <a:solidFill>
                  <a:schemeClr val="bg1"/>
                </a:solidFill>
              </a:rPr>
              <a:t>res;</a:t>
            </a:r>
          </a:p>
          <a:p>
            <a:r>
              <a:rPr lang="en-US" sz="1632" dirty="0" err="1">
                <a:solidFill>
                  <a:srgbClr val="FF0000"/>
                </a:solidFill>
              </a:rPr>
              <a:t>le_sms_MsgRef_t</a:t>
            </a:r>
            <a:r>
              <a:rPr lang="en-US" sz="1632" dirty="0">
                <a:solidFill>
                  <a:schemeClr val="bg1"/>
                </a:solidFill>
              </a:rPr>
              <a:t>  </a:t>
            </a:r>
            <a:r>
              <a:rPr lang="en-US" sz="1632" dirty="0" err="1">
                <a:solidFill>
                  <a:schemeClr val="bg1"/>
                </a:solidFill>
              </a:rPr>
              <a:t>myMsg</a:t>
            </a:r>
            <a:r>
              <a:rPr lang="en-US" sz="1632" dirty="0">
                <a:solidFill>
                  <a:schemeClr val="bg1"/>
                </a:solidFill>
              </a:rPr>
              <a:t>;</a:t>
            </a:r>
          </a:p>
          <a:p>
            <a:r>
              <a:rPr lang="en-US" sz="1632" dirty="0" err="1">
                <a:solidFill>
                  <a:schemeClr val="bg1"/>
                </a:solidFill>
              </a:rPr>
              <a:t>myMsg</a:t>
            </a:r>
            <a:r>
              <a:rPr lang="en-US" sz="1632" dirty="0">
                <a:solidFill>
                  <a:schemeClr val="bg1"/>
                </a:solidFill>
              </a:rPr>
              <a:t> = </a:t>
            </a:r>
            <a:r>
              <a:rPr lang="en-US" sz="1632" dirty="0" err="1">
                <a:solidFill>
                  <a:srgbClr val="FF0000"/>
                </a:solidFill>
              </a:rPr>
              <a:t>le_sms_Create</a:t>
            </a:r>
            <a:r>
              <a:rPr lang="en-US" sz="1632" dirty="0">
                <a:solidFill>
                  <a:schemeClr val="bg1"/>
                </a:solidFill>
              </a:rPr>
              <a:t>();</a:t>
            </a:r>
          </a:p>
          <a:p>
            <a:r>
              <a:rPr lang="en-US" sz="1632" dirty="0">
                <a:solidFill>
                  <a:schemeClr val="bg1"/>
                </a:solidFill>
              </a:rPr>
              <a:t>if (!</a:t>
            </a:r>
            <a:r>
              <a:rPr lang="en-US" sz="1632" dirty="0" err="1">
                <a:solidFill>
                  <a:schemeClr val="bg1"/>
                </a:solidFill>
              </a:rPr>
              <a:t>myMsg</a:t>
            </a:r>
            <a:r>
              <a:rPr lang="en-US" sz="1632" dirty="0">
                <a:solidFill>
                  <a:schemeClr val="bg1"/>
                </a:solidFill>
              </a:rPr>
              <a:t>)</a:t>
            </a:r>
          </a:p>
          <a:p>
            <a:r>
              <a:rPr lang="en-US" sz="1632" dirty="0">
                <a:solidFill>
                  <a:schemeClr val="bg1"/>
                </a:solidFill>
              </a:rPr>
              <a:t>{</a:t>
            </a:r>
          </a:p>
          <a:p>
            <a:r>
              <a:rPr lang="en-US" sz="1632" dirty="0">
                <a:solidFill>
                  <a:srgbClr val="FF0000"/>
                </a:solidFill>
              </a:rPr>
              <a:t>LE_ERROR</a:t>
            </a:r>
            <a:r>
              <a:rPr lang="en-US" sz="1632" dirty="0">
                <a:solidFill>
                  <a:schemeClr val="bg1"/>
                </a:solidFill>
              </a:rPr>
              <a:t>("SMS message creation has failed!");</a:t>
            </a:r>
          </a:p>
          <a:p>
            <a:r>
              <a:rPr lang="en-US" sz="1632" dirty="0">
                <a:solidFill>
                  <a:schemeClr val="bg1"/>
                </a:solidFill>
              </a:rPr>
              <a:t>return </a:t>
            </a:r>
            <a:r>
              <a:rPr lang="en-US" sz="1632" dirty="0">
                <a:solidFill>
                  <a:srgbClr val="FF0000"/>
                </a:solidFill>
              </a:rPr>
              <a:t>LE_FAULT</a:t>
            </a:r>
            <a:r>
              <a:rPr lang="en-US" sz="1632" dirty="0">
                <a:solidFill>
                  <a:schemeClr val="bg1"/>
                </a:solidFill>
              </a:rPr>
              <a:t>;</a:t>
            </a:r>
          </a:p>
          <a:p>
            <a:r>
              <a:rPr lang="en-US" sz="1632" dirty="0">
                <a:solidFill>
                  <a:schemeClr val="bg1"/>
                </a:solidFill>
              </a:rPr>
              <a:t>}</a:t>
            </a:r>
          </a:p>
          <a:p>
            <a:r>
              <a:rPr lang="en-US" sz="1632" dirty="0">
                <a:solidFill>
                  <a:schemeClr val="bg1"/>
                </a:solidFill>
              </a:rPr>
              <a:t>res = </a:t>
            </a:r>
            <a:r>
              <a:rPr lang="en-US" sz="1632" dirty="0" err="1">
                <a:solidFill>
                  <a:srgbClr val="FF0000"/>
                </a:solidFill>
              </a:rPr>
              <a:t>le_sms_SetDestination</a:t>
            </a:r>
            <a:r>
              <a:rPr lang="en-US" sz="1632" dirty="0">
                <a:solidFill>
                  <a:schemeClr val="bg1"/>
                </a:solidFill>
              </a:rPr>
              <a:t>(</a:t>
            </a:r>
            <a:r>
              <a:rPr lang="en-US" sz="1632" dirty="0" err="1">
                <a:solidFill>
                  <a:schemeClr val="bg1"/>
                </a:solidFill>
              </a:rPr>
              <a:t>myMsg</a:t>
            </a:r>
            <a:r>
              <a:rPr lang="en-US" sz="1632" dirty="0">
                <a:solidFill>
                  <a:schemeClr val="bg1"/>
                </a:solidFill>
              </a:rPr>
              <a:t>, </a:t>
            </a:r>
            <a:r>
              <a:rPr lang="en-US" sz="1632" dirty="0" err="1">
                <a:solidFill>
                  <a:schemeClr val="bg1"/>
                </a:solidFill>
              </a:rPr>
              <a:t>destinationPtr</a:t>
            </a:r>
            <a:r>
              <a:rPr lang="en-US" sz="1632" dirty="0">
                <a:solidFill>
                  <a:schemeClr val="bg1"/>
                </a:solidFill>
              </a:rPr>
              <a:t>);</a:t>
            </a:r>
          </a:p>
          <a:p>
            <a:r>
              <a:rPr lang="en-US" sz="1632" dirty="0">
                <a:solidFill>
                  <a:schemeClr val="bg1"/>
                </a:solidFill>
              </a:rPr>
              <a:t>if (res != LE_OK)</a:t>
            </a:r>
          </a:p>
          <a:p>
            <a:r>
              <a:rPr lang="en-US" sz="1632" dirty="0">
                <a:solidFill>
                  <a:schemeClr val="bg1"/>
                </a:solidFill>
              </a:rPr>
              <a:t>{</a:t>
            </a:r>
          </a:p>
          <a:p>
            <a:r>
              <a:rPr lang="en-US" sz="1632" dirty="0">
                <a:solidFill>
                  <a:srgbClr val="FF0000"/>
                </a:solidFill>
              </a:rPr>
              <a:t>LE_ERROR</a:t>
            </a:r>
            <a:r>
              <a:rPr lang="en-US" sz="1632" dirty="0">
                <a:solidFill>
                  <a:schemeClr val="bg1"/>
                </a:solidFill>
              </a:rPr>
              <a:t>("</a:t>
            </a:r>
            <a:r>
              <a:rPr lang="en-US" sz="1632" dirty="0" err="1">
                <a:solidFill>
                  <a:schemeClr val="bg1"/>
                </a:solidFill>
              </a:rPr>
              <a:t>le_sms_SetDestination</a:t>
            </a:r>
            <a:r>
              <a:rPr lang="en-US" sz="1632" dirty="0">
                <a:solidFill>
                  <a:schemeClr val="bg1"/>
                </a:solidFill>
              </a:rPr>
              <a:t> has failed (</a:t>
            </a:r>
            <a:r>
              <a:rPr lang="en-US" sz="1632" dirty="0" err="1">
                <a:solidFill>
                  <a:schemeClr val="bg1"/>
                </a:solidFill>
              </a:rPr>
              <a:t>res.%d</a:t>
            </a:r>
            <a:r>
              <a:rPr lang="en-US" sz="1632" dirty="0">
                <a:solidFill>
                  <a:schemeClr val="bg1"/>
                </a:solidFill>
              </a:rPr>
              <a:t>)!", res);</a:t>
            </a:r>
          </a:p>
          <a:p>
            <a:r>
              <a:rPr lang="en-US" sz="1632" dirty="0">
                <a:solidFill>
                  <a:schemeClr val="bg1"/>
                </a:solidFill>
              </a:rPr>
              <a:t>return </a:t>
            </a:r>
            <a:r>
              <a:rPr lang="en-US" sz="1632" dirty="0">
                <a:solidFill>
                  <a:srgbClr val="FF0000"/>
                </a:solidFill>
              </a:rPr>
              <a:t>LE_FAULT</a:t>
            </a:r>
            <a:r>
              <a:rPr lang="en-US" sz="1632" dirty="0">
                <a:solidFill>
                  <a:schemeClr val="bg1"/>
                </a:solidFill>
              </a:rPr>
              <a:t>;</a:t>
            </a:r>
          </a:p>
          <a:p>
            <a:r>
              <a:rPr lang="en-US" sz="1632" dirty="0">
                <a:solidFill>
                  <a:schemeClr val="bg1"/>
                </a:solidFill>
              </a:rPr>
              <a:t>}</a:t>
            </a:r>
            <a:endParaRPr lang="en-US" sz="1632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63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16909" y="2382405"/>
            <a:ext cx="5057991" cy="1850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32" dirty="0">
                <a:solidFill>
                  <a:schemeClr val="bg1"/>
                </a:solidFill>
              </a:rPr>
              <a:t>res = </a:t>
            </a:r>
            <a:r>
              <a:rPr lang="en-US" sz="1632" dirty="0" err="1">
                <a:solidFill>
                  <a:srgbClr val="FF0000"/>
                </a:solidFill>
              </a:rPr>
              <a:t>le_sms_SetText</a:t>
            </a:r>
            <a:r>
              <a:rPr lang="en-US" sz="1632" dirty="0">
                <a:solidFill>
                  <a:schemeClr val="bg1"/>
                </a:solidFill>
              </a:rPr>
              <a:t>(</a:t>
            </a:r>
            <a:r>
              <a:rPr lang="en-US" sz="1632" dirty="0" err="1">
                <a:solidFill>
                  <a:schemeClr val="bg1"/>
                </a:solidFill>
              </a:rPr>
              <a:t>myMsg</a:t>
            </a:r>
            <a:r>
              <a:rPr lang="en-US" sz="1632" dirty="0">
                <a:solidFill>
                  <a:schemeClr val="bg1"/>
                </a:solidFill>
              </a:rPr>
              <a:t>, </a:t>
            </a:r>
            <a:r>
              <a:rPr lang="en-US" sz="1632" dirty="0" err="1">
                <a:solidFill>
                  <a:schemeClr val="bg1"/>
                </a:solidFill>
              </a:rPr>
              <a:t>textPtr</a:t>
            </a:r>
            <a:r>
              <a:rPr lang="en-US" sz="1632" dirty="0">
                <a:solidFill>
                  <a:schemeClr val="bg1"/>
                </a:solidFill>
              </a:rPr>
              <a:t>);</a:t>
            </a:r>
          </a:p>
          <a:p>
            <a:r>
              <a:rPr lang="en-US" sz="1632" dirty="0">
                <a:solidFill>
                  <a:schemeClr val="bg1"/>
                </a:solidFill>
              </a:rPr>
              <a:t>if (res != LE_OK)</a:t>
            </a:r>
          </a:p>
          <a:p>
            <a:r>
              <a:rPr lang="en-US" sz="1632" dirty="0">
                <a:solidFill>
                  <a:schemeClr val="bg1"/>
                </a:solidFill>
              </a:rPr>
              <a:t>{</a:t>
            </a:r>
          </a:p>
          <a:p>
            <a:r>
              <a:rPr lang="en-US" sz="1632" dirty="0">
                <a:solidFill>
                  <a:srgbClr val="FF0000"/>
                </a:solidFill>
              </a:rPr>
              <a:t>LE_ERROR</a:t>
            </a:r>
            <a:r>
              <a:rPr lang="en-US" sz="1632" dirty="0">
                <a:solidFill>
                  <a:schemeClr val="bg1"/>
                </a:solidFill>
              </a:rPr>
              <a:t>("</a:t>
            </a:r>
            <a:r>
              <a:rPr lang="en-US" sz="1632" dirty="0" err="1">
                <a:solidFill>
                  <a:schemeClr val="bg1"/>
                </a:solidFill>
              </a:rPr>
              <a:t>le_sms_SetText</a:t>
            </a:r>
            <a:r>
              <a:rPr lang="en-US" sz="1632" dirty="0">
                <a:solidFill>
                  <a:schemeClr val="bg1"/>
                </a:solidFill>
              </a:rPr>
              <a:t> has failed (</a:t>
            </a:r>
            <a:r>
              <a:rPr lang="en-US" sz="1632" dirty="0" err="1">
                <a:solidFill>
                  <a:schemeClr val="bg1"/>
                </a:solidFill>
              </a:rPr>
              <a:t>res.%d</a:t>
            </a:r>
            <a:r>
              <a:rPr lang="en-US" sz="1632" dirty="0">
                <a:solidFill>
                  <a:schemeClr val="bg1"/>
                </a:solidFill>
              </a:rPr>
              <a:t>)!", res);</a:t>
            </a:r>
          </a:p>
          <a:p>
            <a:r>
              <a:rPr lang="en-US" sz="1632" dirty="0">
                <a:solidFill>
                  <a:schemeClr val="bg1"/>
                </a:solidFill>
              </a:rPr>
              <a:t>return </a:t>
            </a:r>
            <a:r>
              <a:rPr lang="en-US" sz="1632" dirty="0">
                <a:solidFill>
                  <a:srgbClr val="FF0000"/>
                </a:solidFill>
              </a:rPr>
              <a:t>LE_FAULT</a:t>
            </a:r>
            <a:r>
              <a:rPr lang="en-US" sz="1632" dirty="0">
                <a:solidFill>
                  <a:schemeClr val="bg1"/>
                </a:solidFill>
              </a:rPr>
              <a:t>;</a:t>
            </a:r>
          </a:p>
          <a:p>
            <a:r>
              <a:rPr lang="en-US" sz="1632" dirty="0">
                <a:solidFill>
                  <a:schemeClr val="bg1"/>
                </a:solidFill>
              </a:rPr>
              <a:t>}</a:t>
            </a:r>
          </a:p>
          <a:p>
            <a:r>
              <a:rPr lang="en-US" sz="1632" dirty="0">
                <a:solidFill>
                  <a:schemeClr val="bg1"/>
                </a:solidFill>
              </a:rPr>
              <a:t>res </a:t>
            </a:r>
            <a:r>
              <a:rPr lang="en-US" sz="1632" dirty="0">
                <a:solidFill>
                  <a:srgbClr val="FF0000"/>
                </a:solidFill>
              </a:rPr>
              <a:t>= </a:t>
            </a:r>
            <a:r>
              <a:rPr lang="en-US" sz="1632" dirty="0" err="1">
                <a:solidFill>
                  <a:srgbClr val="FF0000"/>
                </a:solidFill>
              </a:rPr>
              <a:t>le_sms_Send</a:t>
            </a:r>
            <a:r>
              <a:rPr lang="en-US" sz="1632" dirty="0">
                <a:solidFill>
                  <a:schemeClr val="bg1"/>
                </a:solidFill>
              </a:rPr>
              <a:t>(</a:t>
            </a:r>
            <a:r>
              <a:rPr lang="en-US" sz="1632" dirty="0" err="1">
                <a:solidFill>
                  <a:schemeClr val="bg1"/>
                </a:solidFill>
              </a:rPr>
              <a:t>myMsg</a:t>
            </a:r>
            <a:r>
              <a:rPr lang="en-US" sz="1632" dirty="0">
                <a:solidFill>
                  <a:schemeClr val="bg1"/>
                </a:solidFill>
              </a:rPr>
              <a:t>);</a:t>
            </a:r>
            <a:endParaRPr lang="en-US" sz="1632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07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800" y="2229606"/>
            <a:ext cx="4569121" cy="335739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32" dirty="0">
                <a:solidFill>
                  <a:schemeClr val="bg1"/>
                </a:solidFill>
              </a:rPr>
              <a:t>if (res != LE_OK)</a:t>
            </a:r>
          </a:p>
          <a:p>
            <a:r>
              <a:rPr lang="en-US" sz="1632" dirty="0">
                <a:solidFill>
                  <a:schemeClr val="bg1"/>
                </a:solidFill>
              </a:rPr>
              <a:t>{</a:t>
            </a:r>
          </a:p>
          <a:p>
            <a:r>
              <a:rPr lang="en-US" sz="1632" dirty="0">
                <a:solidFill>
                  <a:srgbClr val="FF0000"/>
                </a:solidFill>
              </a:rPr>
              <a:t>LE_ERROR</a:t>
            </a:r>
            <a:r>
              <a:rPr lang="en-US" sz="1632" dirty="0">
                <a:solidFill>
                  <a:schemeClr val="bg1"/>
                </a:solidFill>
              </a:rPr>
              <a:t>("</a:t>
            </a:r>
            <a:r>
              <a:rPr lang="en-US" sz="1632" dirty="0" err="1">
                <a:solidFill>
                  <a:schemeClr val="bg1"/>
                </a:solidFill>
              </a:rPr>
              <a:t>le_sms_Send</a:t>
            </a:r>
            <a:r>
              <a:rPr lang="en-US" sz="1632" dirty="0">
                <a:solidFill>
                  <a:schemeClr val="bg1"/>
                </a:solidFill>
              </a:rPr>
              <a:t> has failed (</a:t>
            </a:r>
            <a:r>
              <a:rPr lang="en-US" sz="1632" dirty="0" err="1">
                <a:solidFill>
                  <a:schemeClr val="bg1"/>
                </a:solidFill>
              </a:rPr>
              <a:t>res.%d</a:t>
            </a:r>
            <a:r>
              <a:rPr lang="en-US" sz="1632" dirty="0">
                <a:solidFill>
                  <a:schemeClr val="bg1"/>
                </a:solidFill>
              </a:rPr>
              <a:t>)!", res);</a:t>
            </a:r>
          </a:p>
          <a:p>
            <a:r>
              <a:rPr lang="en-US" sz="1632" dirty="0">
                <a:solidFill>
                  <a:schemeClr val="bg1"/>
                </a:solidFill>
              </a:rPr>
              <a:t>return </a:t>
            </a:r>
            <a:r>
              <a:rPr lang="en-US" sz="1632" dirty="0">
                <a:solidFill>
                  <a:srgbClr val="FF0000"/>
                </a:solidFill>
              </a:rPr>
              <a:t>LE_FAULT</a:t>
            </a:r>
            <a:r>
              <a:rPr lang="en-US" sz="1632" dirty="0">
                <a:solidFill>
                  <a:schemeClr val="bg1"/>
                </a:solidFill>
              </a:rPr>
              <a:t>;</a:t>
            </a:r>
          </a:p>
          <a:p>
            <a:r>
              <a:rPr lang="en-US" sz="1632" dirty="0">
                <a:solidFill>
                  <a:schemeClr val="bg1"/>
                </a:solidFill>
              </a:rPr>
              <a:t>}</a:t>
            </a:r>
          </a:p>
          <a:p>
            <a:r>
              <a:rPr lang="en-US" sz="1632" dirty="0">
                <a:solidFill>
                  <a:schemeClr val="bg1"/>
                </a:solidFill>
              </a:rPr>
              <a:t>else</a:t>
            </a:r>
          </a:p>
          <a:p>
            <a:r>
              <a:rPr lang="en-US" sz="1632" dirty="0">
                <a:solidFill>
                  <a:schemeClr val="bg1"/>
                </a:solidFill>
              </a:rPr>
              <a:t>{</a:t>
            </a:r>
          </a:p>
          <a:p>
            <a:r>
              <a:rPr lang="en-US" sz="1632" dirty="0">
                <a:solidFill>
                  <a:srgbClr val="FF0000"/>
                </a:solidFill>
              </a:rPr>
              <a:t>LE_INFO</a:t>
            </a:r>
            <a:r>
              <a:rPr lang="en-US" sz="1632" dirty="0">
                <a:solidFill>
                  <a:schemeClr val="bg1"/>
                </a:solidFill>
              </a:rPr>
              <a:t>("\"%s\" has been successfully sent to %s.", </a:t>
            </a:r>
            <a:r>
              <a:rPr lang="en-US" sz="1632" dirty="0" err="1">
                <a:solidFill>
                  <a:schemeClr val="bg1"/>
                </a:solidFill>
              </a:rPr>
              <a:t>textPtr</a:t>
            </a:r>
            <a:r>
              <a:rPr lang="en-US" sz="1632" dirty="0">
                <a:solidFill>
                  <a:schemeClr val="bg1"/>
                </a:solidFill>
              </a:rPr>
              <a:t>, </a:t>
            </a:r>
            <a:r>
              <a:rPr lang="en-US" sz="1632" dirty="0" err="1">
                <a:solidFill>
                  <a:schemeClr val="bg1"/>
                </a:solidFill>
              </a:rPr>
              <a:t>destinationPtr</a:t>
            </a:r>
            <a:r>
              <a:rPr lang="en-US" sz="1632" dirty="0">
                <a:solidFill>
                  <a:schemeClr val="bg1"/>
                </a:solidFill>
              </a:rPr>
              <a:t>);</a:t>
            </a:r>
          </a:p>
          <a:p>
            <a:r>
              <a:rPr lang="en-US" sz="1632" dirty="0">
                <a:solidFill>
                  <a:schemeClr val="bg1"/>
                </a:solidFill>
              </a:rPr>
              <a:t>}</a:t>
            </a:r>
          </a:p>
          <a:p>
            <a:r>
              <a:rPr lang="en-US" sz="1632" dirty="0" err="1">
                <a:solidFill>
                  <a:srgbClr val="FF0000"/>
                </a:solidFill>
              </a:rPr>
              <a:t>le_sms_Delete</a:t>
            </a:r>
            <a:r>
              <a:rPr lang="en-US" sz="1632" dirty="0">
                <a:solidFill>
                  <a:schemeClr val="bg1"/>
                </a:solidFill>
              </a:rPr>
              <a:t>(</a:t>
            </a:r>
            <a:r>
              <a:rPr lang="en-US" sz="1632" dirty="0" err="1">
                <a:solidFill>
                  <a:schemeClr val="bg1"/>
                </a:solidFill>
              </a:rPr>
              <a:t>myMsg</a:t>
            </a:r>
            <a:r>
              <a:rPr lang="en-US" sz="1632" dirty="0">
                <a:solidFill>
                  <a:schemeClr val="bg1"/>
                </a:solidFill>
              </a:rPr>
              <a:t>);</a:t>
            </a:r>
          </a:p>
          <a:p>
            <a:r>
              <a:rPr lang="en-US" sz="1632" dirty="0">
                <a:solidFill>
                  <a:schemeClr val="bg1"/>
                </a:solidFill>
              </a:rPr>
              <a:t>return </a:t>
            </a:r>
            <a:r>
              <a:rPr lang="en-US" sz="1632" dirty="0">
                <a:solidFill>
                  <a:srgbClr val="FF0000"/>
                </a:solidFill>
              </a:rPr>
              <a:t>LE_OK</a:t>
            </a:r>
            <a:r>
              <a:rPr lang="en-US" sz="1632" dirty="0">
                <a:solidFill>
                  <a:schemeClr val="bg1"/>
                </a:solidFill>
              </a:rPr>
              <a:t>;</a:t>
            </a:r>
          </a:p>
          <a:p>
            <a:r>
              <a:rPr lang="en-US" sz="1632" dirty="0">
                <a:solidFill>
                  <a:schemeClr val="bg1"/>
                </a:solidFill>
              </a:rPr>
              <a:t>}</a:t>
            </a:r>
            <a:endParaRPr lang="en-US" sz="1632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44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message sending has failed and return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Le_Fault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call </a:t>
            </a:r>
            <a:r>
              <a:rPr lang="en-US" dirty="0" err="1" smtClean="0">
                <a:solidFill>
                  <a:srgbClr val="FF0000"/>
                </a:solidFill>
              </a:rPr>
              <a:t>le_sms_GetErrorCode</a:t>
            </a:r>
            <a:r>
              <a:rPr lang="en-US" dirty="0" smtClean="0">
                <a:solidFill>
                  <a:srgbClr val="FF0000"/>
                </a:solidFill>
              </a:rPr>
              <a:t>() </a:t>
            </a:r>
            <a:r>
              <a:rPr lang="en-US" dirty="0" smtClean="0">
                <a:solidFill>
                  <a:schemeClr val="bg1"/>
                </a:solidFill>
              </a:rPr>
              <a:t>to retrieve the error code.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can see the </a:t>
            </a:r>
            <a:r>
              <a:rPr lang="en-US" dirty="0" err="1" smtClean="0">
                <a:solidFill>
                  <a:schemeClr val="bg1"/>
                </a:solidFill>
              </a:rPr>
              <a:t>Le_Info,Le_Error</a:t>
            </a:r>
            <a:r>
              <a:rPr lang="en-US" dirty="0" smtClean="0">
                <a:solidFill>
                  <a:schemeClr val="bg1"/>
                </a:solidFill>
              </a:rPr>
              <a:t> at Legato Console</a:t>
            </a:r>
          </a:p>
          <a:p>
            <a:endParaRPr lang="en-US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3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332" y="1899050"/>
            <a:ext cx="7542057" cy="3881018"/>
          </a:xfrm>
        </p:spPr>
      </p:pic>
    </p:spTree>
    <p:extLst>
      <p:ext uri="{BB962C8B-B14F-4D97-AF65-F5344CB8AC3E}">
        <p14:creationId xmlns:p14="http://schemas.microsoft.com/office/powerpoint/2010/main" val="300713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</a:t>
            </a:r>
            <a:r>
              <a:rPr lang="en-US" dirty="0" err="1" smtClean="0"/>
              <a:t>sms</a:t>
            </a:r>
            <a:r>
              <a:rPr lang="en-US" dirty="0" smtClean="0"/>
              <a:t> error code 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093773" y="2936675"/>
          <a:ext cx="8224128" cy="1160850"/>
        </p:xfrm>
        <a:graphic>
          <a:graphicData uri="http://schemas.openxmlformats.org/drawingml/2006/table">
            <a:tbl>
              <a:tblPr/>
              <a:tblGrid>
                <a:gridCol w="5329489"/>
                <a:gridCol w="2894639"/>
              </a:tblGrid>
              <a:tr h="5804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LE_SMS_RP_ERROR_DESTINATION_OUT_OF_ORDER </a:t>
                      </a:r>
                    </a:p>
                  </a:txBody>
                  <a:tcPr marL="82918" marR="82918" marT="41459" marB="41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Destination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 of order. </a:t>
                      </a:r>
                    </a:p>
                  </a:txBody>
                  <a:tcPr marL="82918" marR="82918" marT="41459" marB="41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04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LE_SMS_RP_ERROR_UNIDENTIFIED_SUBSCRIBER </a:t>
                      </a:r>
                    </a:p>
                  </a:txBody>
                  <a:tcPr marL="82918" marR="82918" marT="41459" marB="41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Unidentified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subscriber. </a:t>
                      </a:r>
                    </a:p>
                  </a:txBody>
                  <a:tcPr marL="82918" marR="82918" marT="41459" marB="41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2070452" y="4074493"/>
          <a:ext cx="8136689" cy="580425"/>
        </p:xfrm>
        <a:graphic>
          <a:graphicData uri="http://schemas.openxmlformats.org/drawingml/2006/table">
            <a:tbl>
              <a:tblPr/>
              <a:tblGrid>
                <a:gridCol w="5017802"/>
                <a:gridCol w="3118887"/>
              </a:tblGrid>
              <a:tr h="580425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LE_SMS_RP_ERROR_NETWORK_OUT_OF_ORDER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82918" marR="82918" marT="41459" marB="41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Network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 of order. </a:t>
                      </a:r>
                    </a:p>
                  </a:txBody>
                  <a:tcPr marL="82918" marR="82918" marT="41459" marB="41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41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983580" y="314043"/>
            <a:ext cx="8223561" cy="1063242"/>
          </a:xfrm>
        </p:spPr>
        <p:txBody>
          <a:bodyPr/>
          <a:lstStyle/>
          <a:p>
            <a:pPr lvl="0"/>
            <a:r>
              <a:rPr lang="en-US">
                <a:latin typeface="Arial" pitchFamily="34"/>
              </a:rPr>
              <a:t>Q&amp;A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983580" y="2004393"/>
            <a:ext cx="8223561" cy="3799532"/>
          </a:xfrm>
        </p:spPr>
        <p:txBody>
          <a:bodyPr anchor="ctr"/>
          <a:lstStyle/>
          <a:p>
            <a:pPr indent="-195869"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4092110" y="2072947"/>
            <a:ext cx="3653610" cy="3610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91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1033</Words>
  <Application>Microsoft Office PowerPoint</Application>
  <PresentationFormat>Widescreen</PresentationFormat>
  <Paragraphs>187</Paragraphs>
  <Slides>35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Albany</vt:lpstr>
      <vt:lpstr>Arial</vt:lpstr>
      <vt:lpstr>Calibri</vt:lpstr>
      <vt:lpstr>Calibri Light</vt:lpstr>
      <vt:lpstr>Times New Roman</vt:lpstr>
      <vt:lpstr>Wingdings</vt:lpstr>
      <vt:lpstr>Office Theme</vt:lpstr>
      <vt:lpstr>Sierra Wireless Legato Application Framework</vt:lpstr>
      <vt:lpstr>Outline</vt:lpstr>
      <vt:lpstr>Embedded SW Platforms </vt:lpstr>
      <vt:lpstr>Legato™ Embedded Platform</vt:lpstr>
      <vt:lpstr>Linux-based Sierra Wireless IoT module has 3G or 4G radios</vt:lpstr>
      <vt:lpstr>PowerPoint Presentation</vt:lpstr>
      <vt:lpstr>PowerPoint Presentation</vt:lpstr>
      <vt:lpstr>WP Series Overview</vt:lpstr>
      <vt:lpstr>Project mangOH™ Open Hardware  </vt:lpstr>
      <vt:lpstr>Process to development Legato application</vt:lpstr>
      <vt:lpstr>Install Legato</vt:lpstr>
      <vt:lpstr>Run Developer Studio</vt:lpstr>
      <vt:lpstr>Create Legato Application Project</vt:lpstr>
      <vt:lpstr>Create Legato Application Project</vt:lpstr>
      <vt:lpstr>Create Legato Application Project</vt:lpstr>
      <vt:lpstr>Create Legato Application Project</vt:lpstr>
      <vt:lpstr>Create Legato Application Project</vt:lpstr>
      <vt:lpstr>Build Project</vt:lpstr>
      <vt:lpstr>Build Project</vt:lpstr>
      <vt:lpstr>Build Project</vt:lpstr>
      <vt:lpstr>Create connection to a Legato device</vt:lpstr>
      <vt:lpstr>Create connection to a Legato device</vt:lpstr>
      <vt:lpstr>Create connection to a Legato device</vt:lpstr>
      <vt:lpstr>Create connection to a Legato device</vt:lpstr>
      <vt:lpstr>Run application</vt:lpstr>
      <vt:lpstr>Run application</vt:lpstr>
      <vt:lpstr>Testing </vt:lpstr>
      <vt:lpstr>Testing</vt:lpstr>
      <vt:lpstr>Testing</vt:lpstr>
      <vt:lpstr>Testing</vt:lpstr>
      <vt:lpstr>Testing</vt:lpstr>
      <vt:lpstr>Testing</vt:lpstr>
      <vt:lpstr>Testing</vt:lpstr>
      <vt:lpstr>Testing</vt:lpstr>
      <vt:lpstr>Q&amp;A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Bui The Cuong</dc:creator>
  <cp:lastModifiedBy>Bui The Cuong</cp:lastModifiedBy>
  <cp:revision>9</cp:revision>
  <dcterms:created xsi:type="dcterms:W3CDTF">2016-08-31T07:36:43Z</dcterms:created>
  <dcterms:modified xsi:type="dcterms:W3CDTF">2016-08-31T07:56:19Z</dcterms:modified>
</cp:coreProperties>
</file>